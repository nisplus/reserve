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ログインのしかたや画面の基本は、予約システムのマニュアルをご覧ください。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朝に入れたまま忘れた記号が、夕方まで正確な残席を隠し続けないよう、90 分で自動表示に戻します。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予約が必要な体験では ◎ と ◯ は自動では出ません。予約システムにわかるのは「入れるかどうか」までだからです。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会社担当者の方には、自社の体験プログラムだけが表示されます。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サイネージ用の URL をスマホで開いても読めますが、30 秒でページが勝手に変わります。手元で読むには向きません。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縦置きで使う予定なら、ブラウザの窓を縦長にして確認してください。自動で 1 列になります。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1005840" y="2011680"/>
            <a:ext cx="10058400" cy="548640"/>
          </a:xfrm>
          <a:prstGeom prst="rect">
            <a:avLst/>
          </a:prstGeom>
          <a:noFill/>
          <a:ln/>
        </p:spPr>
        <p:txBody>
          <a:bodyPr wrap="square" lIns="0" tIns="0" rIns="0" bIns="0" rtlCol="0" anchor="ctr"/>
          <a:lstStyle/>
          <a:p>
            <a:pPr indent="0" marL="0">
              <a:buNone/>
            </a:pPr>
            <a:r>
              <a:rPr lang="en-US" sz="2200" dirty="0">
                <a:solidFill>
                  <a:srgbClr val="CADCFC"/>
                </a:solidFill>
                <a:latin typeface="Meiryo" pitchFamily="34" charset="0"/>
                <a:ea typeface="Meiryo" pitchFamily="34" charset="-122"/>
                <a:cs typeface="Meiryo" pitchFamily="34" charset="-120"/>
              </a:rPr>
              <a:t>体験予約システム</a:t>
            </a:r>
            <a:endParaRPr lang="en-US" sz="2200" dirty="0"/>
          </a:p>
        </p:txBody>
      </p:sp>
      <p:sp>
        <p:nvSpPr>
          <p:cNvPr id="3" name="Text 1"/>
          <p:cNvSpPr txBox="1"/>
          <p:nvPr/>
        </p:nvSpPr>
        <p:spPr>
          <a:xfrm>
            <a:off x="1005840" y="2560320"/>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当日の空き状況</a:t>
            </a:r>
            <a:endParaRPr lang="en-US" sz="5400" dirty="0"/>
          </a:p>
        </p:txBody>
      </p:sp>
      <p:sp>
        <p:nvSpPr>
          <p:cNvPr id="4" name="Shape 2"/>
          <p:cNvSpPr/>
          <p:nvPr/>
        </p:nvSpPr>
        <p:spPr>
          <a:xfrm>
            <a:off x="1005840" y="3749040"/>
            <a:ext cx="4206240" cy="566928"/>
          </a:xfrm>
          <a:prstGeom prst="roundRect">
            <a:avLst>
              <a:gd name="adj" fmla="val 16129"/>
            </a:avLst>
          </a:prstGeom>
          <a:solidFill>
            <a:srgbClr val="CADCFC"/>
          </a:solidFill>
          <a:ln w="12700">
            <a:solidFill>
              <a:srgbClr val="CADCFC"/>
            </a:solidFill>
            <a:prstDash val="solid"/>
          </a:ln>
        </p:spPr>
      </p:sp>
      <p:sp>
        <p:nvSpPr>
          <p:cNvPr id="5" name="Text 3"/>
          <p:cNvSpPr txBox="1"/>
          <p:nvPr/>
        </p:nvSpPr>
        <p:spPr>
          <a:xfrm>
            <a:off x="1005840" y="3749040"/>
            <a:ext cx="4206240" cy="566928"/>
          </a:xfrm>
          <a:prstGeom prst="rect">
            <a:avLst/>
          </a:prstGeom>
          <a:noFill/>
          <a:ln/>
        </p:spPr>
        <p:txBody>
          <a:bodyPr wrap="square" rtlCol="0" anchor="ctr"/>
          <a:lstStyle/>
          <a:p>
            <a:pPr algn="ctr" indent="0" marL="0">
              <a:buNone/>
            </a:pPr>
            <a:r>
              <a:rPr lang="en-US" sz="1900" b="1" dirty="0">
                <a:solidFill>
                  <a:srgbClr val="1E2761"/>
                </a:solidFill>
                <a:latin typeface="Meiryo" pitchFamily="34" charset="0"/>
                <a:ea typeface="Meiryo" pitchFamily="34" charset="-122"/>
                <a:cs typeface="Meiryo" pitchFamily="34" charset="-120"/>
              </a:rPr>
              <a:t>事務局・会社担当者 共通</a:t>
            </a:r>
            <a:endParaRPr lang="en-US" sz="1900" dirty="0"/>
          </a:p>
        </p:txBody>
      </p:sp>
      <p:sp>
        <p:nvSpPr>
          <p:cNvPr id="6" name="Text 4"/>
          <p:cNvSpPr txBox="1"/>
          <p:nvPr/>
        </p:nvSpPr>
        <p:spPr>
          <a:xfrm>
            <a:off x="1005840" y="4617720"/>
            <a:ext cx="10058400" cy="365760"/>
          </a:xfrm>
          <a:prstGeom prst="rect">
            <a:avLst/>
          </a:prstGeom>
          <a:noFill/>
          <a:ln/>
        </p:spPr>
        <p:txBody>
          <a:bodyPr wrap="square" lIns="0" tIns="0" rIns="0" bIns="0" rtlCol="0" anchor="ctr"/>
          <a:lstStyle/>
          <a:p>
            <a:pPr indent="0" marL="0">
              <a:buNone/>
            </a:pPr>
            <a:r>
              <a:rPr lang="en-US" sz="1400" dirty="0">
                <a:solidFill>
                  <a:srgbClr val="CADCFC"/>
                </a:solidFill>
                <a:latin typeface="Meiryo" pitchFamily="34" charset="0"/>
                <a:ea typeface="Meiryo" pitchFamily="34" charset="-122"/>
                <a:cs typeface="Meiryo" pitchFamily="34" charset="-120"/>
              </a:rPr>
              <a:t>予約システムの操作マニュアルをお読みいただいている前提で書いています ／ 日時はすべて日本時間です</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この機能がある理由</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記号の出どころは、予約の要否で変わります</a:t>
            </a:r>
            <a:endParaRPr lang="en-US" sz="1400" dirty="0"/>
          </a:p>
        </p:txBody>
      </p:sp>
      <p:sp>
        <p:nvSpPr>
          <p:cNvPr id="8" name="Shape 6"/>
          <p:cNvSpPr/>
          <p:nvPr/>
        </p:nvSpPr>
        <p:spPr>
          <a:xfrm>
            <a:off x="640080" y="1417320"/>
            <a:ext cx="10927080" cy="1051560"/>
          </a:xfrm>
          <a:prstGeom prst="roundRect">
            <a:avLst>
              <a:gd name="adj" fmla="val 6957"/>
            </a:avLst>
          </a:prstGeom>
          <a:solidFill>
            <a:srgbClr val="FEF2F2"/>
          </a:solidFill>
          <a:ln w="12700">
            <a:solidFill>
              <a:srgbClr val="FEF2F2"/>
            </a:solidFill>
            <a:prstDash val="solid"/>
          </a:ln>
        </p:spPr>
      </p:sp>
      <p:sp>
        <p:nvSpPr>
          <p:cNvPr id="9" name="Text 7"/>
          <p:cNvSpPr txBox="1"/>
          <p:nvPr/>
        </p:nvSpPr>
        <p:spPr>
          <a:xfrm>
            <a:off x="841248" y="1527048"/>
            <a:ext cx="10524744" cy="832104"/>
          </a:xfrm>
          <a:prstGeom prst="rect">
            <a:avLst/>
          </a:prstGeom>
          <a:noFill/>
          <a:ln/>
        </p:spPr>
        <p:txBody>
          <a:bodyPr wrap="square" lIns="0" tIns="0" rIns="0" bIns="0" rtlCol="0" anchor="ctr"/>
          <a:lstStyle/>
          <a:p>
            <a:pPr algn="l" indent="0" marL="0">
              <a:lnSpc>
                <a:spcPct val="125000"/>
              </a:lnSpc>
              <a:buNone/>
            </a:pPr>
            <a:r>
              <a:rPr lang="en-US" sz="1700" b="1" dirty="0">
                <a:solidFill>
                  <a:srgbClr val="B91C1C"/>
                </a:solidFill>
                <a:latin typeface="Meiryo" pitchFamily="34" charset="0"/>
                <a:ea typeface="Meiryo" pitchFamily="34" charset="-122"/>
                <a:cs typeface="Meiryo" pitchFamily="34" charset="-120"/>
              </a:rPr>
              <a:t>予約不要の体験は、空き状況が予約システムのどこにも入っていません</a:t>
            </a:r>
            <a:endParaRPr lang="en-US" sz="1700" dirty="0"/>
          </a:p>
          <a:p>
            <a:pPr algn="l" indent="0" marL="0">
              <a:lnSpc>
                <a:spcPct val="125000"/>
              </a:lnSpc>
              <a:buNone/>
            </a:pPr>
            <a:r>
              <a:rPr lang="en-US" sz="1300" dirty="0">
                <a:solidFill>
                  <a:srgbClr val="B91C1C"/>
                </a:solidFill>
                <a:latin typeface="Meiryo" pitchFamily="34" charset="0"/>
                <a:ea typeface="Meiryo" pitchFamily="34" charset="-122"/>
                <a:cs typeface="Meiryo" pitchFamily="34" charset="-120"/>
              </a:rPr>
              <a:t>予約を受け付けていないので申込データがなく、当日券も紙でお渡しします。いま何人入れるかを知っているのは、その場にいる会社の方だけです。</a:t>
            </a:r>
            <a:endParaRPr lang="en-US" sz="1700" dirty="0"/>
          </a:p>
        </p:txBody>
      </p:sp>
      <p:sp>
        <p:nvSpPr>
          <p:cNvPr id="10" name="Shape 8"/>
          <p:cNvSpPr/>
          <p:nvPr/>
        </p:nvSpPr>
        <p:spPr>
          <a:xfrm>
            <a:off x="640080" y="2697480"/>
            <a:ext cx="10927080" cy="841248"/>
          </a:xfrm>
          <a:prstGeom prst="roundRect">
            <a:avLst>
              <a:gd name="adj" fmla="val 6522"/>
            </a:avLst>
          </a:prstGeom>
          <a:solidFill>
            <a:srgbClr val="ECFDF5"/>
          </a:solidFill>
          <a:ln w="12700">
            <a:solidFill>
              <a:srgbClr val="15803D"/>
            </a:solidFill>
            <a:prstDash val="solid"/>
          </a:ln>
        </p:spPr>
      </p:sp>
      <p:sp>
        <p:nvSpPr>
          <p:cNvPr id="11" name="Shape 9"/>
          <p:cNvSpPr/>
          <p:nvPr/>
        </p:nvSpPr>
        <p:spPr>
          <a:xfrm>
            <a:off x="804672" y="2907792"/>
            <a:ext cx="420624" cy="420624"/>
          </a:xfrm>
          <a:prstGeom prst="ellipse">
            <a:avLst/>
          </a:prstGeom>
          <a:solidFill>
            <a:srgbClr val="15803D"/>
          </a:solidFill>
          <a:ln/>
        </p:spPr>
      </p:sp>
      <p:sp>
        <p:nvSpPr>
          <p:cNvPr id="12" name="Text 10"/>
          <p:cNvSpPr txBox="1"/>
          <p:nvPr/>
        </p:nvSpPr>
        <p:spPr>
          <a:xfrm>
            <a:off x="804672" y="290779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3" name="Text 11"/>
          <p:cNvSpPr txBox="1"/>
          <p:nvPr/>
        </p:nvSpPr>
        <p:spPr>
          <a:xfrm>
            <a:off x="1389888" y="2752344"/>
            <a:ext cx="10012680" cy="73152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予約不要の体験 … 人が入力した内容だけ</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入力されなければ何も出ません。当日はこまめな更新が、そのまま画面の価値になります。</a:t>
            </a:r>
            <a:endParaRPr lang="en-US" sz="1500" dirty="0"/>
          </a:p>
        </p:txBody>
      </p:sp>
      <p:sp>
        <p:nvSpPr>
          <p:cNvPr id="14" name="Shape 12"/>
          <p:cNvSpPr/>
          <p:nvPr/>
        </p:nvSpPr>
        <p:spPr>
          <a:xfrm>
            <a:off x="640080" y="3685032"/>
            <a:ext cx="10927080" cy="841248"/>
          </a:xfrm>
          <a:prstGeom prst="roundRect">
            <a:avLst>
              <a:gd name="adj" fmla="val 6522"/>
            </a:avLst>
          </a:prstGeom>
          <a:solidFill>
            <a:srgbClr val="F4F7FC"/>
          </a:solidFill>
          <a:ln w="12700">
            <a:solidFill>
              <a:srgbClr val="0369A1"/>
            </a:solidFill>
            <a:prstDash val="solid"/>
          </a:ln>
        </p:spPr>
      </p:sp>
      <p:sp>
        <p:nvSpPr>
          <p:cNvPr id="15" name="Shape 13"/>
          <p:cNvSpPr/>
          <p:nvPr/>
        </p:nvSpPr>
        <p:spPr>
          <a:xfrm>
            <a:off x="804672" y="3895344"/>
            <a:ext cx="420624" cy="420624"/>
          </a:xfrm>
          <a:prstGeom prst="ellipse">
            <a:avLst/>
          </a:prstGeom>
          <a:solidFill>
            <a:srgbClr val="0369A1"/>
          </a:solidFill>
          <a:ln/>
        </p:spPr>
      </p:sp>
      <p:sp>
        <p:nvSpPr>
          <p:cNvPr id="16" name="Text 14"/>
          <p:cNvSpPr txBox="1"/>
          <p:nvPr/>
        </p:nvSpPr>
        <p:spPr>
          <a:xfrm>
            <a:off x="804672" y="389534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7" name="Text 15"/>
          <p:cNvSpPr txBox="1"/>
          <p:nvPr/>
        </p:nvSpPr>
        <p:spPr>
          <a:xfrm>
            <a:off x="1389888" y="3739896"/>
            <a:ext cx="10012680" cy="73152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予約が必要な体験 … 予約システムが自動で</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空きがあれば △、満席・キャンセル待ちなら ✕。何も登録しなくても表示されます。</a:t>
            </a:r>
            <a:endParaRPr lang="en-US" sz="1500" dirty="0"/>
          </a:p>
        </p:txBody>
      </p:sp>
      <p:sp>
        <p:nvSpPr>
          <p:cNvPr id="18" name="Shape 16"/>
          <p:cNvSpPr/>
          <p:nvPr/>
        </p:nvSpPr>
        <p:spPr>
          <a:xfrm>
            <a:off x="640080" y="4663440"/>
            <a:ext cx="10927080" cy="1188720"/>
          </a:xfrm>
          <a:prstGeom prst="roundRect">
            <a:avLst>
              <a:gd name="adj" fmla="val 6154"/>
            </a:avLst>
          </a:prstGeom>
          <a:solidFill>
            <a:srgbClr val="FDF3E3"/>
          </a:solidFill>
          <a:ln w="12700">
            <a:solidFill>
              <a:srgbClr val="FDF3E3"/>
            </a:solidFill>
            <a:prstDash val="solid"/>
          </a:ln>
        </p:spPr>
      </p:sp>
      <p:sp>
        <p:nvSpPr>
          <p:cNvPr id="19" name="Text 17"/>
          <p:cNvSpPr txBox="1"/>
          <p:nvPr/>
        </p:nvSpPr>
        <p:spPr>
          <a:xfrm>
            <a:off x="841248" y="4773168"/>
            <a:ext cx="10524744" cy="969264"/>
          </a:xfrm>
          <a:prstGeom prst="rect">
            <a:avLst/>
          </a:prstGeom>
          <a:noFill/>
          <a:ln/>
        </p:spPr>
        <p:txBody>
          <a:bodyPr wrap="square" lIns="0" tIns="0" rIns="0" bIns="0" rtlCol="0" anchor="ctr"/>
          <a:lstStyle/>
          <a:p>
            <a:pPr algn="l" indent="0" marL="0">
              <a:lnSpc>
                <a:spcPct val="125000"/>
              </a:lnSpc>
              <a:buNone/>
            </a:pPr>
            <a:r>
              <a:rPr lang="en-US" sz="1600" b="1" dirty="0">
                <a:solidFill>
                  <a:srgbClr val="B26A00"/>
                </a:solidFill>
                <a:latin typeface="Meiryo" pitchFamily="34" charset="0"/>
                <a:ea typeface="Meiryo" pitchFamily="34" charset="-122"/>
                <a:cs typeface="Meiryo" pitchFamily="34" charset="-120"/>
              </a:rPr>
              <a:t>予約が必要な体験でも、人が入力すればそちらが優先されます</a:t>
            </a:r>
            <a:endParaRPr lang="en-US" sz="1600" dirty="0"/>
          </a:p>
          <a:p>
            <a:pPr algn="l" indent="0" marL="0">
              <a:lnSpc>
                <a:spcPct val="125000"/>
              </a:lnSpc>
              <a:buNone/>
            </a:pPr>
            <a:r>
              <a:rPr lang="en-US" sz="1300" dirty="0">
                <a:solidFill>
                  <a:srgbClr val="B26A00"/>
                </a:solidFill>
                <a:latin typeface="Meiryo" pitchFamily="34" charset="0"/>
                <a:ea typeface="Meiryo" pitchFamily="34" charset="-122"/>
                <a:cs typeface="Meiryo" pitchFamily="34" charset="-120"/>
              </a:rPr>
              <a:t>現地で整理券を配っていたり、キャンセルがまとめて出たりと、予約システムが知らないことはその場の人が知っているためです。</a:t>
            </a:r>
            <a:endParaRPr lang="en-US" sz="1600" dirty="0"/>
          </a:p>
          <a:p>
            <a:pPr algn="l" indent="0" marL="0">
              <a:lnSpc>
                <a:spcPct val="125000"/>
              </a:lnSpc>
              <a:buNone/>
            </a:pPr>
            <a:r>
              <a:rPr lang="en-US" sz="1300" b="1" dirty="0">
                <a:solidFill>
                  <a:srgbClr val="B26A00"/>
                </a:solidFill>
                <a:latin typeface="Meiryo" pitchFamily="34" charset="0"/>
                <a:ea typeface="Meiryo" pitchFamily="34" charset="-122"/>
                <a:cs typeface="Meiryo" pitchFamily="34" charset="-120"/>
              </a:rPr>
              <a:t>優先されるのは 90 分間です。それを過ぎると自動表示に戻ります。</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2</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記号の意味</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記号が主、数字が従</a:t>
            </a:r>
            <a:endParaRPr lang="en-US" sz="1400" dirty="0"/>
          </a:p>
        </p:txBody>
      </p:sp>
      <p:sp>
        <p:nvSpPr>
          <p:cNvPr id="8" name="Shape 6"/>
          <p:cNvSpPr/>
          <p:nvPr/>
        </p:nvSpPr>
        <p:spPr>
          <a:xfrm>
            <a:off x="640080" y="1463040"/>
            <a:ext cx="6492240" cy="658368"/>
          </a:xfrm>
          <a:prstGeom prst="roundRect">
            <a:avLst>
              <a:gd name="adj" fmla="val 8333"/>
            </a:avLst>
          </a:prstGeom>
          <a:solidFill>
            <a:srgbClr val="ECFDF5"/>
          </a:solidFill>
          <a:ln w="12700">
            <a:solidFill>
              <a:srgbClr val="15803D"/>
            </a:solidFill>
            <a:prstDash val="solid"/>
          </a:ln>
        </p:spPr>
      </p:sp>
      <p:sp>
        <p:nvSpPr>
          <p:cNvPr id="9" name="Shape 7"/>
          <p:cNvSpPr/>
          <p:nvPr/>
        </p:nvSpPr>
        <p:spPr>
          <a:xfrm>
            <a:off x="804672" y="1581912"/>
            <a:ext cx="420624" cy="420624"/>
          </a:xfrm>
          <a:prstGeom prst="ellipse">
            <a:avLst/>
          </a:prstGeom>
          <a:solidFill>
            <a:srgbClr val="15803D"/>
          </a:solidFill>
          <a:ln/>
        </p:spPr>
      </p:sp>
      <p:sp>
        <p:nvSpPr>
          <p:cNvPr id="10" name="Text 8"/>
          <p:cNvSpPr txBox="1"/>
          <p:nvPr/>
        </p:nvSpPr>
        <p:spPr>
          <a:xfrm>
            <a:off x="804672" y="158191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1" name="Text 9"/>
          <p:cNvSpPr txBox="1"/>
          <p:nvPr/>
        </p:nvSpPr>
        <p:spPr>
          <a:xfrm>
            <a:off x="1389888" y="1517904"/>
            <a:ext cx="5577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今すぐ参加できます</a:t>
            </a:r>
            <a:endParaRPr lang="en-US" sz="1500" dirty="0"/>
          </a:p>
        </p:txBody>
      </p:sp>
      <p:sp>
        <p:nvSpPr>
          <p:cNvPr id="12" name="Shape 10"/>
          <p:cNvSpPr/>
          <p:nvPr/>
        </p:nvSpPr>
        <p:spPr>
          <a:xfrm>
            <a:off x="640080" y="2240280"/>
            <a:ext cx="6492240" cy="658368"/>
          </a:xfrm>
          <a:prstGeom prst="roundRect">
            <a:avLst>
              <a:gd name="adj" fmla="val 8333"/>
            </a:avLst>
          </a:prstGeom>
          <a:solidFill>
            <a:srgbClr val="F4F7FC"/>
          </a:solidFill>
          <a:ln w="12700">
            <a:solidFill>
              <a:srgbClr val="C7D2E4"/>
            </a:solidFill>
            <a:prstDash val="solid"/>
          </a:ln>
        </p:spPr>
      </p:sp>
      <p:sp>
        <p:nvSpPr>
          <p:cNvPr id="13" name="Shape 11"/>
          <p:cNvSpPr/>
          <p:nvPr/>
        </p:nvSpPr>
        <p:spPr>
          <a:xfrm>
            <a:off x="804672" y="2359152"/>
            <a:ext cx="420624" cy="420624"/>
          </a:xfrm>
          <a:prstGeom prst="ellipse">
            <a:avLst/>
          </a:prstGeom>
          <a:solidFill>
            <a:srgbClr val="0369A1"/>
          </a:solidFill>
          <a:ln/>
        </p:spPr>
      </p:sp>
      <p:sp>
        <p:nvSpPr>
          <p:cNvPr id="14" name="Text 12"/>
          <p:cNvSpPr txBox="1"/>
          <p:nvPr/>
        </p:nvSpPr>
        <p:spPr>
          <a:xfrm>
            <a:off x="804672" y="235915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5" name="Text 13"/>
          <p:cNvSpPr txBox="1"/>
          <p:nvPr/>
        </p:nvSpPr>
        <p:spPr>
          <a:xfrm>
            <a:off x="1389888" y="2295144"/>
            <a:ext cx="5577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残席にゆとりがあります</a:t>
            </a:r>
            <a:endParaRPr lang="en-US" sz="1500" dirty="0"/>
          </a:p>
        </p:txBody>
      </p:sp>
      <p:sp>
        <p:nvSpPr>
          <p:cNvPr id="16" name="Shape 14"/>
          <p:cNvSpPr/>
          <p:nvPr/>
        </p:nvSpPr>
        <p:spPr>
          <a:xfrm>
            <a:off x="640080" y="3017520"/>
            <a:ext cx="6492240" cy="658368"/>
          </a:xfrm>
          <a:prstGeom prst="roundRect">
            <a:avLst>
              <a:gd name="adj" fmla="val 8333"/>
            </a:avLst>
          </a:prstGeom>
          <a:solidFill>
            <a:srgbClr val="FDF3E3"/>
          </a:solidFill>
          <a:ln w="12700">
            <a:solidFill>
              <a:srgbClr val="B26A00"/>
            </a:solidFill>
            <a:prstDash val="solid"/>
          </a:ln>
        </p:spPr>
      </p:sp>
      <p:sp>
        <p:nvSpPr>
          <p:cNvPr id="17" name="Shape 15"/>
          <p:cNvSpPr/>
          <p:nvPr/>
        </p:nvSpPr>
        <p:spPr>
          <a:xfrm>
            <a:off x="804672" y="3136392"/>
            <a:ext cx="420624" cy="420624"/>
          </a:xfrm>
          <a:prstGeom prst="ellipse">
            <a:avLst/>
          </a:prstGeom>
          <a:solidFill>
            <a:srgbClr val="B26A00"/>
          </a:solidFill>
          <a:ln/>
        </p:spPr>
      </p:sp>
      <p:sp>
        <p:nvSpPr>
          <p:cNvPr id="18" name="Text 16"/>
          <p:cNvSpPr txBox="1"/>
          <p:nvPr/>
        </p:nvSpPr>
        <p:spPr>
          <a:xfrm>
            <a:off x="804672" y="313639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9" name="Text 17"/>
          <p:cNvSpPr txBox="1"/>
          <p:nvPr/>
        </p:nvSpPr>
        <p:spPr>
          <a:xfrm>
            <a:off x="1389888" y="3072384"/>
            <a:ext cx="5577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残数わずか</a:t>
            </a:r>
            <a:endParaRPr lang="en-US" sz="1500" dirty="0"/>
          </a:p>
        </p:txBody>
      </p:sp>
      <p:sp>
        <p:nvSpPr>
          <p:cNvPr id="20" name="Shape 18"/>
          <p:cNvSpPr/>
          <p:nvPr/>
        </p:nvSpPr>
        <p:spPr>
          <a:xfrm>
            <a:off x="640080" y="3794760"/>
            <a:ext cx="6492240" cy="658368"/>
          </a:xfrm>
          <a:prstGeom prst="roundRect">
            <a:avLst>
              <a:gd name="adj" fmla="val 8333"/>
            </a:avLst>
          </a:prstGeom>
          <a:solidFill>
            <a:srgbClr val="FEF2F2"/>
          </a:solidFill>
          <a:ln w="12700">
            <a:solidFill>
              <a:srgbClr val="B91C1C"/>
            </a:solidFill>
            <a:prstDash val="solid"/>
          </a:ln>
        </p:spPr>
      </p:sp>
      <p:sp>
        <p:nvSpPr>
          <p:cNvPr id="21" name="Shape 19"/>
          <p:cNvSpPr/>
          <p:nvPr/>
        </p:nvSpPr>
        <p:spPr>
          <a:xfrm>
            <a:off x="804672" y="3913632"/>
            <a:ext cx="420624" cy="420624"/>
          </a:xfrm>
          <a:prstGeom prst="ellipse">
            <a:avLst/>
          </a:prstGeom>
          <a:solidFill>
            <a:srgbClr val="B91C1C"/>
          </a:solidFill>
          <a:ln/>
        </p:spPr>
      </p:sp>
      <p:sp>
        <p:nvSpPr>
          <p:cNvPr id="22" name="Text 20"/>
          <p:cNvSpPr txBox="1"/>
          <p:nvPr/>
        </p:nvSpPr>
        <p:spPr>
          <a:xfrm>
            <a:off x="804672" y="391363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23" name="Text 21"/>
          <p:cNvSpPr txBox="1"/>
          <p:nvPr/>
        </p:nvSpPr>
        <p:spPr>
          <a:xfrm>
            <a:off x="1389888" y="3849624"/>
            <a:ext cx="5577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残数なし</a:t>
            </a:r>
            <a:endParaRPr lang="en-US" sz="1500" dirty="0"/>
          </a:p>
        </p:txBody>
      </p:sp>
      <p:sp>
        <p:nvSpPr>
          <p:cNvPr id="24" name="Shape 22"/>
          <p:cNvSpPr/>
          <p:nvPr/>
        </p:nvSpPr>
        <p:spPr>
          <a:xfrm>
            <a:off x="640080" y="4572000"/>
            <a:ext cx="6492240" cy="658368"/>
          </a:xfrm>
          <a:prstGeom prst="roundRect">
            <a:avLst>
              <a:gd name="adj" fmla="val 8333"/>
            </a:avLst>
          </a:prstGeom>
          <a:solidFill>
            <a:srgbClr val="F4F7FC"/>
          </a:solidFill>
          <a:ln w="12700">
            <a:solidFill>
              <a:srgbClr val="C7D2E4"/>
            </a:solidFill>
            <a:prstDash val="solid"/>
          </a:ln>
        </p:spPr>
      </p:sp>
      <p:sp>
        <p:nvSpPr>
          <p:cNvPr id="25" name="Shape 23"/>
          <p:cNvSpPr/>
          <p:nvPr/>
        </p:nvSpPr>
        <p:spPr>
          <a:xfrm>
            <a:off x="804672" y="4690872"/>
            <a:ext cx="420624" cy="420624"/>
          </a:xfrm>
          <a:prstGeom prst="ellipse">
            <a:avLst/>
          </a:prstGeom>
          <a:solidFill>
            <a:srgbClr val="5B6472"/>
          </a:solidFill>
          <a:ln/>
        </p:spPr>
      </p:sp>
      <p:sp>
        <p:nvSpPr>
          <p:cNvPr id="26" name="Text 24"/>
          <p:cNvSpPr txBox="1"/>
          <p:nvPr/>
        </p:nvSpPr>
        <p:spPr>
          <a:xfrm>
            <a:off x="804672" y="469087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27" name="Text 25"/>
          <p:cNvSpPr txBox="1"/>
          <p:nvPr/>
        </p:nvSpPr>
        <p:spPr>
          <a:xfrm>
            <a:off x="1389888" y="4626864"/>
            <a:ext cx="5577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未報告（空きがないという意味ではありません）</a:t>
            </a:r>
            <a:endParaRPr lang="en-US" sz="1500" dirty="0"/>
          </a:p>
        </p:txBody>
      </p:sp>
      <p:sp>
        <p:nvSpPr>
          <p:cNvPr id="28" name="Shape 26"/>
          <p:cNvSpPr/>
          <p:nvPr/>
        </p:nvSpPr>
        <p:spPr>
          <a:xfrm>
            <a:off x="7406640" y="1463040"/>
            <a:ext cx="4160520" cy="1371600"/>
          </a:xfrm>
          <a:prstGeom prst="roundRect">
            <a:avLst>
              <a:gd name="adj" fmla="val 5333"/>
            </a:avLst>
          </a:prstGeom>
          <a:solidFill>
            <a:srgbClr val="ECFDF5"/>
          </a:solidFill>
          <a:ln w="12700">
            <a:solidFill>
              <a:srgbClr val="ECFDF5"/>
            </a:solidFill>
            <a:prstDash val="solid"/>
          </a:ln>
        </p:spPr>
      </p:sp>
      <p:sp>
        <p:nvSpPr>
          <p:cNvPr id="29" name="Text 27"/>
          <p:cNvSpPr txBox="1"/>
          <p:nvPr/>
        </p:nvSpPr>
        <p:spPr>
          <a:xfrm>
            <a:off x="7607808" y="1572768"/>
            <a:ext cx="375818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まだ始まっていない回では</a:t>
            </a:r>
            <a:endParaRPr lang="en-US" sz="1500" dirty="0"/>
          </a:p>
          <a:p>
            <a:pPr algn="l" indent="0" marL="0">
              <a:lnSpc>
                <a:spcPct val="125000"/>
              </a:lnSpc>
              <a:buNone/>
            </a:pPr>
            <a:r>
              <a:rPr lang="en-US" sz="1250" b="1" dirty="0">
                <a:solidFill>
                  <a:srgbClr val="15803D"/>
                </a:solidFill>
                <a:latin typeface="Meiryo" pitchFamily="34" charset="0"/>
                <a:ea typeface="Meiryo" pitchFamily="34" charset="-122"/>
                <a:cs typeface="Meiryo" pitchFamily="34" charset="-120"/>
              </a:rPr>
              <a:t>◎ →「参加可能です」</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15:00 の回に「今すぐ」と出すと、2 時間早く向かってしまうためです。</a:t>
            </a:r>
            <a:endParaRPr lang="en-US" sz="1500" dirty="0"/>
          </a:p>
        </p:txBody>
      </p:sp>
      <p:sp>
        <p:nvSpPr>
          <p:cNvPr id="30" name="Shape 28"/>
          <p:cNvSpPr/>
          <p:nvPr/>
        </p:nvSpPr>
        <p:spPr>
          <a:xfrm>
            <a:off x="7406640" y="2971800"/>
            <a:ext cx="4160520" cy="1371600"/>
          </a:xfrm>
          <a:prstGeom prst="roundRect">
            <a:avLst>
              <a:gd name="adj" fmla="val 5333"/>
            </a:avLst>
          </a:prstGeom>
          <a:solidFill>
            <a:srgbClr val="CADCFC"/>
          </a:solidFill>
          <a:ln w="12700">
            <a:solidFill>
              <a:srgbClr val="CADCFC"/>
            </a:solidFill>
            <a:prstDash val="solid"/>
          </a:ln>
        </p:spPr>
      </p:sp>
      <p:sp>
        <p:nvSpPr>
          <p:cNvPr id="31" name="Text 29"/>
          <p:cNvSpPr txBox="1"/>
          <p:nvPr/>
        </p:nvSpPr>
        <p:spPr>
          <a:xfrm>
            <a:off x="7607808" y="3081528"/>
            <a:ext cx="375818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整理券の残数（任意）</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 残数わずか（残り 6 枚）」のように併記されます。</a:t>
            </a:r>
            <a:endParaRPr lang="en-US" sz="1500" dirty="0"/>
          </a:p>
          <a:p>
            <a:pPr algn="l" indent="0" marL="0">
              <a:lnSpc>
                <a:spcPct val="125000"/>
              </a:lnSpc>
              <a:buNone/>
            </a:pPr>
            <a:r>
              <a:rPr lang="en-US" sz="1250" b="1" dirty="0">
                <a:solidFill>
                  <a:srgbClr val="1E2761"/>
                </a:solidFill>
                <a:latin typeface="Meiryo" pitchFamily="34" charset="0"/>
                <a:ea typeface="Meiryo" pitchFamily="34" charset="-122"/>
                <a:cs typeface="Meiryo" pitchFamily="34" charset="-120"/>
              </a:rPr>
              <a:t>0 を入れると記号は自動的に ✕ になります。</a:t>
            </a:r>
            <a:endParaRPr lang="en-US" sz="1500" dirty="0"/>
          </a:p>
        </p:txBody>
      </p:sp>
      <p:sp>
        <p:nvSpPr>
          <p:cNvPr id="32" name="Shape 30"/>
          <p:cNvSpPr/>
          <p:nvPr/>
        </p:nvSpPr>
        <p:spPr>
          <a:xfrm>
            <a:off x="7406640" y="4480560"/>
            <a:ext cx="4160520" cy="1371600"/>
          </a:xfrm>
          <a:prstGeom prst="roundRect">
            <a:avLst>
              <a:gd name="adj" fmla="val 5333"/>
            </a:avLst>
          </a:prstGeom>
          <a:solidFill>
            <a:srgbClr val="FDF3E3"/>
          </a:solidFill>
          <a:ln w="12700">
            <a:solidFill>
              <a:srgbClr val="FDF3E3"/>
            </a:solidFill>
            <a:prstDash val="solid"/>
          </a:ln>
        </p:spPr>
      </p:sp>
      <p:sp>
        <p:nvSpPr>
          <p:cNvPr id="33" name="Text 31"/>
          <p:cNvSpPr txBox="1"/>
          <p:nvPr/>
        </p:nvSpPr>
        <p:spPr>
          <a:xfrm>
            <a:off x="7607808" y="4590288"/>
            <a:ext cx="375818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B26A00"/>
                </a:solidFill>
                <a:latin typeface="Meiryo" pitchFamily="34" charset="0"/>
                <a:ea typeface="Meiryo" pitchFamily="34" charset="-122"/>
                <a:cs typeface="Meiryo" pitchFamily="34" charset="-120"/>
              </a:rPr>
              <a:t>迷ったら記号だけ</a:t>
            </a:r>
            <a:endParaRPr lang="en-US" sz="1500" dirty="0"/>
          </a:p>
          <a:p>
            <a:pPr algn="l" indent="0" marL="0">
              <a:lnSpc>
                <a:spcPct val="125000"/>
              </a:lnSpc>
              <a:buNone/>
            </a:pPr>
            <a:r>
              <a:rPr lang="en-US" sz="1250" dirty="0">
                <a:solidFill>
                  <a:srgbClr val="B26A00"/>
                </a:solidFill>
                <a:latin typeface="Meiryo" pitchFamily="34" charset="0"/>
                <a:ea typeface="Meiryo" pitchFamily="34" charset="-122"/>
                <a:cs typeface="Meiryo" pitchFamily="34" charset="-120"/>
              </a:rPr>
              <a:t>残数は登録した直後に変わることがありますが、◎ や ✕ はしばらく正しいままです。</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3</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登録する — 今の状況</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チャットで「今は◎です」と連絡が来たとき</a:t>
            </a:r>
            <a:endParaRPr lang="en-US" sz="1400" dirty="0"/>
          </a:p>
        </p:txBody>
      </p:sp>
      <p:pic>
        <p:nvPicPr>
          <p:cNvPr id="8" name="Image 0" descr="C:\Users\sato\AppData\Local\Temp\claude\c--Users-sato-Desktop---3---3\c0abf194-6a09-42ac-bc16-2cd244740c64\scratchpad\deck\img\v-quick.png">    </p:cNvPr>
          <p:cNvPicPr>
            <a:picLocks noChangeAspect="1"/>
          </p:cNvPicPr>
          <p:nvPr/>
        </p:nvPicPr>
        <p:blipFill>
          <a:blip r:embed="rId1"/>
          <a:stretch>
            <a:fillRect/>
          </a:stretch>
        </p:blipFill>
        <p:spPr>
          <a:xfrm>
            <a:off x="3401172" y="1371600"/>
            <a:ext cx="5389351" cy="3017520"/>
          </a:xfrm>
          <a:prstGeom prst="rect">
            <a:avLst/>
          </a:prstGeom>
        </p:spPr>
      </p:pic>
      <p:sp>
        <p:nvSpPr>
          <p:cNvPr id="9" name="Shape 6"/>
          <p:cNvSpPr/>
          <p:nvPr/>
        </p:nvSpPr>
        <p:spPr>
          <a:xfrm>
            <a:off x="640080" y="4590288"/>
            <a:ext cx="5349240" cy="1508760"/>
          </a:xfrm>
          <a:prstGeom prst="roundRect">
            <a:avLst>
              <a:gd name="adj" fmla="val 4848"/>
            </a:avLst>
          </a:prstGeom>
          <a:solidFill>
            <a:srgbClr val="ECFDF5"/>
          </a:solidFill>
          <a:ln w="12700">
            <a:solidFill>
              <a:srgbClr val="ECFDF5"/>
            </a:solidFill>
            <a:prstDash val="solid"/>
          </a:ln>
        </p:spPr>
      </p:sp>
      <p:sp>
        <p:nvSpPr>
          <p:cNvPr id="10" name="Text 7"/>
          <p:cNvSpPr txBox="1"/>
          <p:nvPr/>
        </p:nvSpPr>
        <p:spPr>
          <a:xfrm>
            <a:off x="841248" y="4700016"/>
            <a:ext cx="4946904" cy="128930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記号を押すと、その場で登録されます</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確認のポップアップは出ません。当日は何度も押すものだからです。</a:t>
            </a:r>
            <a:endParaRPr lang="en-US" sz="1500" dirty="0"/>
          </a:p>
          <a:p>
            <a:pPr algn="l" indent="0" marL="0">
              <a:lnSpc>
                <a:spcPct val="125000"/>
              </a:lnSpc>
              <a:buNone/>
            </a:pPr>
            <a:r>
              <a:rPr lang="en-US" sz="1250" b="1" dirty="0">
                <a:solidFill>
                  <a:srgbClr val="15803D"/>
                </a:solidFill>
                <a:latin typeface="Meiryo" pitchFamily="34" charset="0"/>
                <a:ea typeface="Meiryo" pitchFamily="34" charset="-122"/>
                <a:cs typeface="Meiryo" pitchFamily="34" charset="-120"/>
              </a:rPr>
              <a:t>押し間違えても、正しい記号を押し直せば最新が優先されます。</a:t>
            </a:r>
            <a:endParaRPr lang="en-US" sz="1500" dirty="0"/>
          </a:p>
        </p:txBody>
      </p:sp>
      <p:sp>
        <p:nvSpPr>
          <p:cNvPr id="11" name="Shape 8"/>
          <p:cNvSpPr/>
          <p:nvPr/>
        </p:nvSpPr>
        <p:spPr>
          <a:xfrm>
            <a:off x="6217920" y="4590288"/>
            <a:ext cx="5349240" cy="1508760"/>
          </a:xfrm>
          <a:prstGeom prst="roundRect">
            <a:avLst>
              <a:gd name="adj" fmla="val 4848"/>
            </a:avLst>
          </a:prstGeom>
          <a:solidFill>
            <a:srgbClr val="CADCFC"/>
          </a:solidFill>
          <a:ln w="12700">
            <a:solidFill>
              <a:srgbClr val="CADCFC"/>
            </a:solidFill>
            <a:prstDash val="solid"/>
          </a:ln>
        </p:spPr>
      </p:sp>
      <p:sp>
        <p:nvSpPr>
          <p:cNvPr id="12" name="Text 9"/>
          <p:cNvSpPr txBox="1"/>
          <p:nvPr/>
        </p:nvSpPr>
        <p:spPr>
          <a:xfrm>
            <a:off x="6419088" y="4700016"/>
            <a:ext cx="4946904" cy="128930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押したあとは同じ行に戻ります</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上までスクロールし直す必要はありません。</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「現在」の欄には、いま公開されている内容と登録時刻が出ます。90 分以上更新がないものには ⚠ 古い と付きます。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4</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登録する — 開催回ごとの空き状況</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整理券の状況を貼った一覧表の写真を見ながら</a:t>
            </a:r>
            <a:endParaRPr lang="en-US" sz="1400" dirty="0"/>
          </a:p>
        </p:txBody>
      </p:sp>
      <p:pic>
        <p:nvPicPr>
          <p:cNvPr id="8" name="Image 0" descr="C:\Users\sato\AppData\Local\Temp\claude\c--Users-sato-Desktop---3---3\c0abf194-6a09-42ac-bc16-2cd244740c64\scratchpad\deck\img\v-transcribe.png">    </p:cNvPr>
          <p:cNvPicPr>
            <a:picLocks noChangeAspect="1"/>
          </p:cNvPicPr>
          <p:nvPr/>
        </p:nvPicPr>
        <p:blipFill>
          <a:blip r:embed="rId1"/>
          <a:stretch>
            <a:fillRect/>
          </a:stretch>
        </p:blipFill>
        <p:spPr>
          <a:xfrm>
            <a:off x="2665695" y="1371600"/>
            <a:ext cx="6860305" cy="2834640"/>
          </a:xfrm>
          <a:prstGeom prst="rect">
            <a:avLst/>
          </a:prstGeom>
        </p:spPr>
      </p:pic>
      <p:sp>
        <p:nvSpPr>
          <p:cNvPr id="9" name="Shape 6"/>
          <p:cNvSpPr/>
          <p:nvPr/>
        </p:nvSpPr>
        <p:spPr>
          <a:xfrm>
            <a:off x="640080" y="4407408"/>
            <a:ext cx="5349240" cy="1554480"/>
          </a:xfrm>
          <a:prstGeom prst="roundRect">
            <a:avLst>
              <a:gd name="adj" fmla="val 4706"/>
            </a:avLst>
          </a:prstGeom>
          <a:solidFill>
            <a:srgbClr val="CADCFC"/>
          </a:solidFill>
          <a:ln w="12700">
            <a:solidFill>
              <a:srgbClr val="CADCFC"/>
            </a:solidFill>
            <a:prstDash val="solid"/>
          </a:ln>
        </p:spPr>
      </p:sp>
      <p:sp>
        <p:nvSpPr>
          <p:cNvPr id="10" name="Text 7"/>
          <p:cNvSpPr txBox="1"/>
          <p:nvPr/>
        </p:nvSpPr>
        <p:spPr>
          <a:xfrm>
            <a:off x="841248" y="4517136"/>
            <a:ext cx="4946904" cy="133502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行のボタン「回ごとの空き状況」から開きます</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並びは開催時刻順で、紙の一覧表と同じ順序です。</a:t>
            </a:r>
            <a:endParaRPr lang="en-US" sz="1500" dirty="0"/>
          </a:p>
          <a:p>
            <a:pPr algn="l" indent="0" marL="0">
              <a:lnSpc>
                <a:spcPct val="125000"/>
              </a:lnSpc>
              <a:buNone/>
            </a:pPr>
            <a:r>
              <a:rPr lang="en-US" sz="1250" b="1" dirty="0">
                <a:solidFill>
                  <a:srgbClr val="1E2761"/>
                </a:solidFill>
                <a:latin typeface="Meiryo" pitchFamily="34" charset="0"/>
                <a:ea typeface="Meiryo" pitchFamily="34" charset="-122"/>
                <a:cs typeface="Meiryo" pitchFamily="34" charset="-120"/>
              </a:rPr>
              <a:t>記号を選んでいない行は登録しません。</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写真に写っていない回は、そのままにしておいてください。</a:t>
            </a:r>
            <a:endParaRPr lang="en-US" sz="1500" dirty="0"/>
          </a:p>
        </p:txBody>
      </p:sp>
      <p:sp>
        <p:nvSpPr>
          <p:cNvPr id="11" name="Shape 8"/>
          <p:cNvSpPr/>
          <p:nvPr/>
        </p:nvSpPr>
        <p:spPr>
          <a:xfrm>
            <a:off x="6217920" y="4407408"/>
            <a:ext cx="5349240" cy="1554480"/>
          </a:xfrm>
          <a:prstGeom prst="roundRect">
            <a:avLst>
              <a:gd name="adj" fmla="val 4706"/>
            </a:avLst>
          </a:prstGeom>
          <a:solidFill>
            <a:srgbClr val="FDF3E3"/>
          </a:solidFill>
          <a:ln w="12700">
            <a:solidFill>
              <a:srgbClr val="FDF3E3"/>
            </a:solidFill>
            <a:prstDash val="solid"/>
          </a:ln>
        </p:spPr>
      </p:sp>
      <p:sp>
        <p:nvSpPr>
          <p:cNvPr id="12" name="Text 9"/>
          <p:cNvSpPr txBox="1"/>
          <p:nvPr/>
        </p:nvSpPr>
        <p:spPr>
          <a:xfrm>
            <a:off x="6419088" y="4517136"/>
            <a:ext cx="4946904" cy="1335024"/>
          </a:xfrm>
          <a:prstGeom prst="rect">
            <a:avLst/>
          </a:prstGeom>
          <a:noFill/>
          <a:ln/>
        </p:spPr>
        <p:txBody>
          <a:bodyPr wrap="square" lIns="0" tIns="0" rIns="0" bIns="0" rtlCol="0" anchor="ctr"/>
          <a:lstStyle/>
          <a:p>
            <a:pPr algn="l" indent="0" marL="0">
              <a:lnSpc>
                <a:spcPct val="125000"/>
              </a:lnSpc>
              <a:buNone/>
            </a:pPr>
            <a:r>
              <a:rPr lang="en-US" sz="1500" b="1" dirty="0">
                <a:solidFill>
                  <a:srgbClr val="B26A00"/>
                </a:solidFill>
                <a:latin typeface="Meiryo" pitchFamily="34" charset="0"/>
                <a:ea typeface="Meiryo" pitchFamily="34" charset="-122"/>
                <a:cs typeface="Meiryo" pitchFamily="34" charset="-120"/>
              </a:rPr>
              <a:t>この画面で開催回を追加・変更することはできません</a:t>
            </a:r>
            <a:endParaRPr lang="en-US" sz="1500" dirty="0"/>
          </a:p>
          <a:p>
            <a:pPr algn="l" indent="0" marL="0">
              <a:lnSpc>
                <a:spcPct val="125000"/>
              </a:lnSpc>
              <a:buNone/>
            </a:pPr>
            <a:r>
              <a:rPr lang="en-US" sz="1250" dirty="0">
                <a:solidFill>
                  <a:srgbClr val="B26A00"/>
                </a:solidFill>
                <a:latin typeface="Meiryo" pitchFamily="34" charset="0"/>
                <a:ea typeface="Meiryo" pitchFamily="34" charset="-122"/>
                <a:cs typeface="Meiryo" pitchFamily="34" charset="-120"/>
              </a:rPr>
              <a:t>並ぶのは「体験内容」の画面で登録した開催回です。</a:t>
            </a:r>
            <a:endParaRPr lang="en-US" sz="1500" dirty="0"/>
          </a:p>
          <a:p>
            <a:pPr algn="l" indent="0" marL="0">
              <a:lnSpc>
                <a:spcPct val="125000"/>
              </a:lnSpc>
              <a:buNone/>
            </a:pPr>
            <a:r>
              <a:rPr lang="en-US" sz="1250" b="1" dirty="0">
                <a:solidFill>
                  <a:srgbClr val="B26A00"/>
                </a:solidFill>
                <a:latin typeface="Meiryo" pitchFamily="34" charset="0"/>
                <a:ea typeface="Meiryo" pitchFamily="34" charset="-122"/>
                <a:cs typeface="Meiryo" pitchFamily="34" charset="-120"/>
              </a:rPr>
              <a:t>保存するとこの画面に留まります。「閉じる」で元の行に戻ります。</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5</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来場者に見えている画面</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（サイトのURL）/vacancy　ログイン不要</a:t>
            </a:r>
            <a:endParaRPr lang="en-US" sz="1400" dirty="0"/>
          </a:p>
        </p:txBody>
      </p:sp>
      <p:pic>
        <p:nvPicPr>
          <p:cNvPr id="8" name="Image 0" descr="C:\Users\sato\AppData\Local\Temp\claude\c--Users-sato-Desktop---3---3\c0abf194-6a09-42ac-bc16-2cd244740c64\scratchpad\deck\img\v-public.png">    </p:cNvPr>
          <p:cNvPicPr>
            <a:picLocks noChangeAspect="1"/>
          </p:cNvPicPr>
          <p:nvPr/>
        </p:nvPicPr>
        <p:blipFill>
          <a:blip r:embed="rId1"/>
          <a:stretch>
            <a:fillRect/>
          </a:stretch>
        </p:blipFill>
        <p:spPr>
          <a:xfrm>
            <a:off x="640080" y="1325880"/>
            <a:ext cx="4228339" cy="4572000"/>
          </a:xfrm>
          <a:prstGeom prst="rect">
            <a:avLst/>
          </a:prstGeom>
        </p:spPr>
      </p:pic>
      <p:sp>
        <p:nvSpPr>
          <p:cNvPr id="9" name="Shape 6"/>
          <p:cNvSpPr/>
          <p:nvPr/>
        </p:nvSpPr>
        <p:spPr>
          <a:xfrm>
            <a:off x="7772400" y="1371600"/>
            <a:ext cx="3794760" cy="1554480"/>
          </a:xfrm>
          <a:prstGeom prst="roundRect">
            <a:avLst>
              <a:gd name="adj" fmla="val 4706"/>
            </a:avLst>
          </a:prstGeom>
          <a:solidFill>
            <a:srgbClr val="ECFDF5"/>
          </a:solidFill>
          <a:ln w="12700">
            <a:solidFill>
              <a:srgbClr val="ECFDF5"/>
            </a:solidFill>
            <a:prstDash val="solid"/>
          </a:ln>
        </p:spPr>
      </p:sp>
      <p:sp>
        <p:nvSpPr>
          <p:cNvPr id="10" name="Text 7"/>
          <p:cNvSpPr txBox="1"/>
          <p:nvPr/>
        </p:nvSpPr>
        <p:spPr>
          <a:xfrm>
            <a:off x="7973568" y="1481328"/>
            <a:ext cx="3392424" cy="133502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スマートフォン前提の画面です</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体験ごとにカードで区切られ、記号は縦にそろうように大きく出ます。歩きながら記号だけで判断できるように。</a:t>
            </a:r>
            <a:endParaRPr lang="en-US" sz="1500" dirty="0"/>
          </a:p>
        </p:txBody>
      </p:sp>
      <p:sp>
        <p:nvSpPr>
          <p:cNvPr id="11" name="Shape 8"/>
          <p:cNvSpPr/>
          <p:nvPr/>
        </p:nvSpPr>
        <p:spPr>
          <a:xfrm>
            <a:off x="7772400" y="3063240"/>
            <a:ext cx="3794760" cy="1417320"/>
          </a:xfrm>
          <a:prstGeom prst="roundRect">
            <a:avLst>
              <a:gd name="adj" fmla="val 5161"/>
            </a:avLst>
          </a:prstGeom>
          <a:solidFill>
            <a:srgbClr val="CADCFC"/>
          </a:solidFill>
          <a:ln w="12700">
            <a:solidFill>
              <a:srgbClr val="CADCFC"/>
            </a:solidFill>
            <a:prstDash val="solid"/>
          </a:ln>
        </p:spPr>
      </p:sp>
      <p:sp>
        <p:nvSpPr>
          <p:cNvPr id="12" name="Text 9"/>
          <p:cNvSpPr txBox="1"/>
          <p:nvPr/>
        </p:nvSpPr>
        <p:spPr>
          <a:xfrm>
            <a:off x="7973568" y="3172968"/>
            <a:ext cx="3392424" cy="119786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エリア・内容・空きのみで絞れます</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絞り込みはスクロールしても上に残ります。先頭まで戻る必要はありません。</a:t>
            </a:r>
            <a:endParaRPr lang="en-US" sz="1500" dirty="0"/>
          </a:p>
        </p:txBody>
      </p:sp>
      <p:sp>
        <p:nvSpPr>
          <p:cNvPr id="13" name="Shape 10"/>
          <p:cNvSpPr/>
          <p:nvPr/>
        </p:nvSpPr>
        <p:spPr>
          <a:xfrm>
            <a:off x="7772400" y="4617720"/>
            <a:ext cx="3794760" cy="1280160"/>
          </a:xfrm>
          <a:prstGeom prst="roundRect">
            <a:avLst>
              <a:gd name="adj" fmla="val 5714"/>
            </a:avLst>
          </a:prstGeom>
          <a:solidFill>
            <a:srgbClr val="FDF3E3"/>
          </a:solidFill>
          <a:ln w="12700">
            <a:solidFill>
              <a:srgbClr val="FDF3E3"/>
            </a:solidFill>
            <a:prstDash val="solid"/>
          </a:ln>
        </p:spPr>
      </p:sp>
      <p:sp>
        <p:nvSpPr>
          <p:cNvPr id="14" name="Text 11"/>
          <p:cNvSpPr txBox="1"/>
          <p:nvPr/>
        </p:nvSpPr>
        <p:spPr>
          <a:xfrm>
            <a:off x="7973568" y="4727448"/>
            <a:ext cx="3392424" cy="1060704"/>
          </a:xfrm>
          <a:prstGeom prst="rect">
            <a:avLst/>
          </a:prstGeom>
          <a:noFill/>
          <a:ln/>
        </p:spPr>
        <p:txBody>
          <a:bodyPr wrap="square" lIns="0" tIns="0" rIns="0" bIns="0" rtlCol="0" anchor="ctr"/>
          <a:lstStyle/>
          <a:p>
            <a:pPr algn="l" indent="0" marL="0">
              <a:lnSpc>
                <a:spcPct val="125000"/>
              </a:lnSpc>
              <a:buNone/>
            </a:pPr>
            <a:r>
              <a:rPr lang="en-US" sz="1500" b="1" dirty="0">
                <a:solidFill>
                  <a:srgbClr val="B26A00"/>
                </a:solidFill>
                <a:latin typeface="Meiryo" pitchFamily="34" charset="0"/>
                <a:ea typeface="Meiryo" pitchFamily="34" charset="-122"/>
                <a:cs typeface="Meiryo" pitchFamily="34" charset="-120"/>
              </a:rPr>
              <a:t>2 分ごとに自動更新</a:t>
            </a:r>
            <a:endParaRPr lang="en-US" sz="1500" dirty="0"/>
          </a:p>
          <a:p>
            <a:pPr algn="l" indent="0" marL="0">
              <a:lnSpc>
                <a:spcPct val="125000"/>
              </a:lnSpc>
              <a:buNone/>
            </a:pPr>
            <a:r>
              <a:rPr lang="en-US" sz="1250" dirty="0">
                <a:solidFill>
                  <a:srgbClr val="B26A00"/>
                </a:solidFill>
                <a:latin typeface="Meiryo" pitchFamily="34" charset="0"/>
                <a:ea typeface="Meiryo" pitchFamily="34" charset="-122"/>
                <a:cs typeface="Meiryo" pitchFamily="34" charset="-120"/>
              </a:rPr>
              <a:t>「—」は未報告です。空きがないという意味ではありません。</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6</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大きく映す・他のサイトに載せる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中身は同じ。画面が足りないときの振る舞いだけが違います</a:t>
            </a:r>
            <a:endParaRPr lang="en-US" sz="1400" dirty="0"/>
          </a:p>
        </p:txBody>
      </p:sp>
      <p:sp>
        <p:nvSpPr>
          <p:cNvPr id="8" name="Shape 6"/>
          <p:cNvSpPr/>
          <p:nvPr/>
        </p:nvSpPr>
        <p:spPr>
          <a:xfrm>
            <a:off x="640080" y="1554480"/>
            <a:ext cx="10927080" cy="1188720"/>
          </a:xfrm>
          <a:prstGeom prst="roundRect">
            <a:avLst>
              <a:gd name="adj" fmla="val 4615"/>
            </a:avLst>
          </a:prstGeom>
          <a:solidFill>
            <a:srgbClr val="F4F7FC"/>
          </a:solidFill>
          <a:ln w="12700">
            <a:solidFill>
              <a:srgbClr val="C7D2E4"/>
            </a:solidFill>
            <a:prstDash val="solid"/>
          </a:ln>
        </p:spPr>
      </p:sp>
      <p:sp>
        <p:nvSpPr>
          <p:cNvPr id="9" name="Shape 7"/>
          <p:cNvSpPr/>
          <p:nvPr/>
        </p:nvSpPr>
        <p:spPr>
          <a:xfrm>
            <a:off x="804672" y="1938528"/>
            <a:ext cx="420624" cy="420624"/>
          </a:xfrm>
          <a:prstGeom prst="ellipse">
            <a:avLst/>
          </a:prstGeom>
          <a:solidFill>
            <a:srgbClr val="1E2761"/>
          </a:solidFill>
          <a:ln/>
        </p:spPr>
      </p:sp>
      <p:sp>
        <p:nvSpPr>
          <p:cNvPr id="10" name="Text 8"/>
          <p:cNvSpPr txBox="1"/>
          <p:nvPr/>
        </p:nvSpPr>
        <p:spPr>
          <a:xfrm>
            <a:off x="804672" y="193852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壁</a:t>
            </a:r>
            <a:endParaRPr lang="en-US" sz="1400" dirty="0"/>
          </a:p>
        </p:txBody>
      </p:sp>
      <p:sp>
        <p:nvSpPr>
          <p:cNvPr id="11" name="Text 9"/>
          <p:cNvSpPr txBox="1"/>
          <p:nvPr/>
        </p:nvSpPr>
        <p:spPr>
          <a:xfrm>
            <a:off x="1389888" y="1609344"/>
            <a:ext cx="10012680" cy="107899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サイネージ　/vacancy?display=signage</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会場の大型ディスプレイ（フルHD・4K、縦置きも）。1 画面に収まらない分は自動でページ送り。操作は不要です。</a:t>
            </a:r>
            <a:endParaRPr lang="en-US" sz="1500" dirty="0"/>
          </a:p>
        </p:txBody>
      </p:sp>
      <p:sp>
        <p:nvSpPr>
          <p:cNvPr id="12" name="Shape 10"/>
          <p:cNvSpPr/>
          <p:nvPr/>
        </p:nvSpPr>
        <p:spPr>
          <a:xfrm>
            <a:off x="640080" y="2926080"/>
            <a:ext cx="10927080" cy="1188720"/>
          </a:xfrm>
          <a:prstGeom prst="roundRect">
            <a:avLst>
              <a:gd name="adj" fmla="val 4615"/>
            </a:avLst>
          </a:prstGeom>
          <a:solidFill>
            <a:srgbClr val="F4F7FC"/>
          </a:solidFill>
          <a:ln w="12700">
            <a:solidFill>
              <a:srgbClr val="0369A1"/>
            </a:solidFill>
            <a:prstDash val="solid"/>
          </a:ln>
        </p:spPr>
      </p:sp>
      <p:sp>
        <p:nvSpPr>
          <p:cNvPr id="13" name="Shape 11"/>
          <p:cNvSpPr/>
          <p:nvPr/>
        </p:nvSpPr>
        <p:spPr>
          <a:xfrm>
            <a:off x="804672" y="3310128"/>
            <a:ext cx="420624" cy="420624"/>
          </a:xfrm>
          <a:prstGeom prst="ellipse">
            <a:avLst/>
          </a:prstGeom>
          <a:solidFill>
            <a:srgbClr val="0369A1"/>
          </a:solidFill>
          <a:ln/>
        </p:spPr>
      </p:sp>
      <p:sp>
        <p:nvSpPr>
          <p:cNvPr id="14" name="Text 12"/>
          <p:cNvSpPr txBox="1"/>
          <p:nvPr/>
        </p:nvSpPr>
        <p:spPr>
          <a:xfrm>
            <a:off x="804672" y="331012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埋</a:t>
            </a:r>
            <a:endParaRPr lang="en-US" sz="1400" dirty="0"/>
          </a:p>
        </p:txBody>
      </p:sp>
      <p:sp>
        <p:nvSpPr>
          <p:cNvPr id="15" name="Text 13"/>
          <p:cNvSpPr txBox="1"/>
          <p:nvPr/>
        </p:nvSpPr>
        <p:spPr>
          <a:xfrm>
            <a:off x="1389888" y="2980944"/>
            <a:ext cx="10012680" cy="107899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埋め込み　/vacancy?display=embed</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他サイトへの貼り付けと、スマートフォン。ページ送りをせず、全件をスクロールして読みます。</a:t>
            </a:r>
            <a:endParaRPr lang="en-US" sz="1500" dirty="0"/>
          </a:p>
        </p:txBody>
      </p:sp>
      <p:sp>
        <p:nvSpPr>
          <p:cNvPr id="16" name="Shape 14"/>
          <p:cNvSpPr/>
          <p:nvPr/>
        </p:nvSpPr>
        <p:spPr>
          <a:xfrm>
            <a:off x="640080" y="4297680"/>
            <a:ext cx="10927080" cy="1188720"/>
          </a:xfrm>
          <a:prstGeom prst="roundRect">
            <a:avLst>
              <a:gd name="adj" fmla="val 4615"/>
            </a:avLst>
          </a:prstGeom>
          <a:solidFill>
            <a:srgbClr val="ECFDF5"/>
          </a:solidFill>
          <a:ln w="12700">
            <a:solidFill>
              <a:srgbClr val="15803D"/>
            </a:solidFill>
            <a:prstDash val="solid"/>
          </a:ln>
        </p:spPr>
      </p:sp>
      <p:sp>
        <p:nvSpPr>
          <p:cNvPr id="17" name="Shape 15"/>
          <p:cNvSpPr/>
          <p:nvPr/>
        </p:nvSpPr>
        <p:spPr>
          <a:xfrm>
            <a:off x="804672" y="4681728"/>
            <a:ext cx="420624" cy="420624"/>
          </a:xfrm>
          <a:prstGeom prst="ellipse">
            <a:avLst/>
          </a:prstGeom>
          <a:solidFill>
            <a:srgbClr val="15803D"/>
          </a:solidFill>
          <a:ln/>
        </p:spPr>
      </p:sp>
      <p:sp>
        <p:nvSpPr>
          <p:cNvPr id="18" name="Text 16"/>
          <p:cNvSpPr txBox="1"/>
          <p:nvPr/>
        </p:nvSpPr>
        <p:spPr>
          <a:xfrm>
            <a:off x="804672" y="468172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公</a:t>
            </a:r>
            <a:endParaRPr lang="en-US" sz="1400" dirty="0"/>
          </a:p>
        </p:txBody>
      </p:sp>
      <p:sp>
        <p:nvSpPr>
          <p:cNvPr id="19" name="Text 17"/>
          <p:cNvSpPr txBox="1"/>
          <p:nvPr/>
        </p:nvSpPr>
        <p:spPr>
          <a:xfrm>
            <a:off x="1389888" y="4352544"/>
            <a:ext cx="10012680" cy="107899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公開ページ　/vacancy</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来場者が普通に開くページ。説明文と 2 つのタブが付きます。</a:t>
            </a:r>
            <a:endParaRPr lang="en-US" sz="1500" dirty="0"/>
          </a:p>
        </p:txBody>
      </p:sp>
      <p:sp>
        <p:nvSpPr>
          <p:cNvPr id="20" name="Shape 18"/>
          <p:cNvSpPr/>
          <p:nvPr/>
        </p:nvSpPr>
        <p:spPr>
          <a:xfrm>
            <a:off x="640080" y="5486400"/>
            <a:ext cx="10927080" cy="685800"/>
          </a:xfrm>
          <a:prstGeom prst="roundRect">
            <a:avLst>
              <a:gd name="adj" fmla="val 10667"/>
            </a:avLst>
          </a:prstGeom>
          <a:solidFill>
            <a:srgbClr val="FDF3E3"/>
          </a:solidFill>
          <a:ln w="12700">
            <a:solidFill>
              <a:srgbClr val="FDF3E3"/>
            </a:solidFill>
            <a:prstDash val="solid"/>
          </a:ln>
        </p:spPr>
      </p:sp>
      <p:sp>
        <p:nvSpPr>
          <p:cNvPr id="21" name="Text 19"/>
          <p:cNvSpPr txBox="1"/>
          <p:nvPr/>
        </p:nvSpPr>
        <p:spPr>
          <a:xfrm>
            <a:off x="841248" y="5596128"/>
            <a:ext cx="10524744" cy="466344"/>
          </a:xfrm>
          <a:prstGeom prst="rect">
            <a:avLst/>
          </a:prstGeom>
          <a:noFill/>
          <a:ln/>
        </p:spPr>
        <p:txBody>
          <a:bodyPr wrap="square" lIns="0" tIns="0" rIns="0" bIns="0" rtlCol="0" anchor="ctr"/>
          <a:lstStyle/>
          <a:p>
            <a:pPr algn="l" indent="0" marL="0">
              <a:lnSpc>
                <a:spcPct val="125000"/>
              </a:lnSpc>
              <a:buNone/>
            </a:pPr>
            <a:r>
              <a:rPr lang="en-US" sz="1300" b="1" dirty="0">
                <a:solidFill>
                  <a:srgbClr val="B26A00"/>
                </a:solidFill>
                <a:latin typeface="Meiryo" pitchFamily="34" charset="0"/>
                <a:ea typeface="Meiryo" pitchFamily="34" charset="-122"/>
                <a:cs typeface="Meiryo" pitchFamily="34" charset="-120"/>
              </a:rPr>
              <a:t>画面の見出しには、設定した「サイト名」が入ります（例：はいてくヒルズ2026 の空き状況）。</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7</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サイネージ</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ディスプレイにつないだ端末で、全画面（キオスクモード）で開くだけ</a:t>
            </a:r>
            <a:endParaRPr lang="en-US" sz="1400" dirty="0"/>
          </a:p>
        </p:txBody>
      </p:sp>
      <p:pic>
        <p:nvPicPr>
          <p:cNvPr id="8" name="Image 0" descr="C:\Users\sato\AppData\Local\Temp\claude\c--Users-sato-Desktop---3---3\c0abf194-6a09-42ac-bc16-2cd244740c64\scratchpad\deck\img\signage.png">    </p:cNvPr>
          <p:cNvPicPr>
            <a:picLocks noChangeAspect="1"/>
          </p:cNvPicPr>
          <p:nvPr/>
        </p:nvPicPr>
        <p:blipFill>
          <a:blip r:embed="rId1"/>
          <a:stretch>
            <a:fillRect/>
          </a:stretch>
        </p:blipFill>
        <p:spPr>
          <a:xfrm>
            <a:off x="3579221" y="1371600"/>
            <a:ext cx="5033253" cy="2834640"/>
          </a:xfrm>
          <a:prstGeom prst="rect">
            <a:avLst/>
          </a:prstGeom>
        </p:spPr>
      </p:pic>
      <p:sp>
        <p:nvSpPr>
          <p:cNvPr id="9" name="Shape 6"/>
          <p:cNvSpPr/>
          <p:nvPr/>
        </p:nvSpPr>
        <p:spPr>
          <a:xfrm>
            <a:off x="640080" y="4434840"/>
            <a:ext cx="5349240" cy="786384"/>
          </a:xfrm>
          <a:prstGeom prst="roundRect">
            <a:avLst>
              <a:gd name="adj" fmla="val 6977"/>
            </a:avLst>
          </a:prstGeom>
          <a:solidFill>
            <a:srgbClr val="F4F7FC"/>
          </a:solidFill>
          <a:ln w="12700">
            <a:solidFill>
              <a:srgbClr val="C7D2E4"/>
            </a:solidFill>
            <a:prstDash val="solid"/>
          </a:ln>
        </p:spPr>
      </p:sp>
      <p:sp>
        <p:nvSpPr>
          <p:cNvPr id="10" name="Shape 7"/>
          <p:cNvSpPr/>
          <p:nvPr/>
        </p:nvSpPr>
        <p:spPr>
          <a:xfrm>
            <a:off x="804672" y="4617720"/>
            <a:ext cx="420624" cy="420624"/>
          </a:xfrm>
          <a:prstGeom prst="ellipse">
            <a:avLst/>
          </a:prstGeom>
          <a:solidFill>
            <a:srgbClr val="1E2761"/>
          </a:solidFill>
          <a:ln/>
        </p:spPr>
      </p:sp>
      <p:sp>
        <p:nvSpPr>
          <p:cNvPr id="11" name="Text 8"/>
          <p:cNvSpPr txBox="1"/>
          <p:nvPr/>
        </p:nvSpPr>
        <p:spPr>
          <a:xfrm>
            <a:off x="804672" y="461772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9"/>
          <p:cNvSpPr txBox="1"/>
          <p:nvPr/>
        </p:nvSpPr>
        <p:spPr>
          <a:xfrm>
            <a:off x="1389888" y="4489704"/>
            <a:ext cx="4434840" cy="67665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操作は不要です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開いたまま放置してください。停電で消えても、電源を入れ直せば戻ります</a:t>
            </a:r>
            <a:endParaRPr lang="en-US" sz="1500" dirty="0"/>
          </a:p>
        </p:txBody>
      </p:sp>
      <p:sp>
        <p:nvSpPr>
          <p:cNvPr id="13" name="Shape 10"/>
          <p:cNvSpPr/>
          <p:nvPr/>
        </p:nvSpPr>
        <p:spPr>
          <a:xfrm>
            <a:off x="640080" y="5349240"/>
            <a:ext cx="5349240" cy="786384"/>
          </a:xfrm>
          <a:prstGeom prst="roundRect">
            <a:avLst>
              <a:gd name="adj" fmla="val 6977"/>
            </a:avLst>
          </a:prstGeom>
          <a:solidFill>
            <a:srgbClr val="F4F7FC"/>
          </a:solidFill>
          <a:ln w="12700">
            <a:solidFill>
              <a:srgbClr val="C7D2E4"/>
            </a:solidFill>
            <a:prstDash val="solid"/>
          </a:ln>
        </p:spPr>
      </p:sp>
      <p:sp>
        <p:nvSpPr>
          <p:cNvPr id="14" name="Shape 11"/>
          <p:cNvSpPr/>
          <p:nvPr/>
        </p:nvSpPr>
        <p:spPr>
          <a:xfrm>
            <a:off x="804672" y="5532120"/>
            <a:ext cx="420624" cy="420624"/>
          </a:xfrm>
          <a:prstGeom prst="ellipse">
            <a:avLst/>
          </a:prstGeom>
          <a:solidFill>
            <a:srgbClr val="1E2761"/>
          </a:solidFill>
          <a:ln/>
        </p:spPr>
      </p:sp>
      <p:sp>
        <p:nvSpPr>
          <p:cNvPr id="15" name="Text 12"/>
          <p:cNvSpPr txBox="1"/>
          <p:nvPr/>
        </p:nvSpPr>
        <p:spPr>
          <a:xfrm>
            <a:off x="804672" y="553212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3"/>
          <p:cNvSpPr txBox="1"/>
          <p:nvPr/>
        </p:nvSpPr>
        <p:spPr>
          <a:xfrm>
            <a:off x="1389888" y="5404104"/>
            <a:ext cx="4434840" cy="67665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自動でページが切り替わります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既定 8 件ずつ・30 秒ごと</a:t>
            </a:r>
            <a:endParaRPr lang="en-US" sz="1500" dirty="0"/>
          </a:p>
        </p:txBody>
      </p:sp>
      <p:sp>
        <p:nvSpPr>
          <p:cNvPr id="17" name="Shape 14"/>
          <p:cNvSpPr/>
          <p:nvPr/>
        </p:nvSpPr>
        <p:spPr>
          <a:xfrm>
            <a:off x="6217920" y="4434840"/>
            <a:ext cx="5349240" cy="868680"/>
          </a:xfrm>
          <a:prstGeom prst="roundRect">
            <a:avLst>
              <a:gd name="adj" fmla="val 8421"/>
            </a:avLst>
          </a:prstGeom>
          <a:solidFill>
            <a:srgbClr val="ECFDF5"/>
          </a:solidFill>
          <a:ln w="12700">
            <a:solidFill>
              <a:srgbClr val="ECFDF5"/>
            </a:solidFill>
            <a:prstDash val="solid"/>
          </a:ln>
        </p:spPr>
      </p:sp>
      <p:sp>
        <p:nvSpPr>
          <p:cNvPr id="18" name="Text 15"/>
          <p:cNvSpPr txBox="1"/>
          <p:nvPr/>
        </p:nvSpPr>
        <p:spPr>
          <a:xfrm>
            <a:off x="6419088" y="4544568"/>
            <a:ext cx="4946904" cy="649224"/>
          </a:xfrm>
          <a:prstGeom prst="rect">
            <a:avLst/>
          </a:prstGeom>
          <a:noFill/>
          <a:ln/>
        </p:spPr>
        <p:txBody>
          <a:bodyPr wrap="square" lIns="0" tIns="0" rIns="0" bIns="0" rtlCol="0" anchor="ctr"/>
          <a:lstStyle/>
          <a:p>
            <a:pPr algn="l" indent="0" marL="0">
              <a:lnSpc>
                <a:spcPct val="125000"/>
              </a:lnSpc>
              <a:buNone/>
            </a:pPr>
            <a:r>
              <a:rPr lang="en-US" sz="1400" b="1" dirty="0">
                <a:solidFill>
                  <a:srgbClr val="15803D"/>
                </a:solidFill>
                <a:latin typeface="Meiryo" pitchFamily="34" charset="0"/>
                <a:ea typeface="Meiryo" pitchFamily="34" charset="-122"/>
                <a:cs typeface="Meiryo" pitchFamily="34" charset="-120"/>
              </a:rPr>
              <a:t>1 画面に収まるときはページを切り替えません</a:t>
            </a:r>
            <a:endParaRPr lang="en-US" sz="14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2 分ごとに静かに読み直すだけです。</a:t>
            </a:r>
            <a:endParaRPr lang="en-US" sz="1400" dirty="0"/>
          </a:p>
        </p:txBody>
      </p:sp>
      <p:sp>
        <p:nvSpPr>
          <p:cNvPr id="19" name="Shape 16"/>
          <p:cNvSpPr/>
          <p:nvPr/>
        </p:nvSpPr>
        <p:spPr>
          <a:xfrm>
            <a:off x="6217920" y="5431536"/>
            <a:ext cx="5349240" cy="1005840"/>
          </a:xfrm>
          <a:prstGeom prst="roundRect">
            <a:avLst>
              <a:gd name="adj" fmla="val 7273"/>
            </a:avLst>
          </a:prstGeom>
          <a:solidFill>
            <a:srgbClr val="FDF3E3"/>
          </a:solidFill>
          <a:ln w="12700">
            <a:solidFill>
              <a:srgbClr val="FDF3E3"/>
            </a:solidFill>
            <a:prstDash val="solid"/>
          </a:ln>
        </p:spPr>
      </p:sp>
      <p:sp>
        <p:nvSpPr>
          <p:cNvPr id="20" name="Text 17"/>
          <p:cNvSpPr txBox="1"/>
          <p:nvPr/>
        </p:nvSpPr>
        <p:spPr>
          <a:xfrm>
            <a:off x="6419088" y="5541264"/>
            <a:ext cx="4946904" cy="786384"/>
          </a:xfrm>
          <a:prstGeom prst="rect">
            <a:avLst/>
          </a:prstGeom>
          <a:noFill/>
          <a:ln/>
        </p:spPr>
        <p:txBody>
          <a:bodyPr wrap="square" lIns="0" tIns="0" rIns="0" bIns="0" rtlCol="0" anchor="ctr"/>
          <a:lstStyle/>
          <a:p>
            <a:pPr algn="l" indent="0" marL="0">
              <a:lnSpc>
                <a:spcPct val="125000"/>
              </a:lnSpc>
              <a:buNone/>
            </a:pPr>
            <a:r>
              <a:rPr lang="en-US" sz="1400" b="1" dirty="0">
                <a:solidFill>
                  <a:srgbClr val="B26A00"/>
                </a:solidFill>
                <a:latin typeface="Meiryo" pitchFamily="34" charset="0"/>
                <a:ea typeface="Meiryo" pitchFamily="34" charset="-122"/>
                <a:cs typeface="Meiryo" pitchFamily="34" charset="-120"/>
              </a:rPr>
              <a:t>未報告の体験は出しません</a:t>
            </a:r>
            <a:endParaRPr lang="en-US" sz="1400" dirty="0"/>
          </a:p>
          <a:p>
            <a:pPr algn="l" indent="0" marL="0">
              <a:lnSpc>
                <a:spcPct val="125000"/>
              </a:lnSpc>
              <a:buNone/>
            </a:pPr>
            <a:r>
              <a:rPr lang="en-US" sz="1200" dirty="0">
                <a:solidFill>
                  <a:srgbClr val="B26A00"/>
                </a:solidFill>
                <a:latin typeface="Meiryo" pitchFamily="34" charset="0"/>
                <a:ea typeface="Meiryo" pitchFamily="34" charset="-122"/>
                <a:cs typeface="Meiryo" pitchFamily="34" charset="-120"/>
              </a:rPr>
              <a:t>90 分以上更新がないものは灰色になります。誰も見ていない時間が長いため、古い ◎ がいちばん危険だからです。</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8</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埋め込み（と、スマートフォン）</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ページ送りをしません。全件をスクロールして読みます</a:t>
            </a:r>
            <a:endParaRPr lang="en-US" sz="1400" dirty="0"/>
          </a:p>
        </p:txBody>
      </p:sp>
      <p:pic>
        <p:nvPicPr>
          <p:cNvPr id="8" name="Image 0" descr="C:\Users\sato\AppData\Local\Temp\claude\c--Users-sato-Desktop---3---3\c0abf194-6a09-42ac-bc16-2cd244740c64\scratchpad\deck\img\embed.png">    </p:cNvPr>
          <p:cNvPicPr>
            <a:picLocks noChangeAspect="1"/>
          </p:cNvPicPr>
          <p:nvPr/>
        </p:nvPicPr>
        <p:blipFill>
          <a:blip r:embed="rId1"/>
          <a:stretch>
            <a:fillRect/>
          </a:stretch>
        </p:blipFill>
        <p:spPr>
          <a:xfrm>
            <a:off x="640080" y="1325880"/>
            <a:ext cx="4411014" cy="4572000"/>
          </a:xfrm>
          <a:prstGeom prst="rect">
            <a:avLst/>
          </a:prstGeom>
        </p:spPr>
      </p:pic>
      <p:sp>
        <p:nvSpPr>
          <p:cNvPr id="9" name="Shape 6"/>
          <p:cNvSpPr/>
          <p:nvPr/>
        </p:nvSpPr>
        <p:spPr>
          <a:xfrm>
            <a:off x="6766560" y="1371600"/>
            <a:ext cx="4800600" cy="1371600"/>
          </a:xfrm>
          <a:prstGeom prst="roundRect">
            <a:avLst>
              <a:gd name="adj" fmla="val 5333"/>
            </a:avLst>
          </a:prstGeom>
          <a:solidFill>
            <a:srgbClr val="ECFDF5"/>
          </a:solidFill>
          <a:ln w="12700">
            <a:solidFill>
              <a:srgbClr val="ECFDF5"/>
            </a:solidFill>
            <a:prstDash val="solid"/>
          </a:ln>
        </p:spPr>
      </p:sp>
      <p:sp>
        <p:nvSpPr>
          <p:cNvPr id="10" name="Text 7"/>
          <p:cNvSpPr txBox="1"/>
          <p:nvPr/>
        </p:nvSpPr>
        <p:spPr>
          <a:xfrm>
            <a:off x="6967728" y="1481328"/>
            <a:ext cx="439826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タイトルと絞り込みは上に残ります</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長い一覧を下まで見てから絞り直すのに、先頭へ戻る必要はありません。</a:t>
            </a:r>
            <a:endParaRPr lang="en-US" sz="1500" dirty="0"/>
          </a:p>
        </p:txBody>
      </p:sp>
      <p:sp>
        <p:nvSpPr>
          <p:cNvPr id="11" name="Text 8"/>
          <p:cNvSpPr txBox="1"/>
          <p:nvPr/>
        </p:nvSpPr>
        <p:spPr>
          <a:xfrm>
            <a:off x="6766560" y="2926080"/>
            <a:ext cx="4800600" cy="320040"/>
          </a:xfrm>
          <a:prstGeom prst="rect">
            <a:avLst/>
          </a:prstGeom>
          <a:noFill/>
          <a:ln/>
        </p:spPr>
        <p:txBody>
          <a:bodyPr wrap="square" lIns="0" tIns="0" rIns="0" bIns="0" rtlCol="0" anchor="ctr"/>
          <a:lstStyle/>
          <a:p>
            <a:pPr indent="0" marL="0">
              <a:buNone/>
            </a:pPr>
            <a:r>
              <a:rPr lang="en-US" sz="1500" b="1" dirty="0">
                <a:solidFill>
                  <a:srgbClr val="1E2761"/>
                </a:solidFill>
                <a:latin typeface="Meiryo" pitchFamily="34" charset="0"/>
                <a:ea typeface="Meiryo" pitchFamily="34" charset="-122"/>
                <a:cs typeface="Meiryo" pitchFamily="34" charset="-120"/>
              </a:rPr>
              <a:t>他のサイトに貼るとき</a:t>
            </a:r>
            <a:endParaRPr lang="en-US" sz="1500" dirty="0"/>
          </a:p>
        </p:txBody>
      </p:sp>
      <p:sp>
        <p:nvSpPr>
          <p:cNvPr id="12" name="Shape 9"/>
          <p:cNvSpPr/>
          <p:nvPr/>
        </p:nvSpPr>
        <p:spPr>
          <a:xfrm>
            <a:off x="6766560" y="3291840"/>
            <a:ext cx="4800600" cy="1051560"/>
          </a:xfrm>
          <a:prstGeom prst="roundRect">
            <a:avLst>
              <a:gd name="adj" fmla="val 5217"/>
            </a:avLst>
          </a:prstGeom>
          <a:solidFill>
            <a:srgbClr val="F6F8FB"/>
          </a:solidFill>
          <a:ln w="12700">
            <a:solidFill>
              <a:srgbClr val="C7D2E4"/>
            </a:solidFill>
            <a:prstDash val="solid"/>
          </a:ln>
        </p:spPr>
      </p:sp>
      <p:sp>
        <p:nvSpPr>
          <p:cNvPr id="13" name="Text 10"/>
          <p:cNvSpPr txBox="1"/>
          <p:nvPr/>
        </p:nvSpPr>
        <p:spPr>
          <a:xfrm>
            <a:off x="6903720" y="3364992"/>
            <a:ext cx="4526280" cy="914400"/>
          </a:xfrm>
          <a:prstGeom prst="rect">
            <a:avLst/>
          </a:prstGeom>
          <a:noFill/>
          <a:ln/>
        </p:spPr>
        <p:txBody>
          <a:bodyPr wrap="square" lIns="0" tIns="0" rIns="0" bIns="0" rtlCol="0" anchor="ctr"/>
          <a:lstStyle/>
          <a:p>
            <a:pPr indent="0" marL="0">
              <a:lnSpc>
                <a:spcPct val="120000"/>
              </a:lnSpc>
              <a:buNone/>
            </a:pPr>
            <a:r>
              <a:rPr lang="en-US" sz="1050" dirty="0">
                <a:solidFill>
                  <a:srgbClr val="1F2937"/>
                </a:solidFill>
                <a:latin typeface="Consolas" pitchFamily="34" charset="0"/>
                <a:ea typeface="Consolas" pitchFamily="34" charset="-122"/>
                <a:cs typeface="Consolas" pitchFamily="34" charset="-120"/>
              </a:rPr>
              <a:t>&lt;iframe src="（サイトのURL）/vacancy?display=embed"</a:t>
            </a:r>
            <a:endParaRPr lang="en-US" sz="1050" dirty="0"/>
          </a:p>
          <a:p>
            <a:pPr indent="0" marL="0">
              <a:lnSpc>
                <a:spcPct val="120000"/>
              </a:lnSpc>
              <a:buNone/>
            </a:pPr>
            <a:r>
              <a:rPr lang="en-US" sz="1050" dirty="0">
                <a:solidFill>
                  <a:srgbClr val="1F2937"/>
                </a:solidFill>
                <a:latin typeface="Consolas" pitchFamily="34" charset="0"/>
                <a:ea typeface="Consolas" pitchFamily="34" charset="-122"/>
                <a:cs typeface="Consolas" pitchFamily="34" charset="-120"/>
              </a:rPr>
              <a:t>        style="width:100%;height:600px;border:0"&gt;&lt;/iframe&gt;</a:t>
            </a:r>
            <a:endParaRPr lang="en-US" sz="1050" dirty="0"/>
          </a:p>
        </p:txBody>
      </p:sp>
      <p:sp>
        <p:nvSpPr>
          <p:cNvPr id="14" name="Shape 11"/>
          <p:cNvSpPr/>
          <p:nvPr/>
        </p:nvSpPr>
        <p:spPr>
          <a:xfrm>
            <a:off x="6766560" y="4526280"/>
            <a:ext cx="4800600" cy="1371600"/>
          </a:xfrm>
          <a:prstGeom prst="roundRect">
            <a:avLst>
              <a:gd name="adj" fmla="val 5333"/>
            </a:avLst>
          </a:prstGeom>
          <a:solidFill>
            <a:srgbClr val="FEF2F2"/>
          </a:solidFill>
          <a:ln w="12700">
            <a:solidFill>
              <a:srgbClr val="FEF2F2"/>
            </a:solidFill>
            <a:prstDash val="solid"/>
          </a:ln>
        </p:spPr>
      </p:sp>
      <p:sp>
        <p:nvSpPr>
          <p:cNvPr id="15" name="Text 12"/>
          <p:cNvSpPr txBox="1"/>
          <p:nvPr/>
        </p:nvSpPr>
        <p:spPr>
          <a:xfrm>
            <a:off x="6967728" y="4636008"/>
            <a:ext cx="4398264" cy="1152144"/>
          </a:xfrm>
          <a:prstGeom prst="rect">
            <a:avLst/>
          </a:prstGeom>
          <a:noFill/>
          <a:ln/>
        </p:spPr>
        <p:txBody>
          <a:bodyPr wrap="square" lIns="0" tIns="0" rIns="0" bIns="0" rtlCol="0" anchor="ctr"/>
          <a:lstStyle/>
          <a:p>
            <a:pPr algn="l" indent="0" marL="0">
              <a:lnSpc>
                <a:spcPct val="125000"/>
              </a:lnSpc>
              <a:buNone/>
            </a:pPr>
            <a:r>
              <a:rPr lang="en-US" sz="1400" b="1" dirty="0">
                <a:solidFill>
                  <a:srgbClr val="B91C1C"/>
                </a:solidFill>
                <a:latin typeface="Meiryo" pitchFamily="34" charset="0"/>
                <a:ea typeface="Meiryo" pitchFamily="34" charset="-122"/>
                <a:cs typeface="Meiryo" pitchFamily="34" charset="-120"/>
              </a:rPr>
              <a:t>height は必ず指定してください</a:t>
            </a:r>
            <a:endParaRPr lang="en-US" sz="1400" dirty="0"/>
          </a:p>
          <a:p>
            <a:pPr algn="l" indent="0" marL="0">
              <a:lnSpc>
                <a:spcPct val="125000"/>
              </a:lnSpc>
              <a:buNone/>
            </a:pPr>
            <a:r>
              <a:rPr lang="en-US" sz="1250" dirty="0">
                <a:solidFill>
                  <a:srgbClr val="B91C1C"/>
                </a:solidFill>
                <a:latin typeface="Meiryo" pitchFamily="34" charset="0"/>
                <a:ea typeface="Meiryo" pitchFamily="34" charset="-122"/>
                <a:cs typeface="Meiryo" pitchFamily="34" charset="-120"/>
              </a:rPr>
              <a:t>中身に合わせて伸びる作りにすると iframe 自体がスクロールせず、固定が効きません。</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9</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9</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並び順と、どの回が出るか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来場者は「今どこへ行けるか」を見ています</a:t>
            </a:r>
            <a:endParaRPr lang="en-US" sz="1400" dirty="0"/>
          </a:p>
        </p:txBody>
      </p:sp>
      <p:sp>
        <p:nvSpPr>
          <p:cNvPr id="8" name="Text 6"/>
          <p:cNvSpPr txBox="1"/>
          <p:nvPr/>
        </p:nvSpPr>
        <p:spPr>
          <a:xfrm>
            <a:off x="640080" y="1417320"/>
            <a:ext cx="5349240" cy="320040"/>
          </a:xfrm>
          <a:prstGeom prst="rect">
            <a:avLst/>
          </a:prstGeom>
          <a:noFill/>
          <a:ln/>
        </p:spPr>
        <p:txBody>
          <a:bodyPr wrap="square" lIns="0" tIns="0" rIns="0" bIns="0" rtlCol="0" anchor="ctr"/>
          <a:lstStyle/>
          <a:p>
            <a:pPr indent="0" marL="0">
              <a:buNone/>
            </a:pPr>
            <a:r>
              <a:rPr lang="en-US" sz="1700" b="1" dirty="0">
                <a:solidFill>
                  <a:srgbClr val="1E2761"/>
                </a:solidFill>
                <a:latin typeface="Meiryo" pitchFamily="34" charset="0"/>
                <a:ea typeface="Meiryo" pitchFamily="34" charset="-122"/>
                <a:cs typeface="Meiryo" pitchFamily="34" charset="-120"/>
              </a:rPr>
              <a:t>並び順</a:t>
            </a:r>
            <a:endParaRPr lang="en-US" sz="1700" dirty="0"/>
          </a:p>
        </p:txBody>
      </p:sp>
      <p:sp>
        <p:nvSpPr>
          <p:cNvPr id="9" name="Shape 7"/>
          <p:cNvSpPr/>
          <p:nvPr/>
        </p:nvSpPr>
        <p:spPr>
          <a:xfrm>
            <a:off x="640080" y="1828800"/>
            <a:ext cx="5349240" cy="713232"/>
          </a:xfrm>
          <a:prstGeom prst="roundRect">
            <a:avLst>
              <a:gd name="adj" fmla="val 7692"/>
            </a:avLst>
          </a:prstGeom>
          <a:solidFill>
            <a:srgbClr val="F4F7FC"/>
          </a:solidFill>
          <a:ln w="12700">
            <a:solidFill>
              <a:srgbClr val="C7D2E4"/>
            </a:solidFill>
            <a:prstDash val="solid"/>
          </a:ln>
        </p:spPr>
      </p:sp>
      <p:sp>
        <p:nvSpPr>
          <p:cNvPr id="10" name="Shape 8"/>
          <p:cNvSpPr/>
          <p:nvPr/>
        </p:nvSpPr>
        <p:spPr>
          <a:xfrm>
            <a:off x="804672" y="1975104"/>
            <a:ext cx="420624" cy="420624"/>
          </a:xfrm>
          <a:prstGeom prst="ellipse">
            <a:avLst/>
          </a:prstGeom>
          <a:solidFill>
            <a:srgbClr val="1E2761"/>
          </a:solidFill>
          <a:ln/>
        </p:spPr>
      </p:sp>
      <p:sp>
        <p:nvSpPr>
          <p:cNvPr id="11" name="Text 9"/>
          <p:cNvSpPr txBox="1"/>
          <p:nvPr/>
        </p:nvSpPr>
        <p:spPr>
          <a:xfrm>
            <a:off x="804672" y="197510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10"/>
          <p:cNvSpPr txBox="1"/>
          <p:nvPr/>
        </p:nvSpPr>
        <p:spPr>
          <a:xfrm>
            <a:off x="1389888" y="1883664"/>
            <a:ext cx="4434840" cy="603504"/>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人が報告した行</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 → ◯ → △ → ✕</a:t>
            </a:r>
            <a:endParaRPr lang="en-US" sz="1500" dirty="0"/>
          </a:p>
        </p:txBody>
      </p:sp>
      <p:sp>
        <p:nvSpPr>
          <p:cNvPr id="13" name="Shape 11"/>
          <p:cNvSpPr/>
          <p:nvPr/>
        </p:nvSpPr>
        <p:spPr>
          <a:xfrm>
            <a:off x="640080" y="2651760"/>
            <a:ext cx="5349240" cy="713232"/>
          </a:xfrm>
          <a:prstGeom prst="roundRect">
            <a:avLst>
              <a:gd name="adj" fmla="val 7692"/>
            </a:avLst>
          </a:prstGeom>
          <a:solidFill>
            <a:srgbClr val="F4F7FC"/>
          </a:solidFill>
          <a:ln w="12700">
            <a:solidFill>
              <a:srgbClr val="C7D2E4"/>
            </a:solidFill>
            <a:prstDash val="solid"/>
          </a:ln>
        </p:spPr>
      </p:sp>
      <p:sp>
        <p:nvSpPr>
          <p:cNvPr id="14" name="Shape 12"/>
          <p:cNvSpPr/>
          <p:nvPr/>
        </p:nvSpPr>
        <p:spPr>
          <a:xfrm>
            <a:off x="804672" y="2798064"/>
            <a:ext cx="420624" cy="420624"/>
          </a:xfrm>
          <a:prstGeom prst="ellipse">
            <a:avLst/>
          </a:prstGeom>
          <a:solidFill>
            <a:srgbClr val="1E2761"/>
          </a:solidFill>
          <a:ln/>
        </p:spPr>
      </p:sp>
      <p:sp>
        <p:nvSpPr>
          <p:cNvPr id="15" name="Text 13"/>
          <p:cNvSpPr txBox="1"/>
          <p:nvPr/>
        </p:nvSpPr>
        <p:spPr>
          <a:xfrm>
            <a:off x="804672" y="279806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4"/>
          <p:cNvSpPr txBox="1"/>
          <p:nvPr/>
        </p:nvSpPr>
        <p:spPr>
          <a:xfrm>
            <a:off x="1389888" y="2706624"/>
            <a:ext cx="4434840" cy="603504"/>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予約システムの自動表示</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 → ✕</a:t>
            </a:r>
            <a:endParaRPr lang="en-US" sz="1500" dirty="0"/>
          </a:p>
        </p:txBody>
      </p:sp>
      <p:sp>
        <p:nvSpPr>
          <p:cNvPr id="17" name="Shape 15"/>
          <p:cNvSpPr/>
          <p:nvPr/>
        </p:nvSpPr>
        <p:spPr>
          <a:xfrm>
            <a:off x="640080" y="3529584"/>
            <a:ext cx="5349240" cy="1051560"/>
          </a:xfrm>
          <a:prstGeom prst="roundRect">
            <a:avLst>
              <a:gd name="adj" fmla="val 6957"/>
            </a:avLst>
          </a:prstGeom>
          <a:solidFill>
            <a:srgbClr val="FDF3E3"/>
          </a:solidFill>
          <a:ln w="12700">
            <a:solidFill>
              <a:srgbClr val="FDF3E3"/>
            </a:solidFill>
            <a:prstDash val="solid"/>
          </a:ln>
        </p:spPr>
      </p:sp>
      <p:sp>
        <p:nvSpPr>
          <p:cNvPr id="18" name="Text 16"/>
          <p:cNvSpPr txBox="1"/>
          <p:nvPr/>
        </p:nvSpPr>
        <p:spPr>
          <a:xfrm>
            <a:off x="841248" y="3639312"/>
            <a:ext cx="4946904" cy="832104"/>
          </a:xfrm>
          <a:prstGeom prst="rect">
            <a:avLst/>
          </a:prstGeom>
          <a:noFill/>
          <a:ln/>
        </p:spPr>
        <p:txBody>
          <a:bodyPr wrap="square" lIns="0" tIns="0" rIns="0" bIns="0" rtlCol="0" anchor="ctr"/>
          <a:lstStyle/>
          <a:p>
            <a:pPr algn="l" indent="0" marL="0">
              <a:lnSpc>
                <a:spcPct val="125000"/>
              </a:lnSpc>
              <a:buNone/>
            </a:pPr>
            <a:r>
              <a:rPr lang="en-US" sz="1250" b="1" dirty="0">
                <a:solidFill>
                  <a:srgbClr val="B26A00"/>
                </a:solidFill>
                <a:latin typeface="Meiryo" pitchFamily="34" charset="0"/>
                <a:ea typeface="Meiryo" pitchFamily="34" charset="-122"/>
                <a:cs typeface="Meiryo" pitchFamily="34" charset="-120"/>
              </a:rPr>
              <a:t>更新のたびにカードの位置が動きます。</a:t>
            </a:r>
            <a:endParaRPr lang="en-US" sz="1250" dirty="0"/>
          </a:p>
          <a:p>
            <a:pPr algn="l" indent="0" marL="0">
              <a:lnSpc>
                <a:spcPct val="125000"/>
              </a:lnSpc>
              <a:buNone/>
            </a:pPr>
            <a:r>
              <a:rPr lang="en-US" sz="1250" dirty="0">
                <a:solidFill>
                  <a:srgbClr val="B26A00"/>
                </a:solidFill>
                <a:latin typeface="Meiryo" pitchFamily="34" charset="0"/>
                <a:ea typeface="Meiryo" pitchFamily="34" charset="-122"/>
                <a:cs typeface="Meiryo" pitchFamily="34" charset="-120"/>
              </a:rPr>
              <a:t>これは仕様です。行ける所を先に出すためです。</a:t>
            </a:r>
            <a:endParaRPr lang="en-US" sz="1250" dirty="0"/>
          </a:p>
        </p:txBody>
      </p:sp>
      <p:sp>
        <p:nvSpPr>
          <p:cNvPr id="19" name="Text 17"/>
          <p:cNvSpPr txBox="1"/>
          <p:nvPr/>
        </p:nvSpPr>
        <p:spPr>
          <a:xfrm>
            <a:off x="6217920" y="1417320"/>
            <a:ext cx="5349240" cy="320040"/>
          </a:xfrm>
          <a:prstGeom prst="rect">
            <a:avLst/>
          </a:prstGeom>
          <a:noFill/>
          <a:ln/>
        </p:spPr>
        <p:txBody>
          <a:bodyPr wrap="square" lIns="0" tIns="0" rIns="0" bIns="0" rtlCol="0" anchor="ctr"/>
          <a:lstStyle/>
          <a:p>
            <a:pPr indent="0" marL="0">
              <a:buNone/>
            </a:pPr>
            <a:r>
              <a:rPr lang="en-US" sz="1700" b="1" dirty="0">
                <a:solidFill>
                  <a:srgbClr val="1E2761"/>
                </a:solidFill>
                <a:latin typeface="Meiryo" pitchFamily="34" charset="0"/>
                <a:ea typeface="Meiryo" pitchFamily="34" charset="-122"/>
                <a:cs typeface="Meiryo" pitchFamily="34" charset="-120"/>
              </a:rPr>
              <a:t>1 体験につき 3 枚まで（既定）</a:t>
            </a:r>
            <a:endParaRPr lang="en-US" sz="1700" dirty="0"/>
          </a:p>
        </p:txBody>
      </p:sp>
      <p:sp>
        <p:nvSpPr>
          <p:cNvPr id="20" name="Shape 18"/>
          <p:cNvSpPr/>
          <p:nvPr/>
        </p:nvSpPr>
        <p:spPr>
          <a:xfrm>
            <a:off x="6217920" y="1828800"/>
            <a:ext cx="5349240" cy="658368"/>
          </a:xfrm>
          <a:prstGeom prst="roundRect">
            <a:avLst>
              <a:gd name="adj" fmla="val 8333"/>
            </a:avLst>
          </a:prstGeom>
          <a:solidFill>
            <a:srgbClr val="F4F7FC"/>
          </a:solidFill>
          <a:ln w="12700">
            <a:solidFill>
              <a:srgbClr val="C7D2E4"/>
            </a:solidFill>
            <a:prstDash val="solid"/>
          </a:ln>
        </p:spPr>
      </p:sp>
      <p:sp>
        <p:nvSpPr>
          <p:cNvPr id="21" name="Shape 19"/>
          <p:cNvSpPr/>
          <p:nvPr/>
        </p:nvSpPr>
        <p:spPr>
          <a:xfrm>
            <a:off x="6382512" y="1947672"/>
            <a:ext cx="420624" cy="420624"/>
          </a:xfrm>
          <a:prstGeom prst="ellipse">
            <a:avLst/>
          </a:prstGeom>
          <a:solidFill>
            <a:srgbClr val="1E2761"/>
          </a:solidFill>
          <a:ln/>
        </p:spPr>
      </p:sp>
      <p:sp>
        <p:nvSpPr>
          <p:cNvPr id="22" name="Text 20"/>
          <p:cNvSpPr txBox="1"/>
          <p:nvPr/>
        </p:nvSpPr>
        <p:spPr>
          <a:xfrm>
            <a:off x="6382512" y="194767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23" name="Text 21"/>
          <p:cNvSpPr txBox="1"/>
          <p:nvPr/>
        </p:nvSpPr>
        <p:spPr>
          <a:xfrm>
            <a:off x="6967728" y="1883664"/>
            <a:ext cx="4434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次の回（必ず）</a:t>
            </a:r>
            <a:endParaRPr lang="en-US" sz="1500" dirty="0"/>
          </a:p>
        </p:txBody>
      </p:sp>
      <p:sp>
        <p:nvSpPr>
          <p:cNvPr id="24" name="Shape 22"/>
          <p:cNvSpPr/>
          <p:nvPr/>
        </p:nvSpPr>
        <p:spPr>
          <a:xfrm>
            <a:off x="6217920" y="2596896"/>
            <a:ext cx="5349240" cy="658368"/>
          </a:xfrm>
          <a:prstGeom prst="roundRect">
            <a:avLst>
              <a:gd name="adj" fmla="val 8333"/>
            </a:avLst>
          </a:prstGeom>
          <a:solidFill>
            <a:srgbClr val="ECFDF5"/>
          </a:solidFill>
          <a:ln w="12700">
            <a:solidFill>
              <a:srgbClr val="15803D"/>
            </a:solidFill>
            <a:prstDash val="solid"/>
          </a:ln>
        </p:spPr>
      </p:sp>
      <p:sp>
        <p:nvSpPr>
          <p:cNvPr id="25" name="Shape 23"/>
          <p:cNvSpPr/>
          <p:nvPr/>
        </p:nvSpPr>
        <p:spPr>
          <a:xfrm>
            <a:off x="6382512" y="2715768"/>
            <a:ext cx="420624" cy="420624"/>
          </a:xfrm>
          <a:prstGeom prst="ellipse">
            <a:avLst/>
          </a:prstGeom>
          <a:solidFill>
            <a:srgbClr val="15803D"/>
          </a:solidFill>
          <a:ln/>
        </p:spPr>
      </p:sp>
      <p:sp>
        <p:nvSpPr>
          <p:cNvPr id="26" name="Text 24"/>
          <p:cNvSpPr txBox="1"/>
          <p:nvPr/>
        </p:nvSpPr>
        <p:spPr>
          <a:xfrm>
            <a:off x="6382512" y="271576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27" name="Text 25"/>
          <p:cNvSpPr txBox="1"/>
          <p:nvPr/>
        </p:nvSpPr>
        <p:spPr>
          <a:xfrm>
            <a:off x="6967728" y="2651760"/>
            <a:ext cx="4434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 ではない回を、早い順に</a:t>
            </a:r>
            <a:endParaRPr lang="en-US" sz="1500" dirty="0"/>
          </a:p>
        </p:txBody>
      </p:sp>
      <p:sp>
        <p:nvSpPr>
          <p:cNvPr id="28" name="Shape 26"/>
          <p:cNvSpPr/>
          <p:nvPr/>
        </p:nvSpPr>
        <p:spPr>
          <a:xfrm>
            <a:off x="6217920" y="3364992"/>
            <a:ext cx="5349240" cy="658368"/>
          </a:xfrm>
          <a:prstGeom prst="roundRect">
            <a:avLst>
              <a:gd name="adj" fmla="val 8333"/>
            </a:avLst>
          </a:prstGeom>
          <a:solidFill>
            <a:srgbClr val="F4F7FC"/>
          </a:solidFill>
          <a:ln w="12700">
            <a:solidFill>
              <a:srgbClr val="C7D2E4"/>
            </a:solidFill>
            <a:prstDash val="solid"/>
          </a:ln>
        </p:spPr>
      </p:sp>
      <p:sp>
        <p:nvSpPr>
          <p:cNvPr id="29" name="Shape 27"/>
          <p:cNvSpPr/>
          <p:nvPr/>
        </p:nvSpPr>
        <p:spPr>
          <a:xfrm>
            <a:off x="6382512" y="3483864"/>
            <a:ext cx="420624" cy="420624"/>
          </a:xfrm>
          <a:prstGeom prst="ellipse">
            <a:avLst/>
          </a:prstGeom>
          <a:solidFill>
            <a:srgbClr val="1E2761"/>
          </a:solidFill>
          <a:ln/>
        </p:spPr>
      </p:sp>
      <p:sp>
        <p:nvSpPr>
          <p:cNvPr id="30" name="Text 28"/>
          <p:cNvSpPr txBox="1"/>
          <p:nvPr/>
        </p:nvSpPr>
        <p:spPr>
          <a:xfrm>
            <a:off x="6382512" y="348386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31" name="Text 29"/>
          <p:cNvSpPr txBox="1"/>
          <p:nvPr/>
        </p:nvSpPr>
        <p:spPr>
          <a:xfrm>
            <a:off x="6967728" y="3419856"/>
            <a:ext cx="443484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枠が余れば、残りを早い順に</a:t>
            </a:r>
            <a:endParaRPr lang="en-US" sz="1500" dirty="0"/>
          </a:p>
        </p:txBody>
      </p:sp>
      <p:sp>
        <p:nvSpPr>
          <p:cNvPr id="32" name="Shape 30"/>
          <p:cNvSpPr/>
          <p:nvPr/>
        </p:nvSpPr>
        <p:spPr>
          <a:xfrm>
            <a:off x="640080" y="4800600"/>
            <a:ext cx="10927080" cy="1097280"/>
          </a:xfrm>
          <a:prstGeom prst="roundRect">
            <a:avLst>
              <a:gd name="adj" fmla="val 6667"/>
            </a:avLst>
          </a:prstGeom>
          <a:solidFill>
            <a:srgbClr val="ECFDF5"/>
          </a:solidFill>
          <a:ln w="12700">
            <a:solidFill>
              <a:srgbClr val="ECFDF5"/>
            </a:solidFill>
            <a:prstDash val="solid"/>
          </a:ln>
        </p:spPr>
      </p:sp>
      <p:sp>
        <p:nvSpPr>
          <p:cNvPr id="33" name="Text 31"/>
          <p:cNvSpPr txBox="1"/>
          <p:nvPr/>
        </p:nvSpPr>
        <p:spPr>
          <a:xfrm>
            <a:off x="841248" y="4910328"/>
            <a:ext cx="10524744" cy="87782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早い順に 3 つだと、次の 3 回が満席の体験は ✕ が 3 枚並ぶだけになります</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夕方に空いている回が出ず、いちばん知りたい情報が隠れていました。この選び方なら、どこかに空きがあれば必ず出ます（出てくる回は時間的に連続しないことがあります）。</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10</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10</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会場に合わせて調整する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URL の後ろに付けて変えられます。現物を見てから決めてください</a:t>
            </a:r>
            <a:endParaRPr lang="en-US" sz="1400" dirty="0"/>
          </a:p>
        </p:txBody>
      </p:sp>
      <p:sp>
        <p:nvSpPr>
          <p:cNvPr id="8" name="Shape 6"/>
          <p:cNvSpPr/>
          <p:nvPr/>
        </p:nvSpPr>
        <p:spPr>
          <a:xfrm>
            <a:off x="640080" y="1481328"/>
            <a:ext cx="10927080" cy="384048"/>
          </a:xfrm>
          <a:prstGeom prst="rect">
            <a:avLst/>
          </a:prstGeom>
          <a:solidFill>
            <a:srgbClr val="1E2761"/>
          </a:solidFill>
          <a:ln w="12700">
            <a:solidFill>
              <a:srgbClr val="1E2761"/>
            </a:solidFill>
            <a:prstDash val="solid"/>
          </a:ln>
        </p:spPr>
      </p:sp>
      <p:sp>
        <p:nvSpPr>
          <p:cNvPr id="9" name="Text 7"/>
          <p:cNvSpPr txBox="1"/>
          <p:nvPr/>
        </p:nvSpPr>
        <p:spPr>
          <a:xfrm>
            <a:off x="822960" y="1481328"/>
            <a:ext cx="210312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Meiryo" pitchFamily="34" charset="0"/>
                <a:ea typeface="Meiryo" pitchFamily="34" charset="-122"/>
                <a:cs typeface="Meiryo" pitchFamily="34" charset="-120"/>
              </a:rPr>
              <a:t>付けるもの</a:t>
            </a:r>
            <a:endParaRPr lang="en-US" sz="1300" dirty="0"/>
          </a:p>
        </p:txBody>
      </p:sp>
      <p:sp>
        <p:nvSpPr>
          <p:cNvPr id="10" name="Text 8"/>
          <p:cNvSpPr txBox="1"/>
          <p:nvPr/>
        </p:nvSpPr>
        <p:spPr>
          <a:xfrm>
            <a:off x="3017520" y="1481328"/>
            <a:ext cx="65836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Meiryo" pitchFamily="34" charset="0"/>
                <a:ea typeface="Meiryo" pitchFamily="34" charset="-122"/>
                <a:cs typeface="Meiryo" pitchFamily="34" charset="-120"/>
              </a:rPr>
              <a:t>意味</a:t>
            </a:r>
            <a:endParaRPr lang="en-US" sz="1300" dirty="0"/>
          </a:p>
        </p:txBody>
      </p:sp>
      <p:sp>
        <p:nvSpPr>
          <p:cNvPr id="11" name="Text 9"/>
          <p:cNvSpPr txBox="1"/>
          <p:nvPr/>
        </p:nvSpPr>
        <p:spPr>
          <a:xfrm>
            <a:off x="9692640" y="1481328"/>
            <a:ext cx="173736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Meiryo" pitchFamily="34" charset="0"/>
                <a:ea typeface="Meiryo" pitchFamily="34" charset="-122"/>
                <a:cs typeface="Meiryo" pitchFamily="34" charset="-120"/>
              </a:rPr>
              <a:t>既定</a:t>
            </a:r>
            <a:endParaRPr lang="en-US" sz="1300" dirty="0"/>
          </a:p>
        </p:txBody>
      </p:sp>
      <p:sp>
        <p:nvSpPr>
          <p:cNvPr id="12" name="Shape 10"/>
          <p:cNvSpPr/>
          <p:nvPr/>
        </p:nvSpPr>
        <p:spPr>
          <a:xfrm>
            <a:off x="640080" y="1865376"/>
            <a:ext cx="10927080" cy="475488"/>
          </a:xfrm>
          <a:prstGeom prst="rect">
            <a:avLst/>
          </a:prstGeom>
          <a:solidFill>
            <a:srgbClr val="F6F8FB"/>
          </a:solidFill>
          <a:ln w="6350">
            <a:solidFill>
              <a:srgbClr val="C7D2E4"/>
            </a:solidFill>
            <a:prstDash val="solid"/>
          </a:ln>
        </p:spPr>
      </p:sp>
      <p:sp>
        <p:nvSpPr>
          <p:cNvPr id="13" name="Text 11"/>
          <p:cNvSpPr txBox="1"/>
          <p:nvPr/>
        </p:nvSpPr>
        <p:spPr>
          <a:xfrm>
            <a:off x="822960" y="1865376"/>
            <a:ext cx="2103120" cy="475488"/>
          </a:xfrm>
          <a:prstGeom prst="rect">
            <a:avLst/>
          </a:prstGeom>
          <a:noFill/>
          <a:ln/>
        </p:spPr>
        <p:txBody>
          <a:bodyPr wrap="square" lIns="0" tIns="0" rIns="0" bIns="0" rtlCol="0" anchor="ctr"/>
          <a:lstStyle/>
          <a:p>
            <a:pPr algn="l" indent="0" marL="0">
              <a:buNone/>
            </a:pPr>
            <a:r>
              <a:rPr lang="en-US" sz="1250" b="1" dirty="0">
                <a:solidFill>
                  <a:srgbClr val="1E2761"/>
                </a:solidFill>
                <a:latin typeface="Consolas" pitchFamily="34" charset="0"/>
                <a:ea typeface="Consolas" pitchFamily="34" charset="-122"/>
                <a:cs typeface="Consolas" pitchFamily="34" charset="-120"/>
              </a:rPr>
              <a:t>&amp;per=6</a:t>
            </a:r>
            <a:endParaRPr lang="en-US" sz="1250" dirty="0"/>
          </a:p>
        </p:txBody>
      </p:sp>
      <p:sp>
        <p:nvSpPr>
          <p:cNvPr id="14" name="Text 12"/>
          <p:cNvSpPr txBox="1"/>
          <p:nvPr/>
        </p:nvSpPr>
        <p:spPr>
          <a:xfrm>
            <a:off x="3017520" y="1865376"/>
            <a:ext cx="6583680" cy="475488"/>
          </a:xfrm>
          <a:prstGeom prst="rect">
            <a:avLst/>
          </a:prstGeom>
          <a:noFill/>
          <a:ln/>
        </p:spPr>
        <p:txBody>
          <a:bodyPr wrap="square" lIns="0" tIns="0" rIns="0" bIns="0" rtlCol="0" anchor="ctr"/>
          <a:lstStyle/>
          <a:p>
            <a:pPr algn="l" indent="0" marL="0">
              <a:buNone/>
            </a:pPr>
            <a:r>
              <a:rPr lang="en-US" sz="1250" dirty="0">
                <a:solidFill>
                  <a:srgbClr val="1F2937"/>
                </a:solidFill>
                <a:latin typeface="Meiryo" pitchFamily="34" charset="0"/>
                <a:ea typeface="Meiryo" pitchFamily="34" charset="-122"/>
                <a:cs typeface="Meiryo" pitchFamily="34" charset="-120"/>
              </a:rPr>
              <a:t>1 画面あたりの件数。減らすと文字が大きくなります</a:t>
            </a:r>
            <a:endParaRPr lang="en-US" sz="1250" dirty="0"/>
          </a:p>
        </p:txBody>
      </p:sp>
      <p:sp>
        <p:nvSpPr>
          <p:cNvPr id="15" name="Text 13"/>
          <p:cNvSpPr txBox="1"/>
          <p:nvPr/>
        </p:nvSpPr>
        <p:spPr>
          <a:xfrm>
            <a:off x="9692640" y="1865376"/>
            <a:ext cx="1737360" cy="475488"/>
          </a:xfrm>
          <a:prstGeom prst="rect">
            <a:avLst/>
          </a:prstGeom>
          <a:noFill/>
          <a:ln/>
        </p:spPr>
        <p:txBody>
          <a:bodyPr wrap="square" lIns="0" tIns="0" rIns="0" bIns="0" rtlCol="0" anchor="ctr"/>
          <a:lstStyle/>
          <a:p>
            <a:pPr algn="l" indent="0" marL="0">
              <a:buNone/>
            </a:pPr>
            <a:r>
              <a:rPr lang="en-US" sz="1250" dirty="0">
                <a:solidFill>
                  <a:srgbClr val="5B6472"/>
                </a:solidFill>
                <a:latin typeface="Meiryo" pitchFamily="34" charset="0"/>
                <a:ea typeface="Meiryo" pitchFamily="34" charset="-122"/>
                <a:cs typeface="Meiryo" pitchFamily="34" charset="-120"/>
              </a:rPr>
              <a:t>8</a:t>
            </a:r>
            <a:endParaRPr lang="en-US" sz="1250" dirty="0"/>
          </a:p>
        </p:txBody>
      </p:sp>
      <p:sp>
        <p:nvSpPr>
          <p:cNvPr id="16" name="Shape 14"/>
          <p:cNvSpPr/>
          <p:nvPr/>
        </p:nvSpPr>
        <p:spPr>
          <a:xfrm>
            <a:off x="640080" y="2340864"/>
            <a:ext cx="10927080" cy="475488"/>
          </a:xfrm>
          <a:prstGeom prst="rect">
            <a:avLst/>
          </a:prstGeom>
          <a:solidFill>
            <a:srgbClr val="FFFFFF"/>
          </a:solidFill>
          <a:ln w="6350">
            <a:solidFill>
              <a:srgbClr val="C7D2E4"/>
            </a:solidFill>
            <a:prstDash val="solid"/>
          </a:ln>
        </p:spPr>
      </p:sp>
      <p:sp>
        <p:nvSpPr>
          <p:cNvPr id="17" name="Text 15"/>
          <p:cNvSpPr txBox="1"/>
          <p:nvPr/>
        </p:nvSpPr>
        <p:spPr>
          <a:xfrm>
            <a:off x="822960" y="2340864"/>
            <a:ext cx="2103120" cy="475488"/>
          </a:xfrm>
          <a:prstGeom prst="rect">
            <a:avLst/>
          </a:prstGeom>
          <a:noFill/>
          <a:ln/>
        </p:spPr>
        <p:txBody>
          <a:bodyPr wrap="square" lIns="0" tIns="0" rIns="0" bIns="0" rtlCol="0" anchor="ctr"/>
          <a:lstStyle/>
          <a:p>
            <a:pPr algn="l" indent="0" marL="0">
              <a:buNone/>
            </a:pPr>
            <a:r>
              <a:rPr lang="en-US" sz="1250" b="1" dirty="0">
                <a:solidFill>
                  <a:srgbClr val="1E2761"/>
                </a:solidFill>
                <a:latin typeface="Consolas" pitchFamily="34" charset="0"/>
                <a:ea typeface="Consolas" pitchFamily="34" charset="-122"/>
                <a:cs typeface="Consolas" pitchFamily="34" charset="-120"/>
              </a:rPr>
              <a:t>&amp;interval=45</a:t>
            </a:r>
            <a:endParaRPr lang="en-US" sz="1250" dirty="0"/>
          </a:p>
        </p:txBody>
      </p:sp>
      <p:sp>
        <p:nvSpPr>
          <p:cNvPr id="18" name="Text 16"/>
          <p:cNvSpPr txBox="1"/>
          <p:nvPr/>
        </p:nvSpPr>
        <p:spPr>
          <a:xfrm>
            <a:off x="3017520" y="2340864"/>
            <a:ext cx="6583680" cy="475488"/>
          </a:xfrm>
          <a:prstGeom prst="rect">
            <a:avLst/>
          </a:prstGeom>
          <a:noFill/>
          <a:ln/>
        </p:spPr>
        <p:txBody>
          <a:bodyPr wrap="square" lIns="0" tIns="0" rIns="0" bIns="0" rtlCol="0" anchor="ctr"/>
          <a:lstStyle/>
          <a:p>
            <a:pPr algn="l" indent="0" marL="0">
              <a:buNone/>
            </a:pPr>
            <a:r>
              <a:rPr lang="en-US" sz="1250" dirty="0">
                <a:solidFill>
                  <a:srgbClr val="1F2937"/>
                </a:solidFill>
                <a:latin typeface="Meiryo" pitchFamily="34" charset="0"/>
                <a:ea typeface="Meiryo" pitchFamily="34" charset="-122"/>
                <a:cs typeface="Meiryo" pitchFamily="34" charset="-120"/>
              </a:rPr>
              <a:t>ページを切り替える秒数</a:t>
            </a:r>
            <a:endParaRPr lang="en-US" sz="1250" dirty="0"/>
          </a:p>
        </p:txBody>
      </p:sp>
      <p:sp>
        <p:nvSpPr>
          <p:cNvPr id="19" name="Text 17"/>
          <p:cNvSpPr txBox="1"/>
          <p:nvPr/>
        </p:nvSpPr>
        <p:spPr>
          <a:xfrm>
            <a:off x="9692640" y="2340864"/>
            <a:ext cx="1737360" cy="475488"/>
          </a:xfrm>
          <a:prstGeom prst="rect">
            <a:avLst/>
          </a:prstGeom>
          <a:noFill/>
          <a:ln/>
        </p:spPr>
        <p:txBody>
          <a:bodyPr wrap="square" lIns="0" tIns="0" rIns="0" bIns="0" rtlCol="0" anchor="ctr"/>
          <a:lstStyle/>
          <a:p>
            <a:pPr algn="l" indent="0" marL="0">
              <a:buNone/>
            </a:pPr>
            <a:r>
              <a:rPr lang="en-US" sz="1250" dirty="0">
                <a:solidFill>
                  <a:srgbClr val="5B6472"/>
                </a:solidFill>
                <a:latin typeface="Meiryo" pitchFamily="34" charset="0"/>
                <a:ea typeface="Meiryo" pitchFamily="34" charset="-122"/>
                <a:cs typeface="Meiryo" pitchFamily="34" charset="-120"/>
              </a:rPr>
              <a:t>30</a:t>
            </a:r>
            <a:endParaRPr lang="en-US" sz="1250" dirty="0"/>
          </a:p>
        </p:txBody>
      </p:sp>
      <p:sp>
        <p:nvSpPr>
          <p:cNvPr id="20" name="Shape 18"/>
          <p:cNvSpPr/>
          <p:nvPr/>
        </p:nvSpPr>
        <p:spPr>
          <a:xfrm>
            <a:off x="640080" y="2816352"/>
            <a:ext cx="10927080" cy="475488"/>
          </a:xfrm>
          <a:prstGeom prst="rect">
            <a:avLst/>
          </a:prstGeom>
          <a:solidFill>
            <a:srgbClr val="F6F8FB"/>
          </a:solidFill>
          <a:ln w="6350">
            <a:solidFill>
              <a:srgbClr val="C7D2E4"/>
            </a:solidFill>
            <a:prstDash val="solid"/>
          </a:ln>
        </p:spPr>
      </p:sp>
      <p:sp>
        <p:nvSpPr>
          <p:cNvPr id="21" name="Text 19"/>
          <p:cNvSpPr txBox="1"/>
          <p:nvPr/>
        </p:nvSpPr>
        <p:spPr>
          <a:xfrm>
            <a:off x="822960" y="2816352"/>
            <a:ext cx="2103120" cy="475488"/>
          </a:xfrm>
          <a:prstGeom prst="rect">
            <a:avLst/>
          </a:prstGeom>
          <a:noFill/>
          <a:ln/>
        </p:spPr>
        <p:txBody>
          <a:bodyPr wrap="square" lIns="0" tIns="0" rIns="0" bIns="0" rtlCol="0" anchor="ctr"/>
          <a:lstStyle/>
          <a:p>
            <a:pPr algn="l" indent="0" marL="0">
              <a:buNone/>
            </a:pPr>
            <a:r>
              <a:rPr lang="en-US" sz="1250" b="1" dirty="0">
                <a:solidFill>
                  <a:srgbClr val="1E2761"/>
                </a:solidFill>
                <a:latin typeface="Consolas" pitchFamily="34" charset="0"/>
                <a:ea typeface="Consolas" pitchFamily="34" charset="-122"/>
                <a:cs typeface="Consolas" pitchFamily="34" charset="-120"/>
              </a:rPr>
              <a:t>&amp;reload=300</a:t>
            </a:r>
            <a:endParaRPr lang="en-US" sz="1250" dirty="0"/>
          </a:p>
        </p:txBody>
      </p:sp>
      <p:sp>
        <p:nvSpPr>
          <p:cNvPr id="22" name="Text 20"/>
          <p:cNvSpPr txBox="1"/>
          <p:nvPr/>
        </p:nvSpPr>
        <p:spPr>
          <a:xfrm>
            <a:off x="3017520" y="2816352"/>
            <a:ext cx="6583680" cy="475488"/>
          </a:xfrm>
          <a:prstGeom prst="rect">
            <a:avLst/>
          </a:prstGeom>
          <a:noFill/>
          <a:ln/>
        </p:spPr>
        <p:txBody>
          <a:bodyPr wrap="square" lIns="0" tIns="0" rIns="0" bIns="0" rtlCol="0" anchor="ctr"/>
          <a:lstStyle/>
          <a:p>
            <a:pPr algn="l" indent="0" marL="0">
              <a:buNone/>
            </a:pPr>
            <a:r>
              <a:rPr lang="en-US" sz="1250" dirty="0">
                <a:solidFill>
                  <a:srgbClr val="1F2937"/>
                </a:solidFill>
                <a:latin typeface="Meiryo" pitchFamily="34" charset="0"/>
                <a:ea typeface="Meiryo" pitchFamily="34" charset="-122"/>
                <a:cs typeface="Meiryo" pitchFamily="34" charset="-120"/>
              </a:rPr>
              <a:t>1 画面に収まるときの読み直し秒数</a:t>
            </a:r>
            <a:endParaRPr lang="en-US" sz="1250" dirty="0"/>
          </a:p>
        </p:txBody>
      </p:sp>
      <p:sp>
        <p:nvSpPr>
          <p:cNvPr id="23" name="Text 21"/>
          <p:cNvSpPr txBox="1"/>
          <p:nvPr/>
        </p:nvSpPr>
        <p:spPr>
          <a:xfrm>
            <a:off x="9692640" y="2816352"/>
            <a:ext cx="1737360" cy="475488"/>
          </a:xfrm>
          <a:prstGeom prst="rect">
            <a:avLst/>
          </a:prstGeom>
          <a:noFill/>
          <a:ln/>
        </p:spPr>
        <p:txBody>
          <a:bodyPr wrap="square" lIns="0" tIns="0" rIns="0" bIns="0" rtlCol="0" anchor="ctr"/>
          <a:lstStyle/>
          <a:p>
            <a:pPr algn="l" indent="0" marL="0">
              <a:buNone/>
            </a:pPr>
            <a:r>
              <a:rPr lang="en-US" sz="1250" dirty="0">
                <a:solidFill>
                  <a:srgbClr val="5B6472"/>
                </a:solidFill>
                <a:latin typeface="Meiryo" pitchFamily="34" charset="0"/>
                <a:ea typeface="Meiryo" pitchFamily="34" charset="-122"/>
                <a:cs typeface="Meiryo" pitchFamily="34" charset="-120"/>
              </a:rPr>
              <a:t>120</a:t>
            </a:r>
            <a:endParaRPr lang="en-US" sz="1250" dirty="0"/>
          </a:p>
        </p:txBody>
      </p:sp>
      <p:sp>
        <p:nvSpPr>
          <p:cNvPr id="24" name="Shape 22"/>
          <p:cNvSpPr/>
          <p:nvPr/>
        </p:nvSpPr>
        <p:spPr>
          <a:xfrm>
            <a:off x="640080" y="3291840"/>
            <a:ext cx="10927080" cy="475488"/>
          </a:xfrm>
          <a:prstGeom prst="rect">
            <a:avLst/>
          </a:prstGeom>
          <a:solidFill>
            <a:srgbClr val="FFFFFF"/>
          </a:solidFill>
          <a:ln w="6350">
            <a:solidFill>
              <a:srgbClr val="C7D2E4"/>
            </a:solidFill>
            <a:prstDash val="solid"/>
          </a:ln>
        </p:spPr>
      </p:sp>
      <p:sp>
        <p:nvSpPr>
          <p:cNvPr id="25" name="Text 23"/>
          <p:cNvSpPr txBox="1"/>
          <p:nvPr/>
        </p:nvSpPr>
        <p:spPr>
          <a:xfrm>
            <a:off x="822960" y="3291840"/>
            <a:ext cx="2103120" cy="475488"/>
          </a:xfrm>
          <a:prstGeom prst="rect">
            <a:avLst/>
          </a:prstGeom>
          <a:noFill/>
          <a:ln/>
        </p:spPr>
        <p:txBody>
          <a:bodyPr wrap="square" lIns="0" tIns="0" rIns="0" bIns="0" rtlCol="0" anchor="ctr"/>
          <a:lstStyle/>
          <a:p>
            <a:pPr algn="l" indent="0" marL="0">
              <a:buNone/>
            </a:pPr>
            <a:r>
              <a:rPr lang="en-US" sz="1250" b="1" dirty="0">
                <a:solidFill>
                  <a:srgbClr val="1E2761"/>
                </a:solidFill>
                <a:latin typeface="Consolas" pitchFamily="34" charset="0"/>
                <a:ea typeface="Consolas" pitchFamily="34" charset="-122"/>
                <a:cs typeface="Consolas" pitchFamily="34" charset="-120"/>
              </a:rPr>
              <a:t>&amp;rounds=1</a:t>
            </a:r>
            <a:endParaRPr lang="en-US" sz="1250" dirty="0"/>
          </a:p>
        </p:txBody>
      </p:sp>
      <p:sp>
        <p:nvSpPr>
          <p:cNvPr id="26" name="Text 24"/>
          <p:cNvSpPr txBox="1"/>
          <p:nvPr/>
        </p:nvSpPr>
        <p:spPr>
          <a:xfrm>
            <a:off x="3017520" y="3291840"/>
            <a:ext cx="6583680" cy="475488"/>
          </a:xfrm>
          <a:prstGeom prst="rect">
            <a:avLst/>
          </a:prstGeom>
          <a:noFill/>
          <a:ln/>
        </p:spPr>
        <p:txBody>
          <a:bodyPr wrap="square" lIns="0" tIns="0" rIns="0" bIns="0" rtlCol="0" anchor="ctr"/>
          <a:lstStyle/>
          <a:p>
            <a:pPr algn="l" indent="0" marL="0">
              <a:buNone/>
            </a:pPr>
            <a:r>
              <a:rPr lang="en-US" sz="1250" dirty="0">
                <a:solidFill>
                  <a:srgbClr val="1F2937"/>
                </a:solidFill>
                <a:latin typeface="Meiryo" pitchFamily="34" charset="0"/>
                <a:ea typeface="Meiryo" pitchFamily="34" charset="-122"/>
                <a:cs typeface="Meiryo" pitchFamily="34" charset="-120"/>
              </a:rPr>
              <a:t>1 体験あたり何回まで出すか</a:t>
            </a:r>
            <a:endParaRPr lang="en-US" sz="1250" dirty="0"/>
          </a:p>
        </p:txBody>
      </p:sp>
      <p:sp>
        <p:nvSpPr>
          <p:cNvPr id="27" name="Text 25"/>
          <p:cNvSpPr txBox="1"/>
          <p:nvPr/>
        </p:nvSpPr>
        <p:spPr>
          <a:xfrm>
            <a:off x="9692640" y="3291840"/>
            <a:ext cx="1737360" cy="475488"/>
          </a:xfrm>
          <a:prstGeom prst="rect">
            <a:avLst/>
          </a:prstGeom>
          <a:noFill/>
          <a:ln/>
        </p:spPr>
        <p:txBody>
          <a:bodyPr wrap="square" lIns="0" tIns="0" rIns="0" bIns="0" rtlCol="0" anchor="ctr"/>
          <a:lstStyle/>
          <a:p>
            <a:pPr algn="l" indent="0" marL="0">
              <a:buNone/>
            </a:pPr>
            <a:r>
              <a:rPr lang="en-US" sz="1250" dirty="0">
                <a:solidFill>
                  <a:srgbClr val="5B6472"/>
                </a:solidFill>
                <a:latin typeface="Meiryo" pitchFamily="34" charset="0"/>
                <a:ea typeface="Meiryo" pitchFamily="34" charset="-122"/>
                <a:cs typeface="Meiryo" pitchFamily="34" charset="-120"/>
              </a:rPr>
              <a:t>3</a:t>
            </a:r>
            <a:endParaRPr lang="en-US" sz="1250" dirty="0"/>
          </a:p>
        </p:txBody>
      </p:sp>
      <p:sp>
        <p:nvSpPr>
          <p:cNvPr id="28" name="Shape 26"/>
          <p:cNvSpPr/>
          <p:nvPr/>
        </p:nvSpPr>
        <p:spPr>
          <a:xfrm>
            <a:off x="640080" y="3767328"/>
            <a:ext cx="10927080" cy="475488"/>
          </a:xfrm>
          <a:prstGeom prst="rect">
            <a:avLst/>
          </a:prstGeom>
          <a:solidFill>
            <a:srgbClr val="F6F8FB"/>
          </a:solidFill>
          <a:ln w="6350">
            <a:solidFill>
              <a:srgbClr val="C7D2E4"/>
            </a:solidFill>
            <a:prstDash val="solid"/>
          </a:ln>
        </p:spPr>
      </p:sp>
      <p:sp>
        <p:nvSpPr>
          <p:cNvPr id="29" name="Text 27"/>
          <p:cNvSpPr txBox="1"/>
          <p:nvPr/>
        </p:nvSpPr>
        <p:spPr>
          <a:xfrm>
            <a:off x="822960" y="3767328"/>
            <a:ext cx="2103120" cy="475488"/>
          </a:xfrm>
          <a:prstGeom prst="rect">
            <a:avLst/>
          </a:prstGeom>
          <a:noFill/>
          <a:ln/>
        </p:spPr>
        <p:txBody>
          <a:bodyPr wrap="square" lIns="0" tIns="0" rIns="0" bIns="0" rtlCol="0" anchor="ctr"/>
          <a:lstStyle/>
          <a:p>
            <a:pPr algn="l" indent="0" marL="0">
              <a:buNone/>
            </a:pPr>
            <a:r>
              <a:rPr lang="en-US" sz="1250" b="1" dirty="0">
                <a:solidFill>
                  <a:srgbClr val="1E2761"/>
                </a:solidFill>
                <a:latin typeface="Consolas" pitchFamily="34" charset="0"/>
                <a:ea typeface="Consolas" pitchFamily="34" charset="-122"/>
                <a:cs typeface="Consolas" pitchFamily="34" charset="-120"/>
              </a:rPr>
              <a:t>&amp;none=0</a:t>
            </a:r>
            <a:endParaRPr lang="en-US" sz="1250" dirty="0"/>
          </a:p>
        </p:txBody>
      </p:sp>
      <p:sp>
        <p:nvSpPr>
          <p:cNvPr id="30" name="Text 28"/>
          <p:cNvSpPr txBox="1"/>
          <p:nvPr/>
        </p:nvSpPr>
        <p:spPr>
          <a:xfrm>
            <a:off x="3017520" y="3767328"/>
            <a:ext cx="6583680" cy="475488"/>
          </a:xfrm>
          <a:prstGeom prst="rect">
            <a:avLst/>
          </a:prstGeom>
          <a:noFill/>
          <a:ln/>
        </p:spPr>
        <p:txBody>
          <a:bodyPr wrap="square" lIns="0" tIns="0" rIns="0" bIns="0" rtlCol="0" anchor="ctr"/>
          <a:lstStyle/>
          <a:p>
            <a:pPr algn="l" indent="0" marL="0">
              <a:buNone/>
            </a:pPr>
            <a:r>
              <a:rPr lang="en-US" sz="1250" dirty="0">
                <a:solidFill>
                  <a:srgbClr val="1F2937"/>
                </a:solidFill>
                <a:latin typeface="Meiryo" pitchFamily="34" charset="0"/>
                <a:ea typeface="Meiryo" pitchFamily="34" charset="-122"/>
                <a:cs typeface="Meiryo" pitchFamily="34" charset="-120"/>
              </a:rPr>
              <a:t>✕（残数なし）を出さない</a:t>
            </a:r>
            <a:endParaRPr lang="en-US" sz="1250" dirty="0"/>
          </a:p>
        </p:txBody>
      </p:sp>
      <p:sp>
        <p:nvSpPr>
          <p:cNvPr id="31" name="Text 29"/>
          <p:cNvSpPr txBox="1"/>
          <p:nvPr/>
        </p:nvSpPr>
        <p:spPr>
          <a:xfrm>
            <a:off x="9692640" y="3767328"/>
            <a:ext cx="1737360" cy="475488"/>
          </a:xfrm>
          <a:prstGeom prst="rect">
            <a:avLst/>
          </a:prstGeom>
          <a:noFill/>
          <a:ln/>
        </p:spPr>
        <p:txBody>
          <a:bodyPr wrap="square" lIns="0" tIns="0" rIns="0" bIns="0" rtlCol="0" anchor="ctr"/>
          <a:lstStyle/>
          <a:p>
            <a:pPr algn="l" indent="0" marL="0">
              <a:buNone/>
            </a:pPr>
            <a:r>
              <a:rPr lang="en-US" sz="1250" dirty="0">
                <a:solidFill>
                  <a:srgbClr val="5B6472"/>
                </a:solidFill>
                <a:latin typeface="Meiryo" pitchFamily="34" charset="0"/>
                <a:ea typeface="Meiryo" pitchFamily="34" charset="-122"/>
                <a:cs typeface="Meiryo" pitchFamily="34" charset="-120"/>
              </a:rPr>
              <a:t>出す</a:t>
            </a:r>
            <a:endParaRPr lang="en-US" sz="1250" dirty="0"/>
          </a:p>
        </p:txBody>
      </p:sp>
      <p:sp>
        <p:nvSpPr>
          <p:cNvPr id="32" name="Shape 30"/>
          <p:cNvSpPr/>
          <p:nvPr/>
        </p:nvSpPr>
        <p:spPr>
          <a:xfrm>
            <a:off x="640080" y="4242816"/>
            <a:ext cx="10927080" cy="475488"/>
          </a:xfrm>
          <a:prstGeom prst="rect">
            <a:avLst/>
          </a:prstGeom>
          <a:solidFill>
            <a:srgbClr val="FFFFFF"/>
          </a:solidFill>
          <a:ln w="6350">
            <a:solidFill>
              <a:srgbClr val="C7D2E4"/>
            </a:solidFill>
            <a:prstDash val="solid"/>
          </a:ln>
        </p:spPr>
      </p:sp>
      <p:sp>
        <p:nvSpPr>
          <p:cNvPr id="33" name="Text 31"/>
          <p:cNvSpPr txBox="1"/>
          <p:nvPr/>
        </p:nvSpPr>
        <p:spPr>
          <a:xfrm>
            <a:off x="822960" y="4242816"/>
            <a:ext cx="2103120" cy="475488"/>
          </a:xfrm>
          <a:prstGeom prst="rect">
            <a:avLst/>
          </a:prstGeom>
          <a:noFill/>
          <a:ln/>
        </p:spPr>
        <p:txBody>
          <a:bodyPr wrap="square" lIns="0" tIns="0" rIns="0" bIns="0" rtlCol="0" anchor="ctr"/>
          <a:lstStyle/>
          <a:p>
            <a:pPr algn="l" indent="0" marL="0">
              <a:buNone/>
            </a:pPr>
            <a:r>
              <a:rPr lang="en-US" sz="1250" b="1" dirty="0">
                <a:solidFill>
                  <a:srgbClr val="1E2761"/>
                </a:solidFill>
                <a:latin typeface="Consolas" pitchFamily="34" charset="0"/>
                <a:ea typeface="Consolas" pitchFamily="34" charset="-122"/>
                <a:cs typeface="Consolas" pitchFamily="34" charset="-120"/>
              </a:rPr>
              <a:t>&amp;area=east</a:t>
            </a:r>
            <a:endParaRPr lang="en-US" sz="1250" dirty="0"/>
          </a:p>
        </p:txBody>
      </p:sp>
      <p:sp>
        <p:nvSpPr>
          <p:cNvPr id="34" name="Text 32"/>
          <p:cNvSpPr txBox="1"/>
          <p:nvPr/>
        </p:nvSpPr>
        <p:spPr>
          <a:xfrm>
            <a:off x="3017520" y="4242816"/>
            <a:ext cx="6583680" cy="475488"/>
          </a:xfrm>
          <a:prstGeom prst="rect">
            <a:avLst/>
          </a:prstGeom>
          <a:noFill/>
          <a:ln/>
        </p:spPr>
        <p:txBody>
          <a:bodyPr wrap="square" lIns="0" tIns="0" rIns="0" bIns="0" rtlCol="0" anchor="ctr"/>
          <a:lstStyle/>
          <a:p>
            <a:pPr algn="l" indent="0" marL="0">
              <a:buNone/>
            </a:pPr>
            <a:r>
              <a:rPr lang="en-US" sz="1250" dirty="0">
                <a:solidFill>
                  <a:srgbClr val="1F2937"/>
                </a:solidFill>
                <a:latin typeface="Meiryo" pitchFamily="34" charset="0"/>
                <a:ea typeface="Meiryo" pitchFamily="34" charset="-122"/>
                <a:cs typeface="Meiryo" pitchFamily="34" charset="-120"/>
              </a:rPr>
              <a:t>エリアで絞る（east / south / north / main）</a:t>
            </a:r>
            <a:endParaRPr lang="en-US" sz="1250" dirty="0"/>
          </a:p>
        </p:txBody>
      </p:sp>
      <p:sp>
        <p:nvSpPr>
          <p:cNvPr id="35" name="Text 33"/>
          <p:cNvSpPr txBox="1"/>
          <p:nvPr/>
        </p:nvSpPr>
        <p:spPr>
          <a:xfrm>
            <a:off x="9692640" y="4242816"/>
            <a:ext cx="1737360" cy="475488"/>
          </a:xfrm>
          <a:prstGeom prst="rect">
            <a:avLst/>
          </a:prstGeom>
          <a:noFill/>
          <a:ln/>
        </p:spPr>
        <p:txBody>
          <a:bodyPr wrap="square" lIns="0" tIns="0" rIns="0" bIns="0" rtlCol="0" anchor="ctr"/>
          <a:lstStyle/>
          <a:p>
            <a:pPr algn="l" indent="0" marL="0">
              <a:buNone/>
            </a:pPr>
            <a:r>
              <a:rPr lang="en-US" sz="1250" dirty="0">
                <a:solidFill>
                  <a:srgbClr val="5B6472"/>
                </a:solidFill>
                <a:latin typeface="Meiryo" pitchFamily="34" charset="0"/>
                <a:ea typeface="Meiryo" pitchFamily="34" charset="-122"/>
                <a:cs typeface="Meiryo" pitchFamily="34" charset="-120"/>
              </a:rPr>
              <a:t>絞らない</a:t>
            </a:r>
            <a:endParaRPr lang="en-US" sz="1250" dirty="0"/>
          </a:p>
        </p:txBody>
      </p:sp>
      <p:sp>
        <p:nvSpPr>
          <p:cNvPr id="36" name="Shape 34"/>
          <p:cNvSpPr/>
          <p:nvPr/>
        </p:nvSpPr>
        <p:spPr>
          <a:xfrm>
            <a:off x="640080" y="4718304"/>
            <a:ext cx="10927080" cy="475488"/>
          </a:xfrm>
          <a:prstGeom prst="rect">
            <a:avLst/>
          </a:prstGeom>
          <a:solidFill>
            <a:srgbClr val="F6F8FB"/>
          </a:solidFill>
          <a:ln w="6350">
            <a:solidFill>
              <a:srgbClr val="C7D2E4"/>
            </a:solidFill>
            <a:prstDash val="solid"/>
          </a:ln>
        </p:spPr>
      </p:sp>
      <p:sp>
        <p:nvSpPr>
          <p:cNvPr id="37" name="Text 35"/>
          <p:cNvSpPr txBox="1"/>
          <p:nvPr/>
        </p:nvSpPr>
        <p:spPr>
          <a:xfrm>
            <a:off x="822960" y="4718304"/>
            <a:ext cx="2103120" cy="475488"/>
          </a:xfrm>
          <a:prstGeom prst="rect">
            <a:avLst/>
          </a:prstGeom>
          <a:noFill/>
          <a:ln/>
        </p:spPr>
        <p:txBody>
          <a:bodyPr wrap="square" lIns="0" tIns="0" rIns="0" bIns="0" rtlCol="0" anchor="ctr"/>
          <a:lstStyle/>
          <a:p>
            <a:pPr algn="l" indent="0" marL="0">
              <a:buNone/>
            </a:pPr>
            <a:r>
              <a:rPr lang="en-US" sz="1250" b="1" dirty="0">
                <a:solidFill>
                  <a:srgbClr val="1E2761"/>
                </a:solidFill>
                <a:latin typeface="Consolas" pitchFamily="34" charset="0"/>
                <a:ea typeface="Consolas" pitchFamily="34" charset="-122"/>
                <a:cs typeface="Consolas" pitchFamily="34" charset="-120"/>
              </a:rPr>
              <a:t>&amp;q=見学</a:t>
            </a:r>
            <a:endParaRPr lang="en-US" sz="1250" dirty="0"/>
          </a:p>
        </p:txBody>
      </p:sp>
      <p:sp>
        <p:nvSpPr>
          <p:cNvPr id="38" name="Text 36"/>
          <p:cNvSpPr txBox="1"/>
          <p:nvPr/>
        </p:nvSpPr>
        <p:spPr>
          <a:xfrm>
            <a:off x="3017520" y="4718304"/>
            <a:ext cx="6583680" cy="475488"/>
          </a:xfrm>
          <a:prstGeom prst="rect">
            <a:avLst/>
          </a:prstGeom>
          <a:noFill/>
          <a:ln/>
        </p:spPr>
        <p:txBody>
          <a:bodyPr wrap="square" lIns="0" tIns="0" rIns="0" bIns="0" rtlCol="0" anchor="ctr"/>
          <a:lstStyle/>
          <a:p>
            <a:pPr algn="l" indent="0" marL="0">
              <a:buNone/>
            </a:pPr>
            <a:r>
              <a:rPr lang="en-US" sz="1250" dirty="0">
                <a:solidFill>
                  <a:srgbClr val="1F2937"/>
                </a:solidFill>
                <a:latin typeface="Meiryo" pitchFamily="34" charset="0"/>
                <a:ea typeface="Meiryo" pitchFamily="34" charset="-122"/>
                <a:cs typeface="Meiryo" pitchFamily="34" charset="-120"/>
              </a:rPr>
              <a:t>催事名にその語を含むものだけ。空白区切りで「どれか」</a:t>
            </a:r>
            <a:endParaRPr lang="en-US" sz="1250" dirty="0"/>
          </a:p>
        </p:txBody>
      </p:sp>
      <p:sp>
        <p:nvSpPr>
          <p:cNvPr id="39" name="Text 37"/>
          <p:cNvSpPr txBox="1"/>
          <p:nvPr/>
        </p:nvSpPr>
        <p:spPr>
          <a:xfrm>
            <a:off x="9692640" y="4718304"/>
            <a:ext cx="1737360" cy="475488"/>
          </a:xfrm>
          <a:prstGeom prst="rect">
            <a:avLst/>
          </a:prstGeom>
          <a:noFill/>
          <a:ln/>
        </p:spPr>
        <p:txBody>
          <a:bodyPr wrap="square" lIns="0" tIns="0" rIns="0" bIns="0" rtlCol="0" anchor="ctr"/>
          <a:lstStyle/>
          <a:p>
            <a:pPr algn="l" indent="0" marL="0">
              <a:buNone/>
            </a:pPr>
            <a:r>
              <a:rPr lang="en-US" sz="1250" dirty="0">
                <a:solidFill>
                  <a:srgbClr val="5B6472"/>
                </a:solidFill>
                <a:latin typeface="Meiryo" pitchFamily="34" charset="0"/>
                <a:ea typeface="Meiryo" pitchFamily="34" charset="-122"/>
                <a:cs typeface="Meiryo" pitchFamily="34" charset="-120"/>
              </a:rPr>
              <a:t>絞らない</a:t>
            </a:r>
            <a:endParaRPr lang="en-US" sz="1250" dirty="0"/>
          </a:p>
        </p:txBody>
      </p:sp>
      <p:sp>
        <p:nvSpPr>
          <p:cNvPr id="40" name="Shape 38"/>
          <p:cNvSpPr/>
          <p:nvPr/>
        </p:nvSpPr>
        <p:spPr>
          <a:xfrm>
            <a:off x="640080" y="5422392"/>
            <a:ext cx="10927080" cy="1051560"/>
          </a:xfrm>
          <a:prstGeom prst="roundRect">
            <a:avLst>
              <a:gd name="adj" fmla="val 6957"/>
            </a:avLst>
          </a:prstGeom>
          <a:solidFill>
            <a:srgbClr val="FDF3E3"/>
          </a:solidFill>
          <a:ln w="12700">
            <a:solidFill>
              <a:srgbClr val="FDF3E3"/>
            </a:solidFill>
            <a:prstDash val="solid"/>
          </a:ln>
        </p:spPr>
      </p:sp>
      <p:sp>
        <p:nvSpPr>
          <p:cNvPr id="41" name="Text 39"/>
          <p:cNvSpPr txBox="1"/>
          <p:nvPr/>
        </p:nvSpPr>
        <p:spPr>
          <a:xfrm>
            <a:off x="841248" y="5532120"/>
            <a:ext cx="10524744" cy="832104"/>
          </a:xfrm>
          <a:prstGeom prst="rect">
            <a:avLst/>
          </a:prstGeom>
          <a:noFill/>
          <a:ln/>
        </p:spPr>
        <p:txBody>
          <a:bodyPr wrap="square" lIns="0" tIns="0" rIns="0" bIns="0" rtlCol="0" anchor="ctr"/>
          <a:lstStyle/>
          <a:p>
            <a:pPr algn="l" indent="0" marL="0">
              <a:lnSpc>
                <a:spcPct val="125000"/>
              </a:lnSpc>
              <a:buNone/>
            </a:pPr>
            <a:r>
              <a:rPr lang="en-US" sz="1500" b="1" dirty="0">
                <a:solidFill>
                  <a:srgbClr val="B26A00"/>
                </a:solidFill>
                <a:latin typeface="Meiryo" pitchFamily="34" charset="0"/>
                <a:ea typeface="Meiryo" pitchFamily="34" charset="-122"/>
                <a:cs typeface="Meiryo" pitchFamily="34" charset="-120"/>
              </a:rPr>
              <a:t>会場が広いときは、エリアごとに壁を置いてください</a:t>
            </a:r>
            <a:endParaRPr lang="en-US" sz="1500" dirty="0"/>
          </a:p>
          <a:p>
            <a:pPr algn="l" indent="0" marL="0">
              <a:lnSpc>
                <a:spcPct val="125000"/>
              </a:lnSpc>
              <a:buNone/>
            </a:pPr>
            <a:r>
              <a:rPr lang="en-US" sz="1250" dirty="0">
                <a:solidFill>
                  <a:srgbClr val="B26A00"/>
                </a:solidFill>
                <a:latin typeface="Meiryo" pitchFamily="34" charset="0"/>
                <a:ea typeface="Meiryo" pitchFamily="34" charset="-122"/>
                <a:cs typeface="Meiryo" pitchFamily="34" charset="-120"/>
              </a:rPr>
              <a:t>全体を 1 枚で回すと、体験が 56 件なら一周 10 分かかります。来場者が立ち止まるのは 30 秒ほどです。エリアで 4 分の 1 にすると一周 3 分ほどに収まります。</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11</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11</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本番前の表示テスト</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当日を待たずに、いつでも確認できます</a:t>
            </a:r>
            <a:endParaRPr lang="en-US" sz="1400" dirty="0"/>
          </a:p>
        </p:txBody>
      </p:sp>
      <p:pic>
        <p:nvPicPr>
          <p:cNvPr id="8" name="Image 0" descr="C:\Users\sato\AppData\Local\Temp\claude\c--Users-sato-Desktop---3---3\c0abf194-6a09-42ac-bc16-2cd244740c64\scratchpad\deck\img\signage-preview.png">    </p:cNvPr>
          <p:cNvPicPr>
            <a:picLocks noChangeAspect="1"/>
          </p:cNvPicPr>
          <p:nvPr/>
        </p:nvPicPr>
        <p:blipFill>
          <a:blip r:embed="rId1"/>
          <a:stretch>
            <a:fillRect/>
          </a:stretch>
        </p:blipFill>
        <p:spPr>
          <a:xfrm>
            <a:off x="3822766" y="1371600"/>
            <a:ext cx="4546164" cy="2560320"/>
          </a:xfrm>
          <a:prstGeom prst="rect">
            <a:avLst/>
          </a:prstGeom>
        </p:spPr>
      </p:pic>
      <p:sp>
        <p:nvSpPr>
          <p:cNvPr id="9" name="Shape 6"/>
          <p:cNvSpPr/>
          <p:nvPr/>
        </p:nvSpPr>
        <p:spPr>
          <a:xfrm>
            <a:off x="640080" y="4133088"/>
            <a:ext cx="5349240" cy="576072"/>
          </a:xfrm>
          <a:prstGeom prst="roundRect">
            <a:avLst>
              <a:gd name="adj" fmla="val 9524"/>
            </a:avLst>
          </a:prstGeom>
          <a:solidFill>
            <a:srgbClr val="F4F7FC"/>
          </a:solidFill>
          <a:ln w="12700">
            <a:solidFill>
              <a:srgbClr val="C7D2E4"/>
            </a:solidFill>
            <a:prstDash val="solid"/>
          </a:ln>
        </p:spPr>
      </p:sp>
      <p:sp>
        <p:nvSpPr>
          <p:cNvPr id="10" name="Shape 7"/>
          <p:cNvSpPr/>
          <p:nvPr/>
        </p:nvSpPr>
        <p:spPr>
          <a:xfrm>
            <a:off x="804672" y="4210812"/>
            <a:ext cx="420624" cy="420624"/>
          </a:xfrm>
          <a:prstGeom prst="ellipse">
            <a:avLst/>
          </a:prstGeom>
          <a:solidFill>
            <a:srgbClr val="1E2761"/>
          </a:solidFill>
          <a:ln/>
        </p:spPr>
      </p:sp>
      <p:sp>
        <p:nvSpPr>
          <p:cNvPr id="11" name="Text 8"/>
          <p:cNvSpPr txBox="1"/>
          <p:nvPr/>
        </p:nvSpPr>
        <p:spPr>
          <a:xfrm>
            <a:off x="804672" y="421081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a:t>
            </a:r>
            <a:endParaRPr lang="en-US" sz="1400" dirty="0"/>
          </a:p>
        </p:txBody>
      </p:sp>
      <p:sp>
        <p:nvSpPr>
          <p:cNvPr id="12" name="Text 9"/>
          <p:cNvSpPr txBox="1"/>
          <p:nvPr/>
        </p:nvSpPr>
        <p:spPr>
          <a:xfrm>
            <a:off x="1389888" y="4187952"/>
            <a:ext cx="4434840" cy="466344"/>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サイネージ表示（この日の催事で）</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実際の催事名＋架空の記号</a:t>
            </a:r>
            <a:endParaRPr lang="en-US" sz="1500" dirty="0"/>
          </a:p>
        </p:txBody>
      </p:sp>
      <p:sp>
        <p:nvSpPr>
          <p:cNvPr id="13" name="Shape 10"/>
          <p:cNvSpPr/>
          <p:nvPr/>
        </p:nvSpPr>
        <p:spPr>
          <a:xfrm>
            <a:off x="640080" y="4800600"/>
            <a:ext cx="5349240" cy="576072"/>
          </a:xfrm>
          <a:prstGeom prst="roundRect">
            <a:avLst>
              <a:gd name="adj" fmla="val 9524"/>
            </a:avLst>
          </a:prstGeom>
          <a:solidFill>
            <a:srgbClr val="F4F7FC"/>
          </a:solidFill>
          <a:ln w="12700">
            <a:solidFill>
              <a:srgbClr val="C7D2E4"/>
            </a:solidFill>
            <a:prstDash val="solid"/>
          </a:ln>
        </p:spPr>
      </p:sp>
      <p:sp>
        <p:nvSpPr>
          <p:cNvPr id="14" name="Shape 11"/>
          <p:cNvSpPr/>
          <p:nvPr/>
        </p:nvSpPr>
        <p:spPr>
          <a:xfrm>
            <a:off x="804672" y="4878324"/>
            <a:ext cx="420624" cy="420624"/>
          </a:xfrm>
          <a:prstGeom prst="ellipse">
            <a:avLst/>
          </a:prstGeom>
          <a:solidFill>
            <a:srgbClr val="1E2761"/>
          </a:solidFill>
          <a:ln/>
        </p:spPr>
      </p:sp>
      <p:sp>
        <p:nvSpPr>
          <p:cNvPr id="15" name="Text 12"/>
          <p:cNvSpPr txBox="1"/>
          <p:nvPr/>
        </p:nvSpPr>
        <p:spPr>
          <a:xfrm>
            <a:off x="804672" y="487832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B</a:t>
            </a:r>
            <a:endParaRPr lang="en-US" sz="1400" dirty="0"/>
          </a:p>
        </p:txBody>
      </p:sp>
      <p:sp>
        <p:nvSpPr>
          <p:cNvPr id="16" name="Text 13"/>
          <p:cNvSpPr txBox="1"/>
          <p:nvPr/>
        </p:nvSpPr>
        <p:spPr>
          <a:xfrm>
            <a:off x="1389888" y="4855464"/>
            <a:ext cx="4434840" cy="466344"/>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埋め込み表示（この日の催事で）</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同じ内容をスクロールする形で</a:t>
            </a:r>
            <a:endParaRPr lang="en-US" sz="1500" dirty="0"/>
          </a:p>
        </p:txBody>
      </p:sp>
      <p:sp>
        <p:nvSpPr>
          <p:cNvPr id="17" name="Shape 14"/>
          <p:cNvSpPr/>
          <p:nvPr/>
        </p:nvSpPr>
        <p:spPr>
          <a:xfrm>
            <a:off x="640080" y="5468112"/>
            <a:ext cx="5349240" cy="576072"/>
          </a:xfrm>
          <a:prstGeom prst="roundRect">
            <a:avLst>
              <a:gd name="adj" fmla="val 9524"/>
            </a:avLst>
          </a:prstGeom>
          <a:solidFill>
            <a:srgbClr val="F4F7FC"/>
          </a:solidFill>
          <a:ln w="12700">
            <a:solidFill>
              <a:srgbClr val="C7D2E4"/>
            </a:solidFill>
            <a:prstDash val="solid"/>
          </a:ln>
        </p:spPr>
      </p:sp>
      <p:sp>
        <p:nvSpPr>
          <p:cNvPr id="18" name="Shape 15"/>
          <p:cNvSpPr/>
          <p:nvPr/>
        </p:nvSpPr>
        <p:spPr>
          <a:xfrm>
            <a:off x="804672" y="5545836"/>
            <a:ext cx="420624" cy="420624"/>
          </a:xfrm>
          <a:prstGeom prst="ellipse">
            <a:avLst/>
          </a:prstGeom>
          <a:solidFill>
            <a:srgbClr val="1E2761"/>
          </a:solidFill>
          <a:ln/>
        </p:spPr>
      </p:sp>
      <p:sp>
        <p:nvSpPr>
          <p:cNvPr id="19" name="Text 16"/>
          <p:cNvSpPr txBox="1"/>
          <p:nvPr/>
        </p:nvSpPr>
        <p:spPr>
          <a:xfrm>
            <a:off x="804672" y="554583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a:t>
            </a:r>
            <a:endParaRPr lang="en-US" sz="1400" dirty="0"/>
          </a:p>
        </p:txBody>
      </p:sp>
      <p:sp>
        <p:nvSpPr>
          <p:cNvPr id="20" name="Text 17"/>
          <p:cNvSpPr txBox="1"/>
          <p:nvPr/>
        </p:nvSpPr>
        <p:spPr>
          <a:xfrm>
            <a:off x="1389888" y="5522976"/>
            <a:ext cx="4434840" cy="466344"/>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見本データで見る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架空の会社名。催事を登録する前に</a:t>
            </a:r>
            <a:endParaRPr lang="en-US" sz="1500" dirty="0"/>
          </a:p>
        </p:txBody>
      </p:sp>
      <p:sp>
        <p:nvSpPr>
          <p:cNvPr id="21" name="Shape 18"/>
          <p:cNvSpPr/>
          <p:nvPr/>
        </p:nvSpPr>
        <p:spPr>
          <a:xfrm>
            <a:off x="6217920" y="4133088"/>
            <a:ext cx="5349240" cy="1051560"/>
          </a:xfrm>
          <a:prstGeom prst="roundRect">
            <a:avLst>
              <a:gd name="adj" fmla="val 6957"/>
            </a:avLst>
          </a:prstGeom>
          <a:solidFill>
            <a:srgbClr val="FDF3E3"/>
          </a:solidFill>
          <a:ln w="12700">
            <a:solidFill>
              <a:srgbClr val="FDF3E3"/>
            </a:solidFill>
            <a:prstDash val="solid"/>
          </a:ln>
        </p:spPr>
      </p:sp>
      <p:sp>
        <p:nvSpPr>
          <p:cNvPr id="22" name="Text 19"/>
          <p:cNvSpPr txBox="1"/>
          <p:nvPr/>
        </p:nvSpPr>
        <p:spPr>
          <a:xfrm>
            <a:off x="6419088" y="4242816"/>
            <a:ext cx="4946904" cy="832104"/>
          </a:xfrm>
          <a:prstGeom prst="rect">
            <a:avLst/>
          </a:prstGeom>
          <a:noFill/>
          <a:ln/>
        </p:spPr>
        <p:txBody>
          <a:bodyPr wrap="square" lIns="0" tIns="0" rIns="0" bIns="0" rtlCol="0" anchor="ctr"/>
          <a:lstStyle/>
          <a:p>
            <a:pPr algn="l" indent="0" marL="0">
              <a:lnSpc>
                <a:spcPct val="125000"/>
              </a:lnSpc>
              <a:buNone/>
            </a:pPr>
            <a:r>
              <a:rPr lang="en-US" sz="1400" b="1" dirty="0">
                <a:solidFill>
                  <a:srgbClr val="B26A00"/>
                </a:solidFill>
                <a:latin typeface="Meiryo" pitchFamily="34" charset="0"/>
                <a:ea typeface="Meiryo" pitchFamily="34" charset="-122"/>
                <a:cs typeface="Meiryo" pitchFamily="34" charset="-120"/>
              </a:rPr>
              <a:t>オレンジの帯は消せません</a:t>
            </a:r>
            <a:endParaRPr lang="en-US" sz="1400" dirty="0"/>
          </a:p>
          <a:p>
            <a:pPr algn="l" indent="0" marL="0">
              <a:lnSpc>
                <a:spcPct val="125000"/>
              </a:lnSpc>
              <a:buNone/>
            </a:pPr>
            <a:r>
              <a:rPr lang="en-US" sz="1200" dirty="0">
                <a:solidFill>
                  <a:srgbClr val="B26A00"/>
                </a:solidFill>
                <a:latin typeface="Meiryo" pitchFamily="34" charset="0"/>
                <a:ea typeface="Meiryo" pitchFamily="34" charset="-122"/>
                <a:cs typeface="Meiryo" pitchFamily="34" charset="-120"/>
              </a:rPr>
              <a:t>ログイン不要の URL なので、万一このまま壁に映っていても架空のデータだと分かるようにしてあります。</a:t>
            </a:r>
            <a:endParaRPr lang="en-US" sz="1400" dirty="0"/>
          </a:p>
        </p:txBody>
      </p:sp>
      <p:sp>
        <p:nvSpPr>
          <p:cNvPr id="23" name="Shape 20"/>
          <p:cNvSpPr/>
          <p:nvPr/>
        </p:nvSpPr>
        <p:spPr>
          <a:xfrm>
            <a:off x="6217920" y="5321808"/>
            <a:ext cx="5349240" cy="1005840"/>
          </a:xfrm>
          <a:prstGeom prst="roundRect">
            <a:avLst>
              <a:gd name="adj" fmla="val 7273"/>
            </a:avLst>
          </a:prstGeom>
          <a:solidFill>
            <a:srgbClr val="FEF2F2"/>
          </a:solidFill>
          <a:ln w="12700">
            <a:solidFill>
              <a:srgbClr val="FEF2F2"/>
            </a:solidFill>
            <a:prstDash val="solid"/>
          </a:ln>
        </p:spPr>
      </p:sp>
      <p:sp>
        <p:nvSpPr>
          <p:cNvPr id="24" name="Text 21"/>
          <p:cNvSpPr txBox="1"/>
          <p:nvPr/>
        </p:nvSpPr>
        <p:spPr>
          <a:xfrm>
            <a:off x="6419088" y="5431536"/>
            <a:ext cx="4946904" cy="786384"/>
          </a:xfrm>
          <a:prstGeom prst="rect">
            <a:avLst/>
          </a:prstGeom>
          <a:noFill/>
          <a:ln/>
        </p:spPr>
        <p:txBody>
          <a:bodyPr wrap="square" lIns="0" tIns="0" rIns="0" bIns="0" rtlCol="0" anchor="ctr"/>
          <a:lstStyle/>
          <a:p>
            <a:pPr algn="l" indent="0" marL="0">
              <a:lnSpc>
                <a:spcPct val="125000"/>
              </a:lnSpc>
              <a:buNone/>
            </a:pPr>
            <a:r>
              <a:rPr lang="en-US" sz="1400" b="1" dirty="0">
                <a:solidFill>
                  <a:srgbClr val="B91C1C"/>
                </a:solidFill>
                <a:latin typeface="Meiryo" pitchFamily="34" charset="0"/>
                <a:ea typeface="Meiryo" pitchFamily="34" charset="-122"/>
                <a:cs typeface="Meiryo" pitchFamily="34" charset="-120"/>
              </a:rPr>
              <a:t>帯に「本番に出るのは 0 件」と出たら</a:t>
            </a:r>
            <a:endParaRPr lang="en-US" sz="1400" dirty="0"/>
          </a:p>
          <a:p>
            <a:pPr algn="l" indent="0" marL="0">
              <a:lnSpc>
                <a:spcPct val="125000"/>
              </a:lnSpc>
              <a:buNone/>
            </a:pPr>
            <a:r>
              <a:rPr lang="en-US" sz="1200" dirty="0">
                <a:solidFill>
                  <a:srgbClr val="B91C1C"/>
                </a:solidFill>
                <a:latin typeface="Meiryo" pitchFamily="34" charset="0"/>
                <a:ea typeface="Meiryo" pitchFamily="34" charset="-122"/>
                <a:cs typeface="Meiryo" pitchFamily="34" charset="-120"/>
              </a:rPr>
              <a:t>その日は本番で何も表示されません。体験内容をご確認ください</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12</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12</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練習したデータを消す</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本番前に練習で入力したものは、まとめて消せます</a:t>
            </a:r>
            <a:endParaRPr lang="en-US" sz="1400" dirty="0"/>
          </a:p>
        </p:txBody>
      </p:sp>
      <p:sp>
        <p:nvSpPr>
          <p:cNvPr id="8" name="Shape 6"/>
          <p:cNvSpPr/>
          <p:nvPr/>
        </p:nvSpPr>
        <p:spPr>
          <a:xfrm>
            <a:off x="640080" y="1463040"/>
            <a:ext cx="10927080" cy="1783080"/>
          </a:xfrm>
          <a:prstGeom prst="roundRect">
            <a:avLst>
              <a:gd name="adj" fmla="val 4103"/>
            </a:avLst>
          </a:prstGeom>
          <a:solidFill>
            <a:srgbClr val="0F172A"/>
          </a:solidFill>
          <a:ln w="12700">
            <a:solidFill>
              <a:srgbClr val="0F172A"/>
            </a:solidFill>
            <a:prstDash val="solid"/>
          </a:ln>
        </p:spPr>
      </p:sp>
      <p:sp>
        <p:nvSpPr>
          <p:cNvPr id="9" name="Text 7"/>
          <p:cNvSpPr txBox="1"/>
          <p:nvPr/>
        </p:nvSpPr>
        <p:spPr>
          <a:xfrm>
            <a:off x="914400" y="1627632"/>
            <a:ext cx="10332720" cy="1463040"/>
          </a:xfrm>
          <a:prstGeom prst="rect">
            <a:avLst/>
          </a:prstGeom>
          <a:noFill/>
          <a:ln/>
        </p:spPr>
        <p:txBody>
          <a:bodyPr wrap="square" lIns="0" tIns="0" rIns="0" bIns="0" rtlCol="0" anchor="ctr"/>
          <a:lstStyle/>
          <a:p>
            <a:pPr indent="0" marL="0">
              <a:lnSpc>
                <a:spcPct val="135000"/>
              </a:lnSpc>
              <a:buNone/>
            </a:pPr>
            <a:r>
              <a:rPr lang="en-US" sz="1400" dirty="0">
                <a:solidFill>
                  <a:srgbClr val="D7E3F7"/>
                </a:solidFill>
                <a:latin typeface="Consolas" pitchFamily="34" charset="0"/>
                <a:ea typeface="Consolas" pitchFamily="34" charset="-122"/>
                <a:cs typeface="Consolas" pitchFamily="34" charset="-120"/>
              </a:rPr>
              <a:t>php bin/reset_vacancy.php --date=2026-10-10 --dry-run</a:t>
            </a:r>
            <a:endParaRPr lang="en-US" sz="1400" dirty="0"/>
          </a:p>
          <a:p>
            <a:pPr indent="0" marL="0">
              <a:lnSpc>
                <a:spcPct val="135000"/>
              </a:lnSpc>
              <a:buNone/>
            </a:pPr>
            <a:r>
              <a:rPr lang="en-US" sz="1400" dirty="0">
                <a:solidFill>
                  <a:srgbClr val="D7E3F7"/>
                </a:solidFill>
                <a:latin typeface="Consolas" pitchFamily="34" charset="0"/>
                <a:ea typeface="Consolas" pitchFamily="34" charset="-122"/>
                <a:cs typeface="Consolas" pitchFamily="34" charset="-120"/>
              </a:rPr>
              <a:t>php bin/reset_vacancy.php --date=2026-10-10</a:t>
            </a:r>
            <a:endParaRPr lang="en-US" sz="1400" dirty="0"/>
          </a:p>
          <a:p>
            <a:pPr indent="0" marL="0">
              <a:lnSpc>
                <a:spcPct val="135000"/>
              </a:lnSpc>
              <a:buNone/>
            </a:pPr>
            <a:r>
              <a:rPr lang="en-US" sz="1400" dirty="0">
                <a:solidFill>
                  <a:srgbClr val="D7E3F7"/>
                </a:solidFill>
                <a:latin typeface="Consolas" pitchFamily="34" charset="0"/>
                <a:ea typeface="Consolas" pitchFamily="34" charset="-122"/>
                <a:cs typeface="Consolas" pitchFamily="34" charset="-120"/>
              </a:rPr>
              <a:t>php bin/reset_vacancy.php --event=123</a:t>
            </a:r>
            <a:endParaRPr lang="en-US" sz="1400" dirty="0"/>
          </a:p>
          <a:p>
            <a:pPr indent="0" marL="0">
              <a:lnSpc>
                <a:spcPct val="135000"/>
              </a:lnSpc>
              <a:buNone/>
            </a:pPr>
            <a:r>
              <a:rPr lang="en-US" sz="1400" dirty="0">
                <a:solidFill>
                  <a:srgbClr val="D7E3F7"/>
                </a:solidFill>
                <a:latin typeface="Consolas" pitchFamily="34" charset="0"/>
                <a:ea typeface="Consolas" pitchFamily="34" charset="-122"/>
                <a:cs typeface="Consolas" pitchFamily="34" charset="-120"/>
              </a:rPr>
              <a:t>php bin/reset_vacancy.php --all</a:t>
            </a:r>
            <a:endParaRPr lang="en-US" sz="1400" dirty="0"/>
          </a:p>
        </p:txBody>
      </p:sp>
      <p:sp>
        <p:nvSpPr>
          <p:cNvPr id="10" name="Shape 8"/>
          <p:cNvSpPr/>
          <p:nvPr/>
        </p:nvSpPr>
        <p:spPr>
          <a:xfrm>
            <a:off x="640080" y="3429000"/>
            <a:ext cx="5349240" cy="1371600"/>
          </a:xfrm>
          <a:prstGeom prst="roundRect">
            <a:avLst>
              <a:gd name="adj" fmla="val 5333"/>
            </a:avLst>
          </a:prstGeom>
          <a:solidFill>
            <a:srgbClr val="ECFDF5"/>
          </a:solidFill>
          <a:ln w="12700">
            <a:solidFill>
              <a:srgbClr val="ECFDF5"/>
            </a:solidFill>
            <a:prstDash val="solid"/>
          </a:ln>
        </p:spPr>
      </p:sp>
      <p:sp>
        <p:nvSpPr>
          <p:cNvPr id="11" name="Text 9"/>
          <p:cNvSpPr txBox="1"/>
          <p:nvPr/>
        </p:nvSpPr>
        <p:spPr>
          <a:xfrm>
            <a:off x="841248" y="3538728"/>
            <a:ext cx="494690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消えるのは空き状況の報告だけです</a:t>
            </a:r>
            <a:endParaRPr lang="en-US" sz="1500" dirty="0"/>
          </a:p>
          <a:p>
            <a:pPr algn="l" indent="0" marL="0">
              <a:lnSpc>
                <a:spcPct val="125000"/>
              </a:lnSpc>
              <a:buNone/>
            </a:pPr>
            <a:r>
              <a:rPr lang="en-US" sz="1250" b="1" dirty="0">
                <a:solidFill>
                  <a:srgbClr val="15803D"/>
                </a:solidFill>
                <a:latin typeface="Meiryo" pitchFamily="34" charset="0"/>
                <a:ea typeface="Meiryo" pitchFamily="34" charset="-122"/>
                <a:cs typeface="Meiryo" pitchFamily="34" charset="-120"/>
              </a:rPr>
              <a:t>予約データには一切触れません。</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全部消しても、予約・キャンセル待ち・座席数は何も変わりません。</a:t>
            </a:r>
            <a:endParaRPr lang="en-US" sz="1500" dirty="0"/>
          </a:p>
        </p:txBody>
      </p:sp>
      <p:sp>
        <p:nvSpPr>
          <p:cNvPr id="12" name="Shape 10"/>
          <p:cNvSpPr/>
          <p:nvPr/>
        </p:nvSpPr>
        <p:spPr>
          <a:xfrm>
            <a:off x="6217920" y="3429000"/>
            <a:ext cx="5349240" cy="1371600"/>
          </a:xfrm>
          <a:prstGeom prst="roundRect">
            <a:avLst>
              <a:gd name="adj" fmla="val 5333"/>
            </a:avLst>
          </a:prstGeom>
          <a:solidFill>
            <a:srgbClr val="CADCFC"/>
          </a:solidFill>
          <a:ln w="12700">
            <a:solidFill>
              <a:srgbClr val="CADCFC"/>
            </a:solidFill>
            <a:prstDash val="solid"/>
          </a:ln>
        </p:spPr>
      </p:sp>
      <p:sp>
        <p:nvSpPr>
          <p:cNvPr id="13" name="Text 11"/>
          <p:cNvSpPr txBox="1"/>
          <p:nvPr/>
        </p:nvSpPr>
        <p:spPr>
          <a:xfrm>
            <a:off x="6419088" y="3538728"/>
            <a:ext cx="494690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別の日の練習は残りません</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「今の状況」は登録した日のものとして扱われます。消すのは、同じ日に練習したときだけで十分です。</a:t>
            </a:r>
            <a:endParaRPr lang="en-US" sz="1500" dirty="0"/>
          </a:p>
        </p:txBody>
      </p:sp>
      <p:sp>
        <p:nvSpPr>
          <p:cNvPr id="14" name="Shape 12"/>
          <p:cNvSpPr/>
          <p:nvPr/>
        </p:nvSpPr>
        <p:spPr>
          <a:xfrm>
            <a:off x="640080" y="4983480"/>
            <a:ext cx="10927080" cy="868680"/>
          </a:xfrm>
          <a:prstGeom prst="roundRect">
            <a:avLst>
              <a:gd name="adj" fmla="val 8421"/>
            </a:avLst>
          </a:prstGeom>
          <a:solidFill>
            <a:srgbClr val="CADCFC"/>
          </a:solidFill>
          <a:ln w="12700">
            <a:solidFill>
              <a:srgbClr val="CADCFC"/>
            </a:solidFill>
            <a:prstDash val="solid"/>
          </a:ln>
        </p:spPr>
      </p:sp>
      <p:sp>
        <p:nvSpPr>
          <p:cNvPr id="15" name="Text 13"/>
          <p:cNvSpPr txBox="1"/>
          <p:nvPr/>
        </p:nvSpPr>
        <p:spPr>
          <a:xfrm>
            <a:off x="841248" y="5093208"/>
            <a:ext cx="10524744" cy="649224"/>
          </a:xfrm>
          <a:prstGeom prst="rect">
            <a:avLst/>
          </a:prstGeom>
          <a:noFill/>
          <a:ln/>
        </p:spPr>
        <p:txBody>
          <a:bodyPr wrap="square" lIns="0" tIns="0" rIns="0" bIns="0" rtlCol="0" anchor="ctr"/>
          <a:lstStyle/>
          <a:p>
            <a:pPr algn="l" indent="0" marL="0">
              <a:lnSpc>
                <a:spcPct val="125000"/>
              </a:lnSpc>
              <a:buNone/>
            </a:pPr>
            <a:r>
              <a:rPr lang="en-US" sz="1300" b="1" dirty="0">
                <a:solidFill>
                  <a:srgbClr val="1E2761"/>
                </a:solidFill>
                <a:latin typeface="Meiryo" pitchFamily="34" charset="0"/>
                <a:ea typeface="Meiryo" pitchFamily="34" charset="-122"/>
                <a:cs typeface="Meiryo" pitchFamily="34" charset="-120"/>
              </a:rPr>
              <a:t>SQL で直接行う場合の文は、スクリプト冒頭のコメントに書いてあります。</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13</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13</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当日の流れ</a:t>
            </a:r>
            <a:endParaRPr lang="en-US" sz="2800" dirty="0"/>
          </a:p>
        </p:txBody>
      </p:sp>
      <p:sp>
        <p:nvSpPr>
          <p:cNvPr id="7" name="Text 5"/>
          <p:cNvSpPr txBox="1"/>
          <p:nvPr/>
        </p:nvSpPr>
        <p:spPr>
          <a:xfrm>
            <a:off x="640080" y="1325880"/>
            <a:ext cx="5349240" cy="320040"/>
          </a:xfrm>
          <a:prstGeom prst="rect">
            <a:avLst/>
          </a:prstGeom>
          <a:noFill/>
          <a:ln/>
        </p:spPr>
        <p:txBody>
          <a:bodyPr wrap="square" lIns="0" tIns="0" rIns="0" bIns="0" rtlCol="0" anchor="ctr"/>
          <a:lstStyle/>
          <a:p>
            <a:pPr indent="0" marL="0">
              <a:buNone/>
            </a:pPr>
            <a:r>
              <a:rPr lang="en-US" sz="1700" b="1" dirty="0">
                <a:solidFill>
                  <a:srgbClr val="1E2761"/>
                </a:solidFill>
                <a:latin typeface="Meiryo" pitchFamily="34" charset="0"/>
                <a:ea typeface="Meiryo" pitchFamily="34" charset="-122"/>
                <a:cs typeface="Meiryo" pitchFamily="34" charset="-120"/>
              </a:rPr>
              <a:t>事務局</a:t>
            </a:r>
            <a:endParaRPr lang="en-US" sz="1700" dirty="0"/>
          </a:p>
        </p:txBody>
      </p:sp>
      <p:sp>
        <p:nvSpPr>
          <p:cNvPr id="8" name="Shape 6"/>
          <p:cNvSpPr/>
          <p:nvPr/>
        </p:nvSpPr>
        <p:spPr>
          <a:xfrm>
            <a:off x="640080" y="1719072"/>
            <a:ext cx="5349240" cy="603504"/>
          </a:xfrm>
          <a:prstGeom prst="roundRect">
            <a:avLst>
              <a:gd name="adj" fmla="val 9091"/>
            </a:avLst>
          </a:prstGeom>
          <a:solidFill>
            <a:srgbClr val="F4F7FC"/>
          </a:solidFill>
          <a:ln w="12700">
            <a:solidFill>
              <a:srgbClr val="C7D2E4"/>
            </a:solidFill>
            <a:prstDash val="solid"/>
          </a:ln>
        </p:spPr>
      </p:sp>
      <p:sp>
        <p:nvSpPr>
          <p:cNvPr id="9" name="Shape 7"/>
          <p:cNvSpPr/>
          <p:nvPr/>
        </p:nvSpPr>
        <p:spPr>
          <a:xfrm>
            <a:off x="804672" y="1810512"/>
            <a:ext cx="420624" cy="420624"/>
          </a:xfrm>
          <a:prstGeom prst="ellipse">
            <a:avLst/>
          </a:prstGeom>
          <a:solidFill>
            <a:srgbClr val="1E2761"/>
          </a:solidFill>
          <a:ln/>
        </p:spPr>
      </p:sp>
      <p:sp>
        <p:nvSpPr>
          <p:cNvPr id="10" name="Text 8"/>
          <p:cNvSpPr txBox="1"/>
          <p:nvPr/>
        </p:nvSpPr>
        <p:spPr>
          <a:xfrm>
            <a:off x="804672" y="181051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1" name="Text 9"/>
          <p:cNvSpPr txBox="1"/>
          <p:nvPr/>
        </p:nvSpPr>
        <p:spPr>
          <a:xfrm>
            <a:off x="1389888" y="1773936"/>
            <a:ext cx="4434840" cy="49377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前日までに表示テストで見え方を確認</a:t>
            </a:r>
            <a:endParaRPr lang="en-US" sz="1500" dirty="0"/>
          </a:p>
        </p:txBody>
      </p:sp>
      <p:sp>
        <p:nvSpPr>
          <p:cNvPr id="12" name="Shape 10"/>
          <p:cNvSpPr/>
          <p:nvPr/>
        </p:nvSpPr>
        <p:spPr>
          <a:xfrm>
            <a:off x="640080" y="2414016"/>
            <a:ext cx="5349240" cy="603504"/>
          </a:xfrm>
          <a:prstGeom prst="roundRect">
            <a:avLst>
              <a:gd name="adj" fmla="val 9091"/>
            </a:avLst>
          </a:prstGeom>
          <a:solidFill>
            <a:srgbClr val="F4F7FC"/>
          </a:solidFill>
          <a:ln w="12700">
            <a:solidFill>
              <a:srgbClr val="C7D2E4"/>
            </a:solidFill>
            <a:prstDash val="solid"/>
          </a:ln>
        </p:spPr>
      </p:sp>
      <p:sp>
        <p:nvSpPr>
          <p:cNvPr id="13" name="Shape 11"/>
          <p:cNvSpPr/>
          <p:nvPr/>
        </p:nvSpPr>
        <p:spPr>
          <a:xfrm>
            <a:off x="804672" y="2505456"/>
            <a:ext cx="420624" cy="420624"/>
          </a:xfrm>
          <a:prstGeom prst="ellipse">
            <a:avLst/>
          </a:prstGeom>
          <a:solidFill>
            <a:srgbClr val="1E2761"/>
          </a:solidFill>
          <a:ln/>
        </p:spPr>
      </p:sp>
      <p:sp>
        <p:nvSpPr>
          <p:cNvPr id="14" name="Text 12"/>
          <p:cNvSpPr txBox="1"/>
          <p:nvPr/>
        </p:nvSpPr>
        <p:spPr>
          <a:xfrm>
            <a:off x="804672" y="250545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5" name="Text 13"/>
          <p:cNvSpPr txBox="1"/>
          <p:nvPr/>
        </p:nvSpPr>
        <p:spPr>
          <a:xfrm>
            <a:off x="1389888" y="2468880"/>
            <a:ext cx="4434840" cy="49377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練習で入力したものを消しておく</a:t>
            </a:r>
            <a:endParaRPr lang="en-US" sz="1500" dirty="0"/>
          </a:p>
        </p:txBody>
      </p:sp>
      <p:sp>
        <p:nvSpPr>
          <p:cNvPr id="16" name="Shape 14"/>
          <p:cNvSpPr/>
          <p:nvPr/>
        </p:nvSpPr>
        <p:spPr>
          <a:xfrm>
            <a:off x="640080" y="3108960"/>
            <a:ext cx="5349240" cy="603504"/>
          </a:xfrm>
          <a:prstGeom prst="roundRect">
            <a:avLst>
              <a:gd name="adj" fmla="val 9091"/>
            </a:avLst>
          </a:prstGeom>
          <a:solidFill>
            <a:srgbClr val="F4F7FC"/>
          </a:solidFill>
          <a:ln w="12700">
            <a:solidFill>
              <a:srgbClr val="C7D2E4"/>
            </a:solidFill>
            <a:prstDash val="solid"/>
          </a:ln>
        </p:spPr>
      </p:sp>
      <p:sp>
        <p:nvSpPr>
          <p:cNvPr id="17" name="Shape 15"/>
          <p:cNvSpPr/>
          <p:nvPr/>
        </p:nvSpPr>
        <p:spPr>
          <a:xfrm>
            <a:off x="804672" y="3200400"/>
            <a:ext cx="420624" cy="420624"/>
          </a:xfrm>
          <a:prstGeom prst="ellipse">
            <a:avLst/>
          </a:prstGeom>
          <a:solidFill>
            <a:srgbClr val="1E2761"/>
          </a:solidFill>
          <a:ln/>
        </p:spPr>
      </p:sp>
      <p:sp>
        <p:nvSpPr>
          <p:cNvPr id="18" name="Text 16"/>
          <p:cNvSpPr txBox="1"/>
          <p:nvPr/>
        </p:nvSpPr>
        <p:spPr>
          <a:xfrm>
            <a:off x="804672" y="320040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19" name="Text 17"/>
          <p:cNvSpPr txBox="1"/>
          <p:nvPr/>
        </p:nvSpPr>
        <p:spPr>
          <a:xfrm>
            <a:off x="1389888" y="3163824"/>
            <a:ext cx="4434840" cy="49377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朝、各社に連絡をお願いする</a:t>
            </a:r>
            <a:endParaRPr lang="en-US" sz="1500" dirty="0"/>
          </a:p>
        </p:txBody>
      </p:sp>
      <p:sp>
        <p:nvSpPr>
          <p:cNvPr id="20" name="Shape 18"/>
          <p:cNvSpPr/>
          <p:nvPr/>
        </p:nvSpPr>
        <p:spPr>
          <a:xfrm>
            <a:off x="640080" y="3803904"/>
            <a:ext cx="5349240" cy="603504"/>
          </a:xfrm>
          <a:prstGeom prst="roundRect">
            <a:avLst>
              <a:gd name="adj" fmla="val 9091"/>
            </a:avLst>
          </a:prstGeom>
          <a:solidFill>
            <a:srgbClr val="F4F7FC"/>
          </a:solidFill>
          <a:ln w="12700">
            <a:solidFill>
              <a:srgbClr val="C7D2E4"/>
            </a:solidFill>
            <a:prstDash val="solid"/>
          </a:ln>
        </p:spPr>
      </p:sp>
      <p:sp>
        <p:nvSpPr>
          <p:cNvPr id="21" name="Shape 19"/>
          <p:cNvSpPr/>
          <p:nvPr/>
        </p:nvSpPr>
        <p:spPr>
          <a:xfrm>
            <a:off x="804672" y="3895344"/>
            <a:ext cx="420624" cy="420624"/>
          </a:xfrm>
          <a:prstGeom prst="ellipse">
            <a:avLst/>
          </a:prstGeom>
          <a:solidFill>
            <a:srgbClr val="1E2761"/>
          </a:solidFill>
          <a:ln/>
        </p:spPr>
      </p:sp>
      <p:sp>
        <p:nvSpPr>
          <p:cNvPr id="22" name="Text 20"/>
          <p:cNvSpPr txBox="1"/>
          <p:nvPr/>
        </p:nvSpPr>
        <p:spPr>
          <a:xfrm>
            <a:off x="804672" y="389534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23" name="Text 21"/>
          <p:cNvSpPr txBox="1"/>
          <p:nvPr/>
        </p:nvSpPr>
        <p:spPr>
          <a:xfrm>
            <a:off x="1389888" y="3858768"/>
            <a:ext cx="4434840" cy="49377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サイネージ端末を全画面にする</a:t>
            </a:r>
            <a:endParaRPr lang="en-US" sz="1500" dirty="0"/>
          </a:p>
        </p:txBody>
      </p:sp>
      <p:sp>
        <p:nvSpPr>
          <p:cNvPr id="24" name="Shape 22"/>
          <p:cNvSpPr/>
          <p:nvPr/>
        </p:nvSpPr>
        <p:spPr>
          <a:xfrm>
            <a:off x="640080" y="4498848"/>
            <a:ext cx="5349240" cy="603504"/>
          </a:xfrm>
          <a:prstGeom prst="roundRect">
            <a:avLst>
              <a:gd name="adj" fmla="val 9091"/>
            </a:avLst>
          </a:prstGeom>
          <a:solidFill>
            <a:srgbClr val="F4F7FC"/>
          </a:solidFill>
          <a:ln w="12700">
            <a:solidFill>
              <a:srgbClr val="C7D2E4"/>
            </a:solidFill>
            <a:prstDash val="solid"/>
          </a:ln>
        </p:spPr>
      </p:sp>
      <p:sp>
        <p:nvSpPr>
          <p:cNvPr id="25" name="Shape 23"/>
          <p:cNvSpPr/>
          <p:nvPr/>
        </p:nvSpPr>
        <p:spPr>
          <a:xfrm>
            <a:off x="804672" y="4590288"/>
            <a:ext cx="420624" cy="420624"/>
          </a:xfrm>
          <a:prstGeom prst="ellipse">
            <a:avLst/>
          </a:prstGeom>
          <a:solidFill>
            <a:srgbClr val="1E2761"/>
          </a:solidFill>
          <a:ln/>
        </p:spPr>
      </p:sp>
      <p:sp>
        <p:nvSpPr>
          <p:cNvPr id="26" name="Text 24"/>
          <p:cNvSpPr txBox="1"/>
          <p:nvPr/>
        </p:nvSpPr>
        <p:spPr>
          <a:xfrm>
            <a:off x="804672" y="459028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a:t>
            </a:r>
            <a:endParaRPr lang="en-US" sz="1400" dirty="0"/>
          </a:p>
        </p:txBody>
      </p:sp>
      <p:sp>
        <p:nvSpPr>
          <p:cNvPr id="27" name="Text 25"/>
          <p:cNvSpPr txBox="1"/>
          <p:nvPr/>
        </p:nvSpPr>
        <p:spPr>
          <a:xfrm>
            <a:off x="1389888" y="4553712"/>
            <a:ext cx="4434840" cy="49377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届いた連絡を「今の状況」に入力</a:t>
            </a:r>
            <a:endParaRPr lang="en-US" sz="1500" dirty="0"/>
          </a:p>
        </p:txBody>
      </p:sp>
      <p:sp>
        <p:nvSpPr>
          <p:cNvPr id="28" name="Shape 26"/>
          <p:cNvSpPr/>
          <p:nvPr/>
        </p:nvSpPr>
        <p:spPr>
          <a:xfrm>
            <a:off x="640080" y="5193792"/>
            <a:ext cx="5349240" cy="603504"/>
          </a:xfrm>
          <a:prstGeom prst="roundRect">
            <a:avLst>
              <a:gd name="adj" fmla="val 9091"/>
            </a:avLst>
          </a:prstGeom>
          <a:solidFill>
            <a:srgbClr val="F4F7FC"/>
          </a:solidFill>
          <a:ln w="12700">
            <a:solidFill>
              <a:srgbClr val="C7D2E4"/>
            </a:solidFill>
            <a:prstDash val="solid"/>
          </a:ln>
        </p:spPr>
      </p:sp>
      <p:sp>
        <p:nvSpPr>
          <p:cNvPr id="29" name="Shape 27"/>
          <p:cNvSpPr/>
          <p:nvPr/>
        </p:nvSpPr>
        <p:spPr>
          <a:xfrm>
            <a:off x="804672" y="5285232"/>
            <a:ext cx="420624" cy="420624"/>
          </a:xfrm>
          <a:prstGeom prst="ellipse">
            <a:avLst/>
          </a:prstGeom>
          <a:solidFill>
            <a:srgbClr val="1E2761"/>
          </a:solidFill>
          <a:ln/>
        </p:spPr>
      </p:sp>
      <p:sp>
        <p:nvSpPr>
          <p:cNvPr id="30" name="Text 28"/>
          <p:cNvSpPr txBox="1"/>
          <p:nvPr/>
        </p:nvSpPr>
        <p:spPr>
          <a:xfrm>
            <a:off x="804672" y="528523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6</a:t>
            </a:r>
            <a:endParaRPr lang="en-US" sz="1400" dirty="0"/>
          </a:p>
        </p:txBody>
      </p:sp>
      <p:sp>
        <p:nvSpPr>
          <p:cNvPr id="31" name="Text 29"/>
          <p:cNvSpPr txBox="1"/>
          <p:nvPr/>
        </p:nvSpPr>
        <p:spPr>
          <a:xfrm>
            <a:off x="1389888" y="5248656"/>
            <a:ext cx="4434840" cy="49377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写真が届いたら「回ごとの空き状況」で転記</a:t>
            </a:r>
            <a:endParaRPr lang="en-US" sz="1500" dirty="0"/>
          </a:p>
        </p:txBody>
      </p:sp>
      <p:sp>
        <p:nvSpPr>
          <p:cNvPr id="32" name="Shape 30"/>
          <p:cNvSpPr/>
          <p:nvPr/>
        </p:nvSpPr>
        <p:spPr>
          <a:xfrm>
            <a:off x="640080" y="5888736"/>
            <a:ext cx="5349240" cy="603504"/>
          </a:xfrm>
          <a:prstGeom prst="roundRect">
            <a:avLst>
              <a:gd name="adj" fmla="val 9091"/>
            </a:avLst>
          </a:prstGeom>
          <a:solidFill>
            <a:srgbClr val="F4F7FC"/>
          </a:solidFill>
          <a:ln w="12700">
            <a:solidFill>
              <a:srgbClr val="C7D2E4"/>
            </a:solidFill>
            <a:prstDash val="solid"/>
          </a:ln>
        </p:spPr>
      </p:sp>
      <p:sp>
        <p:nvSpPr>
          <p:cNvPr id="33" name="Shape 31"/>
          <p:cNvSpPr/>
          <p:nvPr/>
        </p:nvSpPr>
        <p:spPr>
          <a:xfrm>
            <a:off x="804672" y="5980176"/>
            <a:ext cx="420624" cy="420624"/>
          </a:xfrm>
          <a:prstGeom prst="ellipse">
            <a:avLst/>
          </a:prstGeom>
          <a:solidFill>
            <a:srgbClr val="1E2761"/>
          </a:solidFill>
          <a:ln/>
        </p:spPr>
      </p:sp>
      <p:sp>
        <p:nvSpPr>
          <p:cNvPr id="34" name="Text 32"/>
          <p:cNvSpPr txBox="1"/>
          <p:nvPr/>
        </p:nvSpPr>
        <p:spPr>
          <a:xfrm>
            <a:off x="804672" y="598017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7</a:t>
            </a:r>
            <a:endParaRPr lang="en-US" sz="1400" dirty="0"/>
          </a:p>
        </p:txBody>
      </p:sp>
      <p:sp>
        <p:nvSpPr>
          <p:cNvPr id="35" name="Text 33"/>
          <p:cNvSpPr txBox="1"/>
          <p:nvPr/>
        </p:nvSpPr>
        <p:spPr>
          <a:xfrm>
            <a:off x="1389888" y="5943600"/>
            <a:ext cx="4434840" cy="49377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ときどき「⚠ 古い」が増えていないか確認</a:t>
            </a:r>
            <a:endParaRPr lang="en-US" sz="1500" dirty="0"/>
          </a:p>
        </p:txBody>
      </p:sp>
      <p:sp>
        <p:nvSpPr>
          <p:cNvPr id="36" name="Text 34"/>
          <p:cNvSpPr txBox="1"/>
          <p:nvPr/>
        </p:nvSpPr>
        <p:spPr>
          <a:xfrm>
            <a:off x="6217920" y="1325880"/>
            <a:ext cx="5349240" cy="320040"/>
          </a:xfrm>
          <a:prstGeom prst="rect">
            <a:avLst/>
          </a:prstGeom>
          <a:noFill/>
          <a:ln/>
        </p:spPr>
        <p:txBody>
          <a:bodyPr wrap="square" lIns="0" tIns="0" rIns="0" bIns="0" rtlCol="0" anchor="ctr"/>
          <a:lstStyle/>
          <a:p>
            <a:pPr indent="0" marL="0">
              <a:buNone/>
            </a:pPr>
            <a:r>
              <a:rPr lang="en-US" sz="1700" b="1" dirty="0">
                <a:solidFill>
                  <a:srgbClr val="1E2761"/>
                </a:solidFill>
                <a:latin typeface="Meiryo" pitchFamily="34" charset="0"/>
                <a:ea typeface="Meiryo" pitchFamily="34" charset="-122"/>
                <a:cs typeface="Meiryo" pitchFamily="34" charset="-120"/>
              </a:rPr>
              <a:t>会社担当者</a:t>
            </a:r>
            <a:endParaRPr lang="en-US" sz="1700" dirty="0"/>
          </a:p>
        </p:txBody>
      </p:sp>
      <p:sp>
        <p:nvSpPr>
          <p:cNvPr id="37" name="Shape 35"/>
          <p:cNvSpPr/>
          <p:nvPr/>
        </p:nvSpPr>
        <p:spPr>
          <a:xfrm>
            <a:off x="6217920" y="1719072"/>
            <a:ext cx="5349240" cy="786384"/>
          </a:xfrm>
          <a:prstGeom prst="roundRect">
            <a:avLst>
              <a:gd name="adj" fmla="val 6977"/>
            </a:avLst>
          </a:prstGeom>
          <a:solidFill>
            <a:srgbClr val="F4F7FC"/>
          </a:solidFill>
          <a:ln w="12700">
            <a:solidFill>
              <a:srgbClr val="C7D2E4"/>
            </a:solidFill>
            <a:prstDash val="solid"/>
          </a:ln>
        </p:spPr>
      </p:sp>
      <p:sp>
        <p:nvSpPr>
          <p:cNvPr id="38" name="Shape 36"/>
          <p:cNvSpPr/>
          <p:nvPr/>
        </p:nvSpPr>
        <p:spPr>
          <a:xfrm>
            <a:off x="6382512" y="1901952"/>
            <a:ext cx="420624" cy="420624"/>
          </a:xfrm>
          <a:prstGeom prst="ellipse">
            <a:avLst/>
          </a:prstGeom>
          <a:solidFill>
            <a:srgbClr val="1E2761"/>
          </a:solidFill>
          <a:ln/>
        </p:spPr>
      </p:sp>
      <p:sp>
        <p:nvSpPr>
          <p:cNvPr id="39" name="Text 37"/>
          <p:cNvSpPr txBox="1"/>
          <p:nvPr/>
        </p:nvSpPr>
        <p:spPr>
          <a:xfrm>
            <a:off x="6382512" y="190195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40" name="Text 38"/>
          <p:cNvSpPr txBox="1"/>
          <p:nvPr/>
        </p:nvSpPr>
        <p:spPr>
          <a:xfrm>
            <a:off x="6967728" y="1773936"/>
            <a:ext cx="4434840" cy="67665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管理画面の「空き状況」を開く</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自社のぶんだけが出ます</a:t>
            </a:r>
            <a:endParaRPr lang="en-US" sz="1500" dirty="0"/>
          </a:p>
        </p:txBody>
      </p:sp>
      <p:sp>
        <p:nvSpPr>
          <p:cNvPr id="41" name="Shape 39"/>
          <p:cNvSpPr/>
          <p:nvPr/>
        </p:nvSpPr>
        <p:spPr>
          <a:xfrm>
            <a:off x="6217920" y="2596896"/>
            <a:ext cx="5349240" cy="786384"/>
          </a:xfrm>
          <a:prstGeom prst="roundRect">
            <a:avLst>
              <a:gd name="adj" fmla="val 6977"/>
            </a:avLst>
          </a:prstGeom>
          <a:solidFill>
            <a:srgbClr val="F4F7FC"/>
          </a:solidFill>
          <a:ln w="12700">
            <a:solidFill>
              <a:srgbClr val="C7D2E4"/>
            </a:solidFill>
            <a:prstDash val="solid"/>
          </a:ln>
        </p:spPr>
      </p:sp>
      <p:sp>
        <p:nvSpPr>
          <p:cNvPr id="42" name="Shape 40"/>
          <p:cNvSpPr/>
          <p:nvPr/>
        </p:nvSpPr>
        <p:spPr>
          <a:xfrm>
            <a:off x="6382512" y="2779776"/>
            <a:ext cx="420624" cy="420624"/>
          </a:xfrm>
          <a:prstGeom prst="ellipse">
            <a:avLst/>
          </a:prstGeom>
          <a:solidFill>
            <a:srgbClr val="1E2761"/>
          </a:solidFill>
          <a:ln/>
        </p:spPr>
      </p:sp>
      <p:sp>
        <p:nvSpPr>
          <p:cNvPr id="43" name="Text 41"/>
          <p:cNvSpPr txBox="1"/>
          <p:nvPr/>
        </p:nvSpPr>
        <p:spPr>
          <a:xfrm>
            <a:off x="6382512" y="277977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44" name="Text 42"/>
          <p:cNvSpPr txBox="1"/>
          <p:nvPr/>
        </p:nvSpPr>
        <p:spPr>
          <a:xfrm>
            <a:off x="6967728" y="2651760"/>
            <a:ext cx="4434840" cy="67665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状況が変わったら記号を押す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押すだけで公開されます</a:t>
            </a:r>
            <a:endParaRPr lang="en-US" sz="1500" dirty="0"/>
          </a:p>
        </p:txBody>
      </p:sp>
      <p:sp>
        <p:nvSpPr>
          <p:cNvPr id="45" name="Shape 43"/>
          <p:cNvSpPr/>
          <p:nvPr/>
        </p:nvSpPr>
        <p:spPr>
          <a:xfrm>
            <a:off x="6217920" y="3474720"/>
            <a:ext cx="5349240" cy="786384"/>
          </a:xfrm>
          <a:prstGeom prst="roundRect">
            <a:avLst>
              <a:gd name="adj" fmla="val 6977"/>
            </a:avLst>
          </a:prstGeom>
          <a:solidFill>
            <a:srgbClr val="FEF2F2"/>
          </a:solidFill>
          <a:ln w="12700">
            <a:solidFill>
              <a:srgbClr val="B91C1C"/>
            </a:solidFill>
            <a:prstDash val="solid"/>
          </a:ln>
        </p:spPr>
      </p:sp>
      <p:sp>
        <p:nvSpPr>
          <p:cNvPr id="46" name="Shape 44"/>
          <p:cNvSpPr/>
          <p:nvPr/>
        </p:nvSpPr>
        <p:spPr>
          <a:xfrm>
            <a:off x="6382512" y="3657600"/>
            <a:ext cx="420624" cy="420624"/>
          </a:xfrm>
          <a:prstGeom prst="ellipse">
            <a:avLst/>
          </a:prstGeom>
          <a:solidFill>
            <a:srgbClr val="B91C1C"/>
          </a:solidFill>
          <a:ln/>
        </p:spPr>
      </p:sp>
      <p:sp>
        <p:nvSpPr>
          <p:cNvPr id="47" name="Text 45"/>
          <p:cNvSpPr txBox="1"/>
          <p:nvPr/>
        </p:nvSpPr>
        <p:spPr>
          <a:xfrm>
            <a:off x="6382512" y="365760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48" name="Text 46"/>
          <p:cNvSpPr txBox="1"/>
          <p:nvPr/>
        </p:nvSpPr>
        <p:spPr>
          <a:xfrm>
            <a:off x="6967728" y="3529584"/>
            <a:ext cx="4434840" cy="676656"/>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満席になったら忘れずに ✕ を押す</a:t>
            </a:r>
            <a:endParaRPr lang="en-US" sz="1500" dirty="0"/>
          </a:p>
        </p:txBody>
      </p:sp>
      <p:sp>
        <p:nvSpPr>
          <p:cNvPr id="49" name="Shape 47"/>
          <p:cNvSpPr/>
          <p:nvPr/>
        </p:nvSpPr>
        <p:spPr>
          <a:xfrm>
            <a:off x="6217920" y="4343400"/>
            <a:ext cx="5349240" cy="1508760"/>
          </a:xfrm>
          <a:prstGeom prst="roundRect">
            <a:avLst>
              <a:gd name="adj" fmla="val 4848"/>
            </a:avLst>
          </a:prstGeom>
          <a:solidFill>
            <a:srgbClr val="FEF2F2"/>
          </a:solidFill>
          <a:ln w="12700">
            <a:solidFill>
              <a:srgbClr val="FEF2F2"/>
            </a:solidFill>
            <a:prstDash val="solid"/>
          </a:ln>
        </p:spPr>
      </p:sp>
      <p:sp>
        <p:nvSpPr>
          <p:cNvPr id="50" name="Text 48"/>
          <p:cNvSpPr txBox="1"/>
          <p:nvPr/>
        </p:nvSpPr>
        <p:spPr>
          <a:xfrm>
            <a:off x="6419088" y="4453128"/>
            <a:ext cx="4946904" cy="1289304"/>
          </a:xfrm>
          <a:prstGeom prst="rect">
            <a:avLst/>
          </a:prstGeom>
          <a:noFill/>
          <a:ln/>
        </p:spPr>
        <p:txBody>
          <a:bodyPr wrap="square" lIns="0" tIns="0" rIns="0" bIns="0" rtlCol="0" anchor="ctr"/>
          <a:lstStyle/>
          <a:p>
            <a:pPr algn="l" indent="0" marL="0">
              <a:lnSpc>
                <a:spcPct val="125000"/>
              </a:lnSpc>
              <a:buNone/>
            </a:pPr>
            <a:r>
              <a:rPr lang="en-US" sz="1500" b="1" dirty="0">
                <a:solidFill>
                  <a:srgbClr val="B91C1C"/>
                </a:solidFill>
                <a:latin typeface="Meiryo" pitchFamily="34" charset="0"/>
                <a:ea typeface="Meiryo" pitchFamily="34" charset="-122"/>
                <a:cs typeface="Meiryo" pitchFamily="34" charset="-120"/>
              </a:rPr>
              <a:t>いちばん困るのは、◎ のまま更新が止まることです</a:t>
            </a:r>
            <a:endParaRPr lang="en-US" sz="1500" dirty="0"/>
          </a:p>
          <a:p>
            <a:pPr algn="l" indent="0" marL="0">
              <a:lnSpc>
                <a:spcPct val="125000"/>
              </a:lnSpc>
              <a:buNone/>
            </a:pPr>
            <a:r>
              <a:rPr lang="en-US" sz="1250" dirty="0">
                <a:solidFill>
                  <a:srgbClr val="B91C1C"/>
                </a:solidFill>
                <a:latin typeface="Meiryo" pitchFamily="34" charset="0"/>
                <a:ea typeface="Meiryo" pitchFamily="34" charset="-122"/>
                <a:cs typeface="Meiryo" pitchFamily="34" charset="-120"/>
              </a:rPr>
              <a:t>来場者が向かってしまいます。</a:t>
            </a:r>
            <a:endParaRPr lang="en-US" sz="1500" dirty="0"/>
          </a:p>
          <a:p>
            <a:pPr algn="l" indent="0" marL="0">
              <a:lnSpc>
                <a:spcPct val="125000"/>
              </a:lnSpc>
              <a:buNone/>
            </a:pPr>
            <a:r>
              <a:rPr lang="en-US" sz="1250" b="1" dirty="0">
                <a:solidFill>
                  <a:srgbClr val="B91C1C"/>
                </a:solidFill>
                <a:latin typeface="Meiryo" pitchFamily="34" charset="0"/>
                <a:ea typeface="Meiryo" pitchFamily="34" charset="-122"/>
                <a:cs typeface="Meiryo" pitchFamily="34" charset="-120"/>
              </a:rPr>
              <a:t>満席になった瞬間の ✕ が、いちばん価値のある 1 クリックです。</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当日の空き状況 操作マニュアル</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14</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14</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よくある質問</a:t>
            </a:r>
            <a:endParaRPr lang="en-US" sz="2800" dirty="0"/>
          </a:p>
        </p:txBody>
      </p:sp>
      <p:sp>
        <p:nvSpPr>
          <p:cNvPr id="7" name="Shape 5"/>
          <p:cNvSpPr/>
          <p:nvPr/>
        </p:nvSpPr>
        <p:spPr>
          <a:xfrm>
            <a:off x="640080" y="1371600"/>
            <a:ext cx="10927080" cy="877824"/>
          </a:xfrm>
          <a:prstGeom prst="roundRect">
            <a:avLst>
              <a:gd name="adj" fmla="val 6250"/>
            </a:avLst>
          </a:prstGeom>
          <a:solidFill>
            <a:srgbClr val="F4F7FC"/>
          </a:solidFill>
          <a:ln w="12700">
            <a:solidFill>
              <a:srgbClr val="C7D2E4"/>
            </a:solidFill>
            <a:prstDash val="solid"/>
          </a:ln>
        </p:spPr>
      </p:sp>
      <p:sp>
        <p:nvSpPr>
          <p:cNvPr id="8" name="Text 6"/>
          <p:cNvSpPr txBox="1"/>
          <p:nvPr/>
        </p:nvSpPr>
        <p:spPr>
          <a:xfrm>
            <a:off x="868680" y="1435608"/>
            <a:ext cx="10469880" cy="749808"/>
          </a:xfrm>
          <a:prstGeom prst="rect">
            <a:avLst/>
          </a:prstGeom>
          <a:noFill/>
          <a:ln/>
        </p:spPr>
        <p:txBody>
          <a:bodyPr wrap="square" lIns="0" tIns="0" rIns="0" bIns="0" rtlCol="0" anchor="ctr"/>
          <a:lstStyle/>
          <a:p>
            <a:pPr algn="l" indent="0" marL="0">
              <a:lnSpc>
                <a:spcPct val="118000"/>
              </a:lnSpc>
              <a:buNone/>
            </a:pPr>
            <a:r>
              <a:rPr lang="en-US" sz="1350" b="1" dirty="0">
                <a:solidFill>
                  <a:srgbClr val="1E2761"/>
                </a:solidFill>
                <a:latin typeface="Meiryo" pitchFamily="34" charset="0"/>
                <a:ea typeface="Meiryo" pitchFamily="34" charset="-122"/>
                <a:cs typeface="Meiryo" pitchFamily="34" charset="-120"/>
              </a:rPr>
              <a:t>Q. 体験プログラムが一覧に出てきません</a:t>
            </a:r>
            <a:endParaRPr lang="en-US" sz="1350" dirty="0"/>
          </a:p>
          <a:p>
            <a:pPr algn="l" indent="0" marL="0">
              <a:lnSpc>
                <a:spcPct val="118000"/>
              </a:lnSpc>
              <a:buNone/>
            </a:pPr>
            <a:r>
              <a:rPr lang="en-US" sz="1250" dirty="0">
                <a:solidFill>
                  <a:srgbClr val="1F2937"/>
                </a:solidFill>
                <a:latin typeface="Meiryo" pitchFamily="34" charset="0"/>
                <a:ea typeface="Meiryo" pitchFamily="34" charset="-122"/>
                <a:cs typeface="Meiryo" pitchFamily="34" charset="-120"/>
              </a:rPr>
              <a:t>A. 「予約不要」になっていないか、その日に開催回がありません。体験内容の画面でご確認ください。</a:t>
            </a:r>
            <a:endParaRPr lang="en-US" sz="1350" dirty="0"/>
          </a:p>
        </p:txBody>
      </p:sp>
      <p:sp>
        <p:nvSpPr>
          <p:cNvPr id="9" name="Shape 7"/>
          <p:cNvSpPr/>
          <p:nvPr/>
        </p:nvSpPr>
        <p:spPr>
          <a:xfrm>
            <a:off x="640080" y="2340864"/>
            <a:ext cx="10927080" cy="877824"/>
          </a:xfrm>
          <a:prstGeom prst="roundRect">
            <a:avLst>
              <a:gd name="adj" fmla="val 6250"/>
            </a:avLst>
          </a:prstGeom>
          <a:solidFill>
            <a:srgbClr val="F4F7FC"/>
          </a:solidFill>
          <a:ln w="12700">
            <a:solidFill>
              <a:srgbClr val="C7D2E4"/>
            </a:solidFill>
            <a:prstDash val="solid"/>
          </a:ln>
        </p:spPr>
      </p:sp>
      <p:sp>
        <p:nvSpPr>
          <p:cNvPr id="10" name="Text 8"/>
          <p:cNvSpPr txBox="1"/>
          <p:nvPr/>
        </p:nvSpPr>
        <p:spPr>
          <a:xfrm>
            <a:off x="868680" y="2404872"/>
            <a:ext cx="10469880" cy="749808"/>
          </a:xfrm>
          <a:prstGeom prst="rect">
            <a:avLst/>
          </a:prstGeom>
          <a:noFill/>
          <a:ln/>
        </p:spPr>
        <p:txBody>
          <a:bodyPr wrap="square" lIns="0" tIns="0" rIns="0" bIns="0" rtlCol="0" anchor="ctr"/>
          <a:lstStyle/>
          <a:p>
            <a:pPr algn="l" indent="0" marL="0">
              <a:lnSpc>
                <a:spcPct val="118000"/>
              </a:lnSpc>
              <a:buNone/>
            </a:pPr>
            <a:r>
              <a:rPr lang="en-US" sz="1350" b="1" dirty="0">
                <a:solidFill>
                  <a:srgbClr val="1E2761"/>
                </a:solidFill>
                <a:latin typeface="Meiryo" pitchFamily="34" charset="0"/>
                <a:ea typeface="Meiryo" pitchFamily="34" charset="-122"/>
                <a:cs typeface="Meiryo" pitchFamily="34" charset="-120"/>
              </a:rPr>
              <a:t>Q. 間違えて登録しました</a:t>
            </a:r>
            <a:endParaRPr lang="en-US" sz="1350" dirty="0"/>
          </a:p>
          <a:p>
            <a:pPr algn="l" indent="0" marL="0">
              <a:lnSpc>
                <a:spcPct val="118000"/>
              </a:lnSpc>
              <a:buNone/>
            </a:pPr>
            <a:r>
              <a:rPr lang="en-US" sz="1250" dirty="0">
                <a:solidFill>
                  <a:srgbClr val="1F2937"/>
                </a:solidFill>
                <a:latin typeface="Meiryo" pitchFamily="34" charset="0"/>
                <a:ea typeface="Meiryo" pitchFamily="34" charset="-122"/>
                <a:cs typeface="Meiryo" pitchFamily="34" charset="-120"/>
              </a:rPr>
              <a:t>A. 正しい内容で登録し直してください。いちばん新しい登録が公開されます。登録はすべて履歴に残ります。</a:t>
            </a:r>
            <a:endParaRPr lang="en-US" sz="1350" dirty="0"/>
          </a:p>
        </p:txBody>
      </p:sp>
      <p:sp>
        <p:nvSpPr>
          <p:cNvPr id="11" name="Shape 9"/>
          <p:cNvSpPr/>
          <p:nvPr/>
        </p:nvSpPr>
        <p:spPr>
          <a:xfrm>
            <a:off x="640080" y="3310128"/>
            <a:ext cx="10927080" cy="877824"/>
          </a:xfrm>
          <a:prstGeom prst="roundRect">
            <a:avLst>
              <a:gd name="adj" fmla="val 6250"/>
            </a:avLst>
          </a:prstGeom>
          <a:solidFill>
            <a:srgbClr val="F4F7FC"/>
          </a:solidFill>
          <a:ln w="12700">
            <a:solidFill>
              <a:srgbClr val="C7D2E4"/>
            </a:solidFill>
            <a:prstDash val="solid"/>
          </a:ln>
        </p:spPr>
      </p:sp>
      <p:sp>
        <p:nvSpPr>
          <p:cNvPr id="12" name="Text 10"/>
          <p:cNvSpPr txBox="1"/>
          <p:nvPr/>
        </p:nvSpPr>
        <p:spPr>
          <a:xfrm>
            <a:off x="868680" y="3374136"/>
            <a:ext cx="10469880" cy="749808"/>
          </a:xfrm>
          <a:prstGeom prst="rect">
            <a:avLst/>
          </a:prstGeom>
          <a:noFill/>
          <a:ln/>
        </p:spPr>
        <p:txBody>
          <a:bodyPr wrap="square" lIns="0" tIns="0" rIns="0" bIns="0" rtlCol="0" anchor="ctr"/>
          <a:lstStyle/>
          <a:p>
            <a:pPr algn="l" indent="0" marL="0">
              <a:lnSpc>
                <a:spcPct val="118000"/>
              </a:lnSpc>
              <a:buNone/>
            </a:pPr>
            <a:r>
              <a:rPr lang="en-US" sz="1350" b="1" dirty="0">
                <a:solidFill>
                  <a:srgbClr val="1E2761"/>
                </a:solidFill>
                <a:latin typeface="Meiryo" pitchFamily="34" charset="0"/>
                <a:ea typeface="Meiryo" pitchFamily="34" charset="-122"/>
                <a:cs typeface="Meiryo" pitchFamily="34" charset="-120"/>
              </a:rPr>
              <a:t>Q. 「—」と「✕」はどう違いますか</a:t>
            </a:r>
            <a:endParaRPr lang="en-US" sz="1350" dirty="0"/>
          </a:p>
          <a:p>
            <a:pPr algn="l" indent="0" marL="0">
              <a:lnSpc>
                <a:spcPct val="118000"/>
              </a:lnSpc>
              <a:buNone/>
            </a:pPr>
            <a:r>
              <a:rPr lang="en-US" sz="1250" dirty="0">
                <a:solidFill>
                  <a:srgbClr val="1F2937"/>
                </a:solidFill>
                <a:latin typeface="Meiryo" pitchFamily="34" charset="0"/>
                <a:ea typeface="Meiryo" pitchFamily="34" charset="-122"/>
                <a:cs typeface="Meiryo" pitchFamily="34" charset="-120"/>
              </a:rPr>
              <a:t>A. 「—」はまだご連絡をいただいていない、「✕」は残数なしとご連絡をいただいた、という違いです。</a:t>
            </a:r>
            <a:endParaRPr lang="en-US" sz="1350" dirty="0"/>
          </a:p>
        </p:txBody>
      </p:sp>
      <p:sp>
        <p:nvSpPr>
          <p:cNvPr id="13" name="Shape 11"/>
          <p:cNvSpPr/>
          <p:nvPr/>
        </p:nvSpPr>
        <p:spPr>
          <a:xfrm>
            <a:off x="640080" y="4279392"/>
            <a:ext cx="10927080" cy="877824"/>
          </a:xfrm>
          <a:prstGeom prst="roundRect">
            <a:avLst>
              <a:gd name="adj" fmla="val 6250"/>
            </a:avLst>
          </a:prstGeom>
          <a:solidFill>
            <a:srgbClr val="F4F7FC"/>
          </a:solidFill>
          <a:ln w="12700">
            <a:solidFill>
              <a:srgbClr val="C7D2E4"/>
            </a:solidFill>
            <a:prstDash val="solid"/>
          </a:ln>
        </p:spPr>
      </p:sp>
      <p:sp>
        <p:nvSpPr>
          <p:cNvPr id="14" name="Text 12"/>
          <p:cNvSpPr txBox="1"/>
          <p:nvPr/>
        </p:nvSpPr>
        <p:spPr>
          <a:xfrm>
            <a:off x="868680" y="4343400"/>
            <a:ext cx="10469880" cy="749808"/>
          </a:xfrm>
          <a:prstGeom prst="rect">
            <a:avLst/>
          </a:prstGeom>
          <a:noFill/>
          <a:ln/>
        </p:spPr>
        <p:txBody>
          <a:bodyPr wrap="square" lIns="0" tIns="0" rIns="0" bIns="0" rtlCol="0" anchor="ctr"/>
          <a:lstStyle/>
          <a:p>
            <a:pPr algn="l" indent="0" marL="0">
              <a:lnSpc>
                <a:spcPct val="118000"/>
              </a:lnSpc>
              <a:buNone/>
            </a:pPr>
            <a:r>
              <a:rPr lang="en-US" sz="1350" b="1" dirty="0">
                <a:solidFill>
                  <a:srgbClr val="1E2761"/>
                </a:solidFill>
                <a:latin typeface="Meiryo" pitchFamily="34" charset="0"/>
                <a:ea typeface="Meiryo" pitchFamily="34" charset="-122"/>
                <a:cs typeface="Meiryo" pitchFamily="34" charset="-120"/>
              </a:rPr>
              <a:t>Q. 予約システムの残席数と違います</a:t>
            </a:r>
            <a:endParaRPr lang="en-US" sz="1350" dirty="0"/>
          </a:p>
          <a:p>
            <a:pPr algn="l" indent="0" marL="0">
              <a:lnSpc>
                <a:spcPct val="118000"/>
              </a:lnSpc>
              <a:buNone/>
            </a:pPr>
            <a:r>
              <a:rPr lang="en-US" sz="1250" dirty="0">
                <a:solidFill>
                  <a:srgbClr val="1F2937"/>
                </a:solidFill>
                <a:latin typeface="Meiryo" pitchFamily="34" charset="0"/>
                <a:ea typeface="Meiryo" pitchFamily="34" charset="-122"/>
                <a:cs typeface="Meiryo" pitchFamily="34" charset="-120"/>
              </a:rPr>
              <a:t>A. 予約不要の体験には予約システム上の残席がありません。予約が必要な体験は自動表示しますが、人が入力するとそちらが優先されます。</a:t>
            </a:r>
            <a:endParaRPr lang="en-US" sz="1350" dirty="0"/>
          </a:p>
        </p:txBody>
      </p:sp>
      <p:sp>
        <p:nvSpPr>
          <p:cNvPr id="15" name="Shape 13"/>
          <p:cNvSpPr/>
          <p:nvPr/>
        </p:nvSpPr>
        <p:spPr>
          <a:xfrm>
            <a:off x="640080" y="5248656"/>
            <a:ext cx="10927080" cy="877824"/>
          </a:xfrm>
          <a:prstGeom prst="roundRect">
            <a:avLst>
              <a:gd name="adj" fmla="val 6250"/>
            </a:avLst>
          </a:prstGeom>
          <a:solidFill>
            <a:srgbClr val="F4F7FC"/>
          </a:solidFill>
          <a:ln w="12700">
            <a:solidFill>
              <a:srgbClr val="C7D2E4"/>
            </a:solidFill>
            <a:prstDash val="solid"/>
          </a:ln>
        </p:spPr>
      </p:sp>
      <p:sp>
        <p:nvSpPr>
          <p:cNvPr id="16" name="Text 14"/>
          <p:cNvSpPr txBox="1"/>
          <p:nvPr/>
        </p:nvSpPr>
        <p:spPr>
          <a:xfrm>
            <a:off x="868680" y="5312664"/>
            <a:ext cx="10469880" cy="749808"/>
          </a:xfrm>
          <a:prstGeom prst="rect">
            <a:avLst/>
          </a:prstGeom>
          <a:noFill/>
          <a:ln/>
        </p:spPr>
        <p:txBody>
          <a:bodyPr wrap="square" lIns="0" tIns="0" rIns="0" bIns="0" rtlCol="0" anchor="ctr"/>
          <a:lstStyle/>
          <a:p>
            <a:pPr algn="l" indent="0" marL="0">
              <a:lnSpc>
                <a:spcPct val="118000"/>
              </a:lnSpc>
              <a:buNone/>
            </a:pPr>
            <a:r>
              <a:rPr lang="en-US" sz="1350" b="1" dirty="0">
                <a:solidFill>
                  <a:srgbClr val="1E2761"/>
                </a:solidFill>
                <a:latin typeface="Meiryo" pitchFamily="34" charset="0"/>
                <a:ea typeface="Meiryo" pitchFamily="34" charset="-122"/>
                <a:cs typeface="Meiryo" pitchFamily="34" charset="-120"/>
              </a:rPr>
              <a:t>Q. どの体験にも「回ごとの空き状況」が出ません</a:t>
            </a:r>
            <a:endParaRPr lang="en-US" sz="1350" dirty="0"/>
          </a:p>
          <a:p>
            <a:pPr algn="l" indent="0" marL="0">
              <a:lnSpc>
                <a:spcPct val="118000"/>
              </a:lnSpc>
              <a:buNone/>
            </a:pPr>
            <a:r>
              <a:rPr lang="en-US" sz="1250" dirty="0">
                <a:solidFill>
                  <a:srgbClr val="1F2937"/>
                </a:solidFill>
                <a:latin typeface="Meiryo" pitchFamily="34" charset="0"/>
                <a:ea typeface="Meiryo" pitchFamily="34" charset="-122"/>
                <a:cs typeface="Meiryo" pitchFamily="34" charset="-120"/>
              </a:rPr>
              <a:t>A. その日に開催回が 1 つもない日を開いています。画面上部の案内から、開催回がある日に移動できます。</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1005840" y="228600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困ったときは</a:t>
            </a:r>
            <a:endParaRPr lang="en-US" sz="4000" dirty="0"/>
          </a:p>
        </p:txBody>
      </p:sp>
      <p:sp>
        <p:nvSpPr>
          <p:cNvPr id="3" name="Text 1"/>
          <p:cNvSpPr txBox="1"/>
          <p:nvPr/>
        </p:nvSpPr>
        <p:spPr>
          <a:xfrm>
            <a:off x="1005840" y="3200400"/>
            <a:ext cx="10058400" cy="411480"/>
          </a:xfrm>
          <a:prstGeom prst="rect">
            <a:avLst/>
          </a:prstGeom>
          <a:noFill/>
          <a:ln/>
        </p:spPr>
        <p:txBody>
          <a:bodyPr wrap="square" lIns="0" tIns="0" rIns="0" bIns="0" rtlCol="0" anchor="ctr"/>
          <a:lstStyle/>
          <a:p>
            <a:pPr indent="0" marL="0">
              <a:buNone/>
            </a:pPr>
            <a:r>
              <a:rPr lang="en-US" sz="1800" dirty="0">
                <a:solidFill>
                  <a:srgbClr val="CADCFC"/>
                </a:solidFill>
                <a:latin typeface="Meiryo" pitchFamily="34" charset="0"/>
                <a:ea typeface="Meiryo" pitchFamily="34" charset="-122"/>
                <a:cs typeface="Meiryo" pitchFamily="34" charset="-120"/>
              </a:rPr>
              <a:t>画面のメッセージで解決しない場合は、事務局にご連絡ください。</a:t>
            </a:r>
            <a:endParaRPr lang="en-US" sz="1800" dirty="0"/>
          </a:p>
        </p:txBody>
      </p:sp>
      <p:sp>
        <p:nvSpPr>
          <p:cNvPr id="4" name="Shape 2"/>
          <p:cNvSpPr/>
          <p:nvPr/>
        </p:nvSpPr>
        <p:spPr>
          <a:xfrm>
            <a:off x="1005840" y="3840480"/>
            <a:ext cx="10149840" cy="1234440"/>
          </a:xfrm>
          <a:prstGeom prst="roundRect">
            <a:avLst>
              <a:gd name="adj" fmla="val 7407"/>
            </a:avLst>
          </a:prstGeom>
          <a:solidFill>
            <a:srgbClr val="2A3A7A"/>
          </a:solidFill>
          <a:ln w="12700">
            <a:solidFill>
              <a:srgbClr val="2A3A7A"/>
            </a:solidFill>
            <a:prstDash val="solid"/>
          </a:ln>
        </p:spPr>
      </p:sp>
      <p:sp>
        <p:nvSpPr>
          <p:cNvPr id="5" name="Text 3"/>
          <p:cNvSpPr txBox="1"/>
          <p:nvPr/>
        </p:nvSpPr>
        <p:spPr>
          <a:xfrm>
            <a:off x="1005840" y="3840480"/>
            <a:ext cx="10149840" cy="1234440"/>
          </a:xfrm>
          <a:prstGeom prst="rect">
            <a:avLst/>
          </a:prstGeom>
          <a:noFill/>
          <a:ln/>
        </p:spPr>
        <p:txBody>
          <a:bodyPr wrap="square" rtlCol="0" anchor="ctr"/>
          <a:lstStyle/>
          <a:p>
            <a:pPr algn="ctr" indent="0" marL="0">
              <a:buNone/>
            </a:pPr>
            <a:r>
              <a:rPr lang="en-US" sz="1900" b="1" dirty="0">
                <a:solidFill>
                  <a:srgbClr val="FFFFFF"/>
                </a:solidFill>
                <a:latin typeface="Meiryo" pitchFamily="34" charset="0"/>
                <a:ea typeface="Meiryo" pitchFamily="34" charset="-122"/>
                <a:cs typeface="Meiryo" pitchFamily="34" charset="-120"/>
              </a:rPr>
              <a:t>操作した画面 ／ 押したボタン ／ 表示されたメッセージ ／ おおよその時刻</a:t>
            </a:r>
            <a:endParaRPr lang="en-US" sz="1900" dirty="0"/>
          </a:p>
        </p:txBody>
      </p:sp>
      <p:sp>
        <p:nvSpPr>
          <p:cNvPr id="6" name="Text 4"/>
          <p:cNvSpPr txBox="1"/>
          <p:nvPr/>
        </p:nvSpPr>
        <p:spPr>
          <a:xfrm>
            <a:off x="1005840" y="5212080"/>
            <a:ext cx="10058400" cy="365760"/>
          </a:xfrm>
          <a:prstGeom prst="rect">
            <a:avLst/>
          </a:prstGeom>
          <a:noFill/>
          <a:ln/>
        </p:spPr>
        <p:txBody>
          <a:bodyPr wrap="square" lIns="0" tIns="0" rIns="0" bIns="0" rtlCol="0" anchor="ctr"/>
          <a:lstStyle/>
          <a:p>
            <a:pPr indent="0" marL="0">
              <a:buNone/>
            </a:pPr>
            <a:r>
              <a:rPr lang="en-US" sz="1500" dirty="0">
                <a:solidFill>
                  <a:srgbClr val="CADCFC"/>
                </a:solidFill>
                <a:latin typeface="Meiryo" pitchFamily="34" charset="0"/>
                <a:ea typeface="Meiryo" pitchFamily="34" charset="-122"/>
                <a:cs typeface="Meiryo" pitchFamily="34" charset="-120"/>
              </a:rPr>
              <a:t>をお伝えいただくと、原因を特定しやすくなります。</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当日の空き状況 操作マニュアル</dc:title>
  <dc:subject>PptxGenJS Presentation</dc:subject>
  <dc:creator>体験予約システム</dc:creator>
  <cp:lastModifiedBy>体験予約システム</cp:lastModifiedBy>
  <cp:revision>1</cp:revision>
  <dcterms:created xsi:type="dcterms:W3CDTF">2026-10-11T07:16:08Z</dcterms:created>
  <dcterms:modified xsi:type="dcterms:W3CDTF">2026-10-11T07:16:08Z</dcterms:modified>
</cp:coreProperties>
</file>