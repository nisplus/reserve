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ログインのしかたや画面の基本は、予約システムのマニュアルをご覧ください。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満席になった瞬間の ✕ が、この機能でいちばん価値のある 1 クリックです。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会社担当者には自社の体験プログラムだけが表示されます。90 分以上更新がないものには「⚠ 古い」が付きます。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1005840" y="2011680"/>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Meiryo" pitchFamily="34" charset="0"/>
                <a:ea typeface="Meiryo" pitchFamily="34" charset="-122"/>
                <a:cs typeface="Meiryo" pitchFamily="34" charset="-120"/>
              </a:rPr>
              <a:t>体験予約システム</a:t>
            </a:r>
            <a:endParaRPr lang="en-US" sz="2200" dirty="0"/>
          </a:p>
        </p:txBody>
      </p:sp>
      <p:sp>
        <p:nvSpPr>
          <p:cNvPr id="3" name="Text 1"/>
          <p:cNvSpPr txBox="1"/>
          <p:nvPr/>
        </p:nvSpPr>
        <p:spPr>
          <a:xfrm>
            <a:off x="1005840" y="2560320"/>
            <a:ext cx="10058400" cy="1005840"/>
          </a:xfrm>
          <a:prstGeom prst="rect">
            <a:avLst/>
          </a:prstGeom>
          <a:noFill/>
          <a:ln/>
        </p:spPr>
        <p:txBody>
          <a:bodyPr wrap="square" lIns="0" tIns="0" rIns="0" bIns="0" rtlCol="0" anchor="ctr"/>
          <a:lstStyle/>
          <a:p>
            <a:pPr indent="0" marL="0">
              <a:buNone/>
            </a:pPr>
            <a:r>
              <a:rPr lang="en-US" sz="5400" b="1" dirty="0">
                <a:solidFill>
                  <a:srgbClr val="FFFFFF"/>
                </a:solidFill>
                <a:latin typeface="Meiryo" pitchFamily="34" charset="0"/>
                <a:ea typeface="Meiryo" pitchFamily="34" charset="-122"/>
                <a:cs typeface="Meiryo" pitchFamily="34" charset="-120"/>
              </a:rPr>
              <a:t>当日の空き状況</a:t>
            </a:r>
            <a:endParaRPr lang="en-US" sz="5400" dirty="0"/>
          </a:p>
        </p:txBody>
      </p:sp>
      <p:sp>
        <p:nvSpPr>
          <p:cNvPr id="4" name="Shape 2"/>
          <p:cNvSpPr/>
          <p:nvPr/>
        </p:nvSpPr>
        <p:spPr>
          <a:xfrm>
            <a:off x="1005840" y="3749040"/>
            <a:ext cx="4206240" cy="566928"/>
          </a:xfrm>
          <a:prstGeom prst="roundRect">
            <a:avLst>
              <a:gd name="adj" fmla="val 16129"/>
            </a:avLst>
          </a:prstGeom>
          <a:solidFill>
            <a:srgbClr val="CADCFC"/>
          </a:solidFill>
          <a:ln w="12700">
            <a:solidFill>
              <a:srgbClr val="CADCFC"/>
            </a:solidFill>
            <a:prstDash val="solid"/>
          </a:ln>
        </p:spPr>
      </p:sp>
      <p:sp>
        <p:nvSpPr>
          <p:cNvPr id="5" name="Text 3"/>
          <p:cNvSpPr txBox="1"/>
          <p:nvPr/>
        </p:nvSpPr>
        <p:spPr>
          <a:xfrm>
            <a:off x="1005840" y="3749040"/>
            <a:ext cx="4206240" cy="566928"/>
          </a:xfrm>
          <a:prstGeom prst="rect">
            <a:avLst/>
          </a:prstGeom>
          <a:noFill/>
          <a:ln/>
        </p:spPr>
        <p:txBody>
          <a:bodyPr wrap="square" rtlCol="0" anchor="ctr"/>
          <a:lstStyle/>
          <a:p>
            <a:pPr algn="ctr" indent="0" marL="0">
              <a:buNone/>
            </a:pPr>
            <a:r>
              <a:rPr lang="en-US" sz="1900" b="1" dirty="0">
                <a:solidFill>
                  <a:srgbClr val="1E2761"/>
                </a:solidFill>
                <a:latin typeface="Meiryo" pitchFamily="34" charset="0"/>
                <a:ea typeface="Meiryo" pitchFamily="34" charset="-122"/>
                <a:cs typeface="Meiryo" pitchFamily="34" charset="-120"/>
              </a:rPr>
              <a:t>事務局・会社担当者 共通</a:t>
            </a:r>
            <a:endParaRPr lang="en-US" sz="1900" dirty="0"/>
          </a:p>
        </p:txBody>
      </p:sp>
      <p:sp>
        <p:nvSpPr>
          <p:cNvPr id="6" name="Text 4"/>
          <p:cNvSpPr txBox="1"/>
          <p:nvPr/>
        </p:nvSpPr>
        <p:spPr>
          <a:xfrm>
            <a:off x="1005840" y="4617720"/>
            <a:ext cx="10058400" cy="365760"/>
          </a:xfrm>
          <a:prstGeom prst="rect">
            <a:avLst/>
          </a:prstGeom>
          <a:noFill/>
          <a:ln/>
        </p:spPr>
        <p:txBody>
          <a:bodyPr wrap="square" lIns="0" tIns="0" rIns="0" bIns="0" rtlCol="0" anchor="ctr"/>
          <a:lstStyle/>
          <a:p>
            <a:pPr indent="0" marL="0">
              <a:buNone/>
            </a:pPr>
            <a:r>
              <a:rPr lang="en-US" sz="1400" dirty="0">
                <a:solidFill>
                  <a:srgbClr val="CADCFC"/>
                </a:solidFill>
                <a:latin typeface="Meiryo" pitchFamily="34" charset="0"/>
                <a:ea typeface="Meiryo" pitchFamily="34" charset="-122"/>
                <a:cs typeface="Meiryo" pitchFamily="34" charset="-120"/>
              </a:rPr>
              <a:t>予約システムの操作マニュアルをお読みいただいている前提で書いています ／ 日時はすべて日本時間です</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この機能がある理由</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予約システムは、当日の残数を知りません</a:t>
            </a:r>
            <a:endParaRPr lang="en-US" sz="1400" dirty="0"/>
          </a:p>
        </p:txBody>
      </p:sp>
      <p:sp>
        <p:nvSpPr>
          <p:cNvPr id="8" name="Shape 6"/>
          <p:cNvSpPr/>
          <p:nvPr/>
        </p:nvSpPr>
        <p:spPr>
          <a:xfrm>
            <a:off x="640080" y="1463040"/>
            <a:ext cx="10927080" cy="1371600"/>
          </a:xfrm>
          <a:prstGeom prst="roundRect">
            <a:avLst>
              <a:gd name="adj" fmla="val 5333"/>
            </a:avLst>
          </a:prstGeom>
          <a:solidFill>
            <a:srgbClr val="FEF2F2"/>
          </a:solidFill>
          <a:ln w="12700">
            <a:solidFill>
              <a:srgbClr val="FEF2F2"/>
            </a:solidFill>
            <a:prstDash val="solid"/>
          </a:ln>
        </p:spPr>
      </p:sp>
      <p:sp>
        <p:nvSpPr>
          <p:cNvPr id="9" name="Text 7"/>
          <p:cNvSpPr txBox="1"/>
          <p:nvPr/>
        </p:nvSpPr>
        <p:spPr>
          <a:xfrm>
            <a:off x="841248" y="1572768"/>
            <a:ext cx="10524744" cy="1152144"/>
          </a:xfrm>
          <a:prstGeom prst="rect">
            <a:avLst/>
          </a:prstGeom>
          <a:noFill/>
          <a:ln/>
        </p:spPr>
        <p:txBody>
          <a:bodyPr wrap="square" lIns="0" tIns="0" rIns="0" bIns="0" rtlCol="0" anchor="ctr"/>
          <a:lstStyle/>
          <a:p>
            <a:pPr algn="l" indent="0" marL="0">
              <a:lnSpc>
                <a:spcPct val="125000"/>
              </a:lnSpc>
              <a:buNone/>
            </a:pPr>
            <a:r>
              <a:rPr lang="en-US" sz="1700" b="1" dirty="0">
                <a:solidFill>
                  <a:srgbClr val="B91C1C"/>
                </a:solidFill>
                <a:latin typeface="Meiryo" pitchFamily="34" charset="0"/>
                <a:ea typeface="Meiryo" pitchFamily="34" charset="-122"/>
                <a:cs typeface="Meiryo" pitchFamily="34" charset="-120"/>
              </a:rPr>
              <a:t>当日券は紙でお渡しするため、システムは実際の残数を知りません</a:t>
            </a:r>
            <a:endParaRPr lang="en-US" sz="1700" dirty="0"/>
          </a:p>
          <a:p>
            <a:pPr algn="l" indent="0" marL="0">
              <a:lnSpc>
                <a:spcPct val="125000"/>
              </a:lnSpc>
              <a:buNone/>
            </a:pPr>
            <a:r>
              <a:rPr lang="en-US" sz="1400" dirty="0">
                <a:solidFill>
                  <a:srgbClr val="B91C1C"/>
                </a:solidFill>
                <a:latin typeface="Meiryo" pitchFamily="34" charset="0"/>
                <a:ea typeface="Meiryo" pitchFamily="34" charset="-122"/>
                <a:cs typeface="Meiryo" pitchFamily="34" charset="-120"/>
              </a:rPr>
              <a:t>例: 定員 20 名・予約 12 名の回で、当日券を紙で 8 枚お配りした</a:t>
            </a:r>
            <a:endParaRPr lang="en-US" sz="1700" dirty="0"/>
          </a:p>
          <a:p>
            <a:pPr algn="l" indent="0" marL="0">
              <a:lnSpc>
                <a:spcPct val="125000"/>
              </a:lnSpc>
              <a:buNone/>
            </a:pPr>
            <a:r>
              <a:rPr lang="en-US" sz="1400" dirty="0">
                <a:solidFill>
                  <a:srgbClr val="B91C1C"/>
                </a:solidFill>
                <a:latin typeface="Meiryo" pitchFamily="34" charset="0"/>
                <a:ea typeface="Meiryo" pitchFamily="34" charset="-122"/>
                <a:cs typeface="Meiryo" pitchFamily="34" charset="-120"/>
              </a:rPr>
              <a:t>→ システムは「残り 8 名」と言いますが、実際は満席です</a:t>
            </a:r>
            <a:endParaRPr lang="en-US" sz="1700" dirty="0"/>
          </a:p>
        </p:txBody>
      </p:sp>
      <p:sp>
        <p:nvSpPr>
          <p:cNvPr id="10" name="Shape 8"/>
          <p:cNvSpPr/>
          <p:nvPr/>
        </p:nvSpPr>
        <p:spPr>
          <a:xfrm>
            <a:off x="640080" y="3108960"/>
            <a:ext cx="10927080" cy="822960"/>
          </a:xfrm>
          <a:prstGeom prst="roundRect">
            <a:avLst>
              <a:gd name="adj" fmla="val 6667"/>
            </a:avLst>
          </a:prstGeom>
          <a:solidFill>
            <a:srgbClr val="ECFDF5"/>
          </a:solidFill>
          <a:ln w="12700">
            <a:solidFill>
              <a:srgbClr val="ECFDF5"/>
            </a:solidFill>
            <a:prstDash val="solid"/>
          </a:ln>
        </p:spPr>
      </p:sp>
      <p:sp>
        <p:nvSpPr>
          <p:cNvPr id="11" name="Shape 9"/>
          <p:cNvSpPr/>
          <p:nvPr/>
        </p:nvSpPr>
        <p:spPr>
          <a:xfrm>
            <a:off x="804672" y="3310128"/>
            <a:ext cx="420624" cy="420624"/>
          </a:xfrm>
          <a:prstGeom prst="ellipse">
            <a:avLst/>
          </a:prstGeom>
          <a:solidFill>
            <a:srgbClr val="15803D"/>
          </a:solidFill>
          <a:ln/>
        </p:spPr>
      </p:sp>
      <p:sp>
        <p:nvSpPr>
          <p:cNvPr id="12" name="Text 10"/>
          <p:cNvSpPr txBox="1"/>
          <p:nvPr/>
        </p:nvSpPr>
        <p:spPr>
          <a:xfrm>
            <a:off x="804672" y="331012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3" name="Text 11"/>
          <p:cNvSpPr txBox="1"/>
          <p:nvPr/>
        </p:nvSpPr>
        <p:spPr>
          <a:xfrm>
            <a:off x="1389888" y="3163824"/>
            <a:ext cx="10012680" cy="71323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予約システムの残席数は、いっさい表示しません</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当日の実態と合わないためです。この機能が存在する理由そのものです</a:t>
            </a:r>
            <a:endParaRPr lang="en-US" sz="1500" dirty="0"/>
          </a:p>
        </p:txBody>
      </p:sp>
      <p:sp>
        <p:nvSpPr>
          <p:cNvPr id="14" name="Shape 12"/>
          <p:cNvSpPr/>
          <p:nvPr/>
        </p:nvSpPr>
        <p:spPr>
          <a:xfrm>
            <a:off x="640080" y="4078224"/>
            <a:ext cx="10927080" cy="822960"/>
          </a:xfrm>
          <a:prstGeom prst="roundRect">
            <a:avLst>
              <a:gd name="adj" fmla="val 6667"/>
            </a:avLst>
          </a:prstGeom>
          <a:solidFill>
            <a:srgbClr val="ECFDF5"/>
          </a:solidFill>
          <a:ln w="12700">
            <a:solidFill>
              <a:srgbClr val="ECFDF5"/>
            </a:solidFill>
            <a:prstDash val="solid"/>
          </a:ln>
        </p:spPr>
      </p:sp>
      <p:sp>
        <p:nvSpPr>
          <p:cNvPr id="15" name="Shape 13"/>
          <p:cNvSpPr/>
          <p:nvPr/>
        </p:nvSpPr>
        <p:spPr>
          <a:xfrm>
            <a:off x="804672" y="4279392"/>
            <a:ext cx="420624" cy="420624"/>
          </a:xfrm>
          <a:prstGeom prst="ellipse">
            <a:avLst/>
          </a:prstGeom>
          <a:solidFill>
            <a:srgbClr val="15803D"/>
          </a:solidFill>
          <a:ln/>
        </p:spPr>
      </p:sp>
      <p:sp>
        <p:nvSpPr>
          <p:cNvPr id="16" name="Text 14"/>
          <p:cNvSpPr txBox="1"/>
          <p:nvPr/>
        </p:nvSpPr>
        <p:spPr>
          <a:xfrm>
            <a:off x="804672" y="427939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7" name="Text 15"/>
          <p:cNvSpPr txBox="1"/>
          <p:nvPr/>
        </p:nvSpPr>
        <p:spPr>
          <a:xfrm>
            <a:off x="1389888" y="4133088"/>
            <a:ext cx="10012680" cy="71323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表示されるのは、各社からご連絡いただき、人が入力した内容だけ</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入力されなければ何も出ません。こまめな更新が、そのまま画面の価値になります</a:t>
            </a:r>
            <a:endParaRPr lang="en-US" sz="1500" dirty="0"/>
          </a:p>
        </p:txBody>
      </p:sp>
      <p:sp>
        <p:nvSpPr>
          <p:cNvPr id="18" name="Shape 16"/>
          <p:cNvSpPr/>
          <p:nvPr/>
        </p:nvSpPr>
        <p:spPr>
          <a:xfrm>
            <a:off x="640080" y="5029200"/>
            <a:ext cx="10927080" cy="1005840"/>
          </a:xfrm>
          <a:prstGeom prst="roundRect">
            <a:avLst>
              <a:gd name="adj" fmla="val 7273"/>
            </a:avLst>
          </a:prstGeom>
          <a:solidFill>
            <a:srgbClr val="CADCFC"/>
          </a:solidFill>
          <a:ln w="12700">
            <a:solidFill>
              <a:srgbClr val="CADCFC"/>
            </a:solidFill>
            <a:prstDash val="solid"/>
          </a:ln>
        </p:spPr>
      </p:sp>
      <p:sp>
        <p:nvSpPr>
          <p:cNvPr id="19" name="Text 17"/>
          <p:cNvSpPr txBox="1"/>
          <p:nvPr/>
        </p:nvSpPr>
        <p:spPr>
          <a:xfrm>
            <a:off x="841248" y="5138928"/>
            <a:ext cx="10524744" cy="786384"/>
          </a:xfrm>
          <a:prstGeom prst="rect">
            <a:avLst/>
          </a:prstGeom>
          <a:noFill/>
          <a:ln/>
        </p:spPr>
        <p:txBody>
          <a:bodyPr wrap="square" lIns="0" tIns="0" rIns="0" bIns="0" rtlCol="0" anchor="ctr"/>
          <a:lstStyle/>
          <a:p>
            <a:pPr algn="l" indent="0" marL="0">
              <a:lnSpc>
                <a:spcPct val="125000"/>
              </a:lnSpc>
              <a:buNone/>
            </a:pPr>
            <a:r>
              <a:rPr lang="en-US" sz="1400" b="1" dirty="0">
                <a:solidFill>
                  <a:srgbClr val="1E2761"/>
                </a:solidFill>
                <a:latin typeface="Meiryo" pitchFamily="34" charset="0"/>
                <a:ea typeface="Meiryo" pitchFamily="34" charset="-122"/>
                <a:cs typeface="Meiryo" pitchFamily="34" charset="-120"/>
              </a:rPr>
              <a:t>だからこそ、いちばん困るのは「◎のまま更新が止まること」です。</a:t>
            </a:r>
            <a:endParaRPr lang="en-US" sz="1400" dirty="0"/>
          </a:p>
          <a:p>
            <a:pPr algn="l" indent="0" marL="0">
              <a:lnSpc>
                <a:spcPct val="125000"/>
              </a:lnSpc>
              <a:buNone/>
            </a:pPr>
            <a:r>
              <a:rPr lang="en-US" sz="1400" dirty="0">
                <a:solidFill>
                  <a:srgbClr val="1E2761"/>
                </a:solidFill>
                <a:latin typeface="Meiryo" pitchFamily="34" charset="0"/>
                <a:ea typeface="Meiryo" pitchFamily="34" charset="-122"/>
                <a:cs typeface="Meiryo" pitchFamily="34" charset="-120"/>
              </a:rPr>
              <a:t>来場者が、すでに満席のブースに向かってしまいます。</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2</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2</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記号の意味</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4 つの記号と、整理券の残数</a:t>
            </a:r>
            <a:endParaRPr lang="en-US" sz="1400" dirty="0"/>
          </a:p>
        </p:txBody>
      </p:sp>
      <p:sp>
        <p:nvSpPr>
          <p:cNvPr id="8" name="Shape 6"/>
          <p:cNvSpPr/>
          <p:nvPr/>
        </p:nvSpPr>
        <p:spPr>
          <a:xfrm>
            <a:off x="640080" y="1417320"/>
            <a:ext cx="6766560" cy="731520"/>
          </a:xfrm>
          <a:prstGeom prst="roundRect">
            <a:avLst>
              <a:gd name="adj" fmla="val 7500"/>
            </a:avLst>
          </a:prstGeom>
          <a:solidFill>
            <a:srgbClr val="F4F7FC"/>
          </a:solidFill>
          <a:ln w="12700">
            <a:solidFill>
              <a:srgbClr val="C7D2E4"/>
            </a:solidFill>
            <a:prstDash val="solid"/>
          </a:ln>
        </p:spPr>
      </p:sp>
      <p:sp>
        <p:nvSpPr>
          <p:cNvPr id="9" name="Shape 7"/>
          <p:cNvSpPr/>
          <p:nvPr/>
        </p:nvSpPr>
        <p:spPr>
          <a:xfrm>
            <a:off x="804672" y="1572768"/>
            <a:ext cx="420624" cy="420624"/>
          </a:xfrm>
          <a:prstGeom prst="ellipse">
            <a:avLst/>
          </a:prstGeom>
          <a:solidFill>
            <a:srgbClr val="15803D"/>
          </a:solidFill>
          <a:ln/>
        </p:spPr>
      </p:sp>
      <p:sp>
        <p:nvSpPr>
          <p:cNvPr id="10" name="Text 8"/>
          <p:cNvSpPr txBox="1"/>
          <p:nvPr/>
        </p:nvSpPr>
        <p:spPr>
          <a:xfrm>
            <a:off x="804672" y="157276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1" name="Text 9"/>
          <p:cNvSpPr txBox="1"/>
          <p:nvPr/>
        </p:nvSpPr>
        <p:spPr>
          <a:xfrm>
            <a:off x="1389888" y="1472184"/>
            <a:ext cx="5852160" cy="62179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今すぐ参加できます</a:t>
            </a:r>
            <a:endParaRPr lang="en-US" sz="1500" dirty="0"/>
          </a:p>
        </p:txBody>
      </p:sp>
      <p:sp>
        <p:nvSpPr>
          <p:cNvPr id="12" name="Shape 10"/>
          <p:cNvSpPr/>
          <p:nvPr/>
        </p:nvSpPr>
        <p:spPr>
          <a:xfrm>
            <a:off x="640080" y="2258568"/>
            <a:ext cx="6766560" cy="731520"/>
          </a:xfrm>
          <a:prstGeom prst="roundRect">
            <a:avLst>
              <a:gd name="adj" fmla="val 7500"/>
            </a:avLst>
          </a:prstGeom>
          <a:solidFill>
            <a:srgbClr val="F4F7FC"/>
          </a:solidFill>
          <a:ln w="12700">
            <a:solidFill>
              <a:srgbClr val="C7D2E4"/>
            </a:solidFill>
            <a:prstDash val="solid"/>
          </a:ln>
        </p:spPr>
      </p:sp>
      <p:sp>
        <p:nvSpPr>
          <p:cNvPr id="13" name="Shape 11"/>
          <p:cNvSpPr/>
          <p:nvPr/>
        </p:nvSpPr>
        <p:spPr>
          <a:xfrm>
            <a:off x="804672" y="2414016"/>
            <a:ext cx="420624" cy="420624"/>
          </a:xfrm>
          <a:prstGeom prst="ellipse">
            <a:avLst/>
          </a:prstGeom>
          <a:solidFill>
            <a:srgbClr val="0369A1"/>
          </a:solidFill>
          <a:ln/>
        </p:spPr>
      </p:sp>
      <p:sp>
        <p:nvSpPr>
          <p:cNvPr id="14" name="Text 12"/>
          <p:cNvSpPr txBox="1"/>
          <p:nvPr/>
        </p:nvSpPr>
        <p:spPr>
          <a:xfrm>
            <a:off x="804672" y="2414016"/>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5" name="Text 13"/>
          <p:cNvSpPr txBox="1"/>
          <p:nvPr/>
        </p:nvSpPr>
        <p:spPr>
          <a:xfrm>
            <a:off x="1389888" y="2313432"/>
            <a:ext cx="5852160" cy="62179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残席にゆとりがあります</a:t>
            </a:r>
            <a:endParaRPr lang="en-US" sz="1500" dirty="0"/>
          </a:p>
        </p:txBody>
      </p:sp>
      <p:sp>
        <p:nvSpPr>
          <p:cNvPr id="16" name="Shape 14"/>
          <p:cNvSpPr/>
          <p:nvPr/>
        </p:nvSpPr>
        <p:spPr>
          <a:xfrm>
            <a:off x="640080" y="3099816"/>
            <a:ext cx="6766560" cy="731520"/>
          </a:xfrm>
          <a:prstGeom prst="roundRect">
            <a:avLst>
              <a:gd name="adj" fmla="val 7500"/>
            </a:avLst>
          </a:prstGeom>
          <a:solidFill>
            <a:srgbClr val="F4F7FC"/>
          </a:solidFill>
          <a:ln w="12700">
            <a:solidFill>
              <a:srgbClr val="C7D2E4"/>
            </a:solidFill>
            <a:prstDash val="solid"/>
          </a:ln>
        </p:spPr>
      </p:sp>
      <p:sp>
        <p:nvSpPr>
          <p:cNvPr id="17" name="Shape 15"/>
          <p:cNvSpPr/>
          <p:nvPr/>
        </p:nvSpPr>
        <p:spPr>
          <a:xfrm>
            <a:off x="804672" y="3255264"/>
            <a:ext cx="420624" cy="420624"/>
          </a:xfrm>
          <a:prstGeom prst="ellipse">
            <a:avLst/>
          </a:prstGeom>
          <a:solidFill>
            <a:srgbClr val="B26A00"/>
          </a:solidFill>
          <a:ln/>
        </p:spPr>
      </p:sp>
      <p:sp>
        <p:nvSpPr>
          <p:cNvPr id="18" name="Text 16"/>
          <p:cNvSpPr txBox="1"/>
          <p:nvPr/>
        </p:nvSpPr>
        <p:spPr>
          <a:xfrm>
            <a:off x="804672" y="325526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9" name="Text 17"/>
          <p:cNvSpPr txBox="1"/>
          <p:nvPr/>
        </p:nvSpPr>
        <p:spPr>
          <a:xfrm>
            <a:off x="1389888" y="3154680"/>
            <a:ext cx="5852160" cy="62179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残数わずか</a:t>
            </a:r>
            <a:endParaRPr lang="en-US" sz="1500" dirty="0"/>
          </a:p>
        </p:txBody>
      </p:sp>
      <p:sp>
        <p:nvSpPr>
          <p:cNvPr id="20" name="Shape 18"/>
          <p:cNvSpPr/>
          <p:nvPr/>
        </p:nvSpPr>
        <p:spPr>
          <a:xfrm>
            <a:off x="640080" y="3941064"/>
            <a:ext cx="6766560" cy="731520"/>
          </a:xfrm>
          <a:prstGeom prst="roundRect">
            <a:avLst>
              <a:gd name="adj" fmla="val 7500"/>
            </a:avLst>
          </a:prstGeom>
          <a:solidFill>
            <a:srgbClr val="F4F7FC"/>
          </a:solidFill>
          <a:ln w="12700">
            <a:solidFill>
              <a:srgbClr val="C7D2E4"/>
            </a:solidFill>
            <a:prstDash val="solid"/>
          </a:ln>
        </p:spPr>
      </p:sp>
      <p:sp>
        <p:nvSpPr>
          <p:cNvPr id="21" name="Shape 19"/>
          <p:cNvSpPr/>
          <p:nvPr/>
        </p:nvSpPr>
        <p:spPr>
          <a:xfrm>
            <a:off x="804672" y="4096512"/>
            <a:ext cx="420624" cy="420624"/>
          </a:xfrm>
          <a:prstGeom prst="ellipse">
            <a:avLst/>
          </a:prstGeom>
          <a:solidFill>
            <a:srgbClr val="B91C1C"/>
          </a:solidFill>
          <a:ln/>
        </p:spPr>
      </p:sp>
      <p:sp>
        <p:nvSpPr>
          <p:cNvPr id="22" name="Text 20"/>
          <p:cNvSpPr txBox="1"/>
          <p:nvPr/>
        </p:nvSpPr>
        <p:spPr>
          <a:xfrm>
            <a:off x="804672" y="409651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23" name="Text 21"/>
          <p:cNvSpPr txBox="1"/>
          <p:nvPr/>
        </p:nvSpPr>
        <p:spPr>
          <a:xfrm>
            <a:off x="1389888" y="3995928"/>
            <a:ext cx="5852160" cy="62179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残数なし</a:t>
            </a:r>
            <a:endParaRPr lang="en-US" sz="1500" dirty="0"/>
          </a:p>
        </p:txBody>
      </p:sp>
      <p:sp>
        <p:nvSpPr>
          <p:cNvPr id="24" name="Shape 22"/>
          <p:cNvSpPr/>
          <p:nvPr/>
        </p:nvSpPr>
        <p:spPr>
          <a:xfrm>
            <a:off x="7635240" y="1417320"/>
            <a:ext cx="3931920" cy="1600200"/>
          </a:xfrm>
          <a:prstGeom prst="roundRect">
            <a:avLst>
              <a:gd name="adj" fmla="val 4571"/>
            </a:avLst>
          </a:prstGeom>
          <a:solidFill>
            <a:srgbClr val="CADCFC"/>
          </a:solidFill>
          <a:ln w="12700">
            <a:solidFill>
              <a:srgbClr val="CADCFC"/>
            </a:solidFill>
            <a:prstDash val="solid"/>
          </a:ln>
        </p:spPr>
      </p:sp>
      <p:sp>
        <p:nvSpPr>
          <p:cNvPr id="25" name="Text 23"/>
          <p:cNvSpPr txBox="1"/>
          <p:nvPr/>
        </p:nvSpPr>
        <p:spPr>
          <a:xfrm>
            <a:off x="7836408" y="1527048"/>
            <a:ext cx="3529584" cy="138074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整理券の残数（任意）</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一緒に登録できます。</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 残数わずか（残り 6 枚）」</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のように併記されます。</a:t>
            </a:r>
            <a:endParaRPr lang="en-US" sz="1500" dirty="0"/>
          </a:p>
        </p:txBody>
      </p:sp>
      <p:sp>
        <p:nvSpPr>
          <p:cNvPr id="26" name="Shape 24"/>
          <p:cNvSpPr/>
          <p:nvPr/>
        </p:nvSpPr>
        <p:spPr>
          <a:xfrm>
            <a:off x="7635240" y="3154680"/>
            <a:ext cx="3931920" cy="1600200"/>
          </a:xfrm>
          <a:prstGeom prst="roundRect">
            <a:avLst>
              <a:gd name="adj" fmla="val 4571"/>
            </a:avLst>
          </a:prstGeom>
          <a:solidFill>
            <a:srgbClr val="ECFDF5"/>
          </a:solidFill>
          <a:ln w="12700">
            <a:solidFill>
              <a:srgbClr val="ECFDF5"/>
            </a:solidFill>
            <a:prstDash val="solid"/>
          </a:ln>
        </p:spPr>
      </p:sp>
      <p:sp>
        <p:nvSpPr>
          <p:cNvPr id="27" name="Text 25"/>
          <p:cNvSpPr txBox="1"/>
          <p:nvPr/>
        </p:nvSpPr>
        <p:spPr>
          <a:xfrm>
            <a:off x="7836408" y="3264408"/>
            <a:ext cx="3529584" cy="138074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記号が主、数字が従</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残数は登録した直後に</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変わることがありますが、</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 や ✕ はしばらく正しいまま。</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迷ったら記号だけで結構です。</a:t>
            </a:r>
            <a:endParaRPr lang="en-US" sz="1500" dirty="0"/>
          </a:p>
        </p:txBody>
      </p:sp>
      <p:sp>
        <p:nvSpPr>
          <p:cNvPr id="28" name="Shape 26"/>
          <p:cNvSpPr/>
          <p:nvPr/>
        </p:nvSpPr>
        <p:spPr>
          <a:xfrm>
            <a:off x="640080" y="4892040"/>
            <a:ext cx="10927080" cy="914400"/>
          </a:xfrm>
          <a:prstGeom prst="roundRect">
            <a:avLst>
              <a:gd name="adj" fmla="val 8000"/>
            </a:avLst>
          </a:prstGeom>
          <a:solidFill>
            <a:srgbClr val="FDF3E3"/>
          </a:solidFill>
          <a:ln w="12700">
            <a:solidFill>
              <a:srgbClr val="FDF3E3"/>
            </a:solidFill>
            <a:prstDash val="solid"/>
          </a:ln>
        </p:spPr>
      </p:sp>
      <p:sp>
        <p:nvSpPr>
          <p:cNvPr id="29" name="Text 27"/>
          <p:cNvSpPr txBox="1"/>
          <p:nvPr/>
        </p:nvSpPr>
        <p:spPr>
          <a:xfrm>
            <a:off x="841248" y="5001768"/>
            <a:ext cx="10524744" cy="694944"/>
          </a:xfrm>
          <a:prstGeom prst="rect">
            <a:avLst/>
          </a:prstGeom>
          <a:noFill/>
          <a:ln/>
        </p:spPr>
        <p:txBody>
          <a:bodyPr wrap="square" lIns="0" tIns="0" rIns="0" bIns="0" rtlCol="0" anchor="ctr"/>
          <a:lstStyle/>
          <a:p>
            <a:pPr algn="l" indent="0" marL="0">
              <a:lnSpc>
                <a:spcPct val="125000"/>
              </a:lnSpc>
              <a:buNone/>
            </a:pPr>
            <a:r>
              <a:rPr lang="en-US" sz="1400" b="1" dirty="0">
                <a:solidFill>
                  <a:srgbClr val="B26A00"/>
                </a:solidFill>
                <a:latin typeface="Meiryo" pitchFamily="34" charset="0"/>
                <a:ea typeface="Meiryo" pitchFamily="34" charset="-122"/>
                <a:cs typeface="Meiryo" pitchFamily="34" charset="-120"/>
              </a:rPr>
              <a:t>残数に 0 を入れると、記号は自動的に ✕ になります。</a:t>
            </a:r>
            <a:endParaRPr lang="en-US" sz="1400" dirty="0"/>
          </a:p>
          <a:p>
            <a:pPr algn="l" indent="0" marL="0">
              <a:lnSpc>
                <a:spcPct val="125000"/>
              </a:lnSpc>
              <a:buNone/>
            </a:pPr>
            <a:r>
              <a:rPr lang="en-US" sz="1400" dirty="0">
                <a:solidFill>
                  <a:srgbClr val="B26A00"/>
                </a:solidFill>
                <a:latin typeface="Meiryo" pitchFamily="34" charset="0"/>
                <a:ea typeface="Meiryo" pitchFamily="34" charset="-122"/>
                <a:cs typeface="Meiryo" pitchFamily="34" charset="-120"/>
              </a:rPr>
              <a:t>「◎なのに残り 0 枚」という矛盾が画面に出ないようにするためです。</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3</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3</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登録する ① 今の状況</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チャットで「今は◎です」と届いたとき。管理画面の「空き状況」</a:t>
            </a:r>
            <a:endParaRPr lang="en-US" sz="1400" dirty="0"/>
          </a:p>
        </p:txBody>
      </p:sp>
      <p:pic>
        <p:nvPicPr>
          <p:cNvPr id="8" name="Image 0" descr="C:\Users\sato\AppData\Local\Temp\claude\c--Users-sato-Desktop---3---3\c0abf194-6a09-42ac-bc16-2cd244740c64\scratchpad\deck\img\v-quick.png">    </p:cNvPr>
          <p:cNvPicPr>
            <a:picLocks noChangeAspect="1"/>
          </p:cNvPicPr>
          <p:nvPr/>
        </p:nvPicPr>
        <p:blipFill>
          <a:blip r:embed="rId1"/>
          <a:stretch>
            <a:fillRect/>
          </a:stretch>
        </p:blipFill>
        <p:spPr>
          <a:xfrm>
            <a:off x="2046469" y="1325880"/>
            <a:ext cx="8098757" cy="2697480"/>
          </a:xfrm>
          <a:prstGeom prst="rect">
            <a:avLst/>
          </a:prstGeom>
        </p:spPr>
      </p:pic>
      <p:sp>
        <p:nvSpPr>
          <p:cNvPr id="9" name="Shape 6"/>
          <p:cNvSpPr/>
          <p:nvPr/>
        </p:nvSpPr>
        <p:spPr>
          <a:xfrm>
            <a:off x="640080" y="4297680"/>
            <a:ext cx="10927080" cy="594360"/>
          </a:xfrm>
          <a:prstGeom prst="roundRect">
            <a:avLst>
              <a:gd name="adj" fmla="val 9231"/>
            </a:avLst>
          </a:prstGeom>
          <a:solidFill>
            <a:srgbClr val="F4F7FC"/>
          </a:solidFill>
          <a:ln w="12700">
            <a:solidFill>
              <a:srgbClr val="C7D2E4"/>
            </a:solidFill>
            <a:prstDash val="solid"/>
          </a:ln>
        </p:spPr>
      </p:sp>
      <p:sp>
        <p:nvSpPr>
          <p:cNvPr id="10" name="Shape 7"/>
          <p:cNvSpPr/>
          <p:nvPr/>
        </p:nvSpPr>
        <p:spPr>
          <a:xfrm>
            <a:off x="804672" y="4384548"/>
            <a:ext cx="420624" cy="420624"/>
          </a:xfrm>
          <a:prstGeom prst="ellipse">
            <a:avLst/>
          </a:prstGeom>
          <a:solidFill>
            <a:srgbClr val="1E2761"/>
          </a:solidFill>
          <a:ln/>
        </p:spPr>
      </p:sp>
      <p:sp>
        <p:nvSpPr>
          <p:cNvPr id="11" name="Text 8"/>
          <p:cNvSpPr txBox="1"/>
          <p:nvPr/>
        </p:nvSpPr>
        <p:spPr>
          <a:xfrm>
            <a:off x="804672" y="438454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12" name="Text 9"/>
          <p:cNvSpPr txBox="1"/>
          <p:nvPr/>
        </p:nvSpPr>
        <p:spPr>
          <a:xfrm>
            <a:off x="1389888" y="4352544"/>
            <a:ext cx="10012680" cy="48463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記号を押すと、その場で登録されます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残数も入れる場合は、記号を押す前に「残数」欄に数字を入れてください</a:t>
            </a:r>
            <a:endParaRPr lang="en-US" sz="1500" dirty="0"/>
          </a:p>
        </p:txBody>
      </p:sp>
      <p:sp>
        <p:nvSpPr>
          <p:cNvPr id="13" name="Shape 10"/>
          <p:cNvSpPr/>
          <p:nvPr/>
        </p:nvSpPr>
        <p:spPr>
          <a:xfrm>
            <a:off x="640080" y="4983480"/>
            <a:ext cx="10927080" cy="594360"/>
          </a:xfrm>
          <a:prstGeom prst="roundRect">
            <a:avLst>
              <a:gd name="adj" fmla="val 9231"/>
            </a:avLst>
          </a:prstGeom>
          <a:solidFill>
            <a:srgbClr val="F4F7FC"/>
          </a:solidFill>
          <a:ln w="12700">
            <a:solidFill>
              <a:srgbClr val="C7D2E4"/>
            </a:solidFill>
            <a:prstDash val="solid"/>
          </a:ln>
        </p:spPr>
      </p:sp>
      <p:sp>
        <p:nvSpPr>
          <p:cNvPr id="14" name="Shape 11"/>
          <p:cNvSpPr/>
          <p:nvPr/>
        </p:nvSpPr>
        <p:spPr>
          <a:xfrm>
            <a:off x="804672" y="5070348"/>
            <a:ext cx="420624" cy="420624"/>
          </a:xfrm>
          <a:prstGeom prst="ellipse">
            <a:avLst/>
          </a:prstGeom>
          <a:solidFill>
            <a:srgbClr val="1E2761"/>
          </a:solidFill>
          <a:ln/>
        </p:spPr>
      </p:sp>
      <p:sp>
        <p:nvSpPr>
          <p:cNvPr id="15" name="Text 12"/>
          <p:cNvSpPr txBox="1"/>
          <p:nvPr/>
        </p:nvSpPr>
        <p:spPr>
          <a:xfrm>
            <a:off x="804672" y="507034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6" name="Text 13"/>
          <p:cNvSpPr txBox="1"/>
          <p:nvPr/>
        </p:nvSpPr>
        <p:spPr>
          <a:xfrm>
            <a:off x="1389888" y="5038344"/>
            <a:ext cx="10012680" cy="48463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確認のポップアップは出ません</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何度も押すものなので、毎回確認を求めると押されなくなるためです</a:t>
            </a:r>
            <a:endParaRPr lang="en-US" sz="1500" dirty="0"/>
          </a:p>
        </p:txBody>
      </p:sp>
      <p:sp>
        <p:nvSpPr>
          <p:cNvPr id="17" name="Shape 14"/>
          <p:cNvSpPr/>
          <p:nvPr/>
        </p:nvSpPr>
        <p:spPr>
          <a:xfrm>
            <a:off x="640080" y="5669280"/>
            <a:ext cx="10927080" cy="594360"/>
          </a:xfrm>
          <a:prstGeom prst="roundRect">
            <a:avLst>
              <a:gd name="adj" fmla="val 9231"/>
            </a:avLst>
          </a:prstGeom>
          <a:solidFill>
            <a:srgbClr val="ECFDF5"/>
          </a:solidFill>
          <a:ln w="12700">
            <a:solidFill>
              <a:srgbClr val="ECFDF5"/>
            </a:solidFill>
            <a:prstDash val="solid"/>
          </a:ln>
        </p:spPr>
      </p:sp>
      <p:sp>
        <p:nvSpPr>
          <p:cNvPr id="18" name="Shape 15"/>
          <p:cNvSpPr/>
          <p:nvPr/>
        </p:nvSpPr>
        <p:spPr>
          <a:xfrm>
            <a:off x="804672" y="5756148"/>
            <a:ext cx="420624" cy="420624"/>
          </a:xfrm>
          <a:prstGeom prst="ellipse">
            <a:avLst/>
          </a:prstGeom>
          <a:solidFill>
            <a:srgbClr val="15803D"/>
          </a:solidFill>
          <a:ln/>
        </p:spPr>
      </p:sp>
      <p:sp>
        <p:nvSpPr>
          <p:cNvPr id="19" name="Text 16"/>
          <p:cNvSpPr txBox="1"/>
          <p:nvPr/>
        </p:nvSpPr>
        <p:spPr>
          <a:xfrm>
            <a:off x="804672" y="575614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20" name="Text 17"/>
          <p:cNvSpPr txBox="1"/>
          <p:nvPr/>
        </p:nvSpPr>
        <p:spPr>
          <a:xfrm>
            <a:off x="1389888" y="5724144"/>
            <a:ext cx="10012680" cy="48463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押し間違えても、正しい記号を押し直せば大丈夫</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いちばん新しい登録が優先されます。取り消しの操作は要りません</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4</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4</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登録する ② 開催回ごと</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整理券の状況を貼った開催回一覧表の写真が届いたとき</a:t>
            </a:r>
            <a:endParaRPr lang="en-US" sz="1400" dirty="0"/>
          </a:p>
        </p:txBody>
      </p:sp>
      <p:pic>
        <p:nvPicPr>
          <p:cNvPr id="8" name="Image 0" descr="C:\Users\sato\AppData\Local\Temp\claude\c--Users-sato-Desktop---3---3\c0abf194-6a09-42ac-bc16-2cd244740c64\scratchpad\deck\img\v-transcribe.png">    </p:cNvPr>
          <p:cNvPicPr>
            <a:picLocks noChangeAspect="1"/>
          </p:cNvPicPr>
          <p:nvPr/>
        </p:nvPicPr>
        <p:blipFill>
          <a:blip r:embed="rId1"/>
          <a:stretch>
            <a:fillRect/>
          </a:stretch>
        </p:blipFill>
        <p:spPr>
          <a:xfrm>
            <a:off x="1689856" y="1325880"/>
            <a:ext cx="8811983" cy="3017520"/>
          </a:xfrm>
          <a:prstGeom prst="rect">
            <a:avLst/>
          </a:prstGeom>
        </p:spPr>
      </p:pic>
      <p:sp>
        <p:nvSpPr>
          <p:cNvPr id="9" name="Shape 6"/>
          <p:cNvSpPr/>
          <p:nvPr/>
        </p:nvSpPr>
        <p:spPr>
          <a:xfrm>
            <a:off x="640080" y="4526280"/>
            <a:ext cx="10927080" cy="640080"/>
          </a:xfrm>
          <a:prstGeom prst="roundRect">
            <a:avLst>
              <a:gd name="adj" fmla="val 8571"/>
            </a:avLst>
          </a:prstGeom>
          <a:solidFill>
            <a:srgbClr val="F4F7FC"/>
          </a:solidFill>
          <a:ln w="12700">
            <a:solidFill>
              <a:srgbClr val="C7D2E4"/>
            </a:solidFill>
            <a:prstDash val="solid"/>
          </a:ln>
        </p:spPr>
      </p:sp>
      <p:sp>
        <p:nvSpPr>
          <p:cNvPr id="10" name="Shape 7"/>
          <p:cNvSpPr/>
          <p:nvPr/>
        </p:nvSpPr>
        <p:spPr>
          <a:xfrm>
            <a:off x="804672" y="4636008"/>
            <a:ext cx="420624" cy="420624"/>
          </a:xfrm>
          <a:prstGeom prst="ellipse">
            <a:avLst/>
          </a:prstGeom>
          <a:solidFill>
            <a:srgbClr val="1E2761"/>
          </a:solidFill>
          <a:ln/>
        </p:spPr>
      </p:sp>
      <p:sp>
        <p:nvSpPr>
          <p:cNvPr id="11" name="Text 8"/>
          <p:cNvSpPr txBox="1"/>
          <p:nvPr/>
        </p:nvSpPr>
        <p:spPr>
          <a:xfrm>
            <a:off x="804672" y="463600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12" name="Text 9"/>
          <p:cNvSpPr txBox="1"/>
          <p:nvPr/>
        </p:nvSpPr>
        <p:spPr>
          <a:xfrm>
            <a:off x="1389888" y="4581144"/>
            <a:ext cx="10012680" cy="53035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並びは開催時刻順。紙の一覧表と同じ順序です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上から順に写していけます。転記ミスは、紙と画面で順番が違うときにいちばん起きます</a:t>
            </a:r>
            <a:endParaRPr lang="en-US" sz="1500" dirty="0"/>
          </a:p>
        </p:txBody>
      </p:sp>
      <p:sp>
        <p:nvSpPr>
          <p:cNvPr id="13" name="Shape 10"/>
          <p:cNvSpPr/>
          <p:nvPr/>
        </p:nvSpPr>
        <p:spPr>
          <a:xfrm>
            <a:off x="640080" y="5257800"/>
            <a:ext cx="10927080" cy="640080"/>
          </a:xfrm>
          <a:prstGeom prst="roundRect">
            <a:avLst>
              <a:gd name="adj" fmla="val 8571"/>
            </a:avLst>
          </a:prstGeom>
          <a:solidFill>
            <a:srgbClr val="FDF3E3"/>
          </a:solidFill>
          <a:ln w="12700">
            <a:solidFill>
              <a:srgbClr val="FDF3E3"/>
            </a:solidFill>
            <a:prstDash val="solid"/>
          </a:ln>
        </p:spPr>
      </p:sp>
      <p:sp>
        <p:nvSpPr>
          <p:cNvPr id="14" name="Shape 11"/>
          <p:cNvSpPr/>
          <p:nvPr/>
        </p:nvSpPr>
        <p:spPr>
          <a:xfrm>
            <a:off x="804672" y="5367528"/>
            <a:ext cx="420624" cy="420624"/>
          </a:xfrm>
          <a:prstGeom prst="ellipse">
            <a:avLst/>
          </a:prstGeom>
          <a:solidFill>
            <a:srgbClr val="B26A00"/>
          </a:solidFill>
          <a:ln/>
        </p:spPr>
      </p:sp>
      <p:sp>
        <p:nvSpPr>
          <p:cNvPr id="15" name="Text 12"/>
          <p:cNvSpPr txBox="1"/>
          <p:nvPr/>
        </p:nvSpPr>
        <p:spPr>
          <a:xfrm>
            <a:off x="804672" y="536752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6" name="Text 13"/>
          <p:cNvSpPr txBox="1"/>
          <p:nvPr/>
        </p:nvSpPr>
        <p:spPr>
          <a:xfrm>
            <a:off x="1389888" y="5312664"/>
            <a:ext cx="10012680" cy="53035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記号を選んでいない行は登録されません</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写真に写っていない回は「（登録しない）」のままにしてください</a:t>
            </a:r>
            <a:endParaRPr lang="en-US" sz="1500" dirty="0"/>
          </a:p>
        </p:txBody>
      </p:sp>
      <p:sp>
        <p:nvSpPr>
          <p:cNvPr id="17" name="Shape 14"/>
          <p:cNvSpPr/>
          <p:nvPr/>
        </p:nvSpPr>
        <p:spPr>
          <a:xfrm>
            <a:off x="640080" y="5943600"/>
            <a:ext cx="10927080" cy="438912"/>
          </a:xfrm>
          <a:prstGeom prst="roundRect">
            <a:avLst>
              <a:gd name="adj" fmla="val 16667"/>
            </a:avLst>
          </a:prstGeom>
          <a:solidFill>
            <a:srgbClr val="CADCFC"/>
          </a:solidFill>
          <a:ln w="12700">
            <a:solidFill>
              <a:srgbClr val="CADCFC"/>
            </a:solidFill>
            <a:prstDash val="solid"/>
          </a:ln>
        </p:spPr>
      </p:sp>
      <p:sp>
        <p:nvSpPr>
          <p:cNvPr id="18" name="Text 15"/>
          <p:cNvSpPr txBox="1"/>
          <p:nvPr/>
        </p:nvSpPr>
        <p:spPr>
          <a:xfrm>
            <a:off x="841248" y="6053328"/>
            <a:ext cx="10524744" cy="219456"/>
          </a:xfrm>
          <a:prstGeom prst="rect">
            <a:avLst/>
          </a:prstGeom>
          <a:noFill/>
          <a:ln/>
        </p:spPr>
        <p:txBody>
          <a:bodyPr wrap="square" lIns="0" tIns="0" rIns="0" bIns="0" rtlCol="0" anchor="ctr"/>
          <a:lstStyle/>
          <a:p>
            <a:pPr algn="l" indent="0" marL="0">
              <a:lnSpc>
                <a:spcPct val="125000"/>
              </a:lnSpc>
              <a:buNone/>
            </a:pPr>
            <a:r>
              <a:rPr lang="en-US" sz="1250" b="1" dirty="0">
                <a:solidFill>
                  <a:srgbClr val="1E2761"/>
                </a:solidFill>
                <a:latin typeface="Meiryo" pitchFamily="34" charset="0"/>
                <a:ea typeface="Meiryo" pitchFamily="34" charset="-122"/>
                <a:cs typeface="Meiryo" pitchFamily="34" charset="-120"/>
              </a:rPr>
              <a:t>「（登録しない）」のままにした行は、前の内容がそのまま残ります。消えるわけではありません。</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5</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5</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来場者に見えている画面</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（サイトのURL）/vacancy　ログイン不要・60 秒ごとに自動更新</a:t>
            </a:r>
            <a:endParaRPr lang="en-US" sz="1400" dirty="0"/>
          </a:p>
        </p:txBody>
      </p:sp>
      <p:pic>
        <p:nvPicPr>
          <p:cNvPr id="8" name="Image 0" descr="C:\Users\sato\AppData\Local\Temp\claude\c--Users-sato-Desktop---3---3\c0abf194-6a09-42ac-bc16-2cd244740c64\scratchpad\deck\img\v-public.png">    </p:cNvPr>
          <p:cNvPicPr>
            <a:picLocks noChangeAspect="1"/>
          </p:cNvPicPr>
          <p:nvPr/>
        </p:nvPicPr>
        <p:blipFill>
          <a:blip r:embed="rId1"/>
          <a:stretch>
            <a:fillRect/>
          </a:stretch>
        </p:blipFill>
        <p:spPr>
          <a:xfrm>
            <a:off x="640080" y="1325880"/>
            <a:ext cx="7315200" cy="4290975"/>
          </a:xfrm>
          <a:prstGeom prst="rect">
            <a:avLst/>
          </a:prstGeom>
        </p:spPr>
      </p:pic>
      <p:sp>
        <p:nvSpPr>
          <p:cNvPr id="9" name="Shape 6"/>
          <p:cNvSpPr/>
          <p:nvPr/>
        </p:nvSpPr>
        <p:spPr>
          <a:xfrm>
            <a:off x="8229600" y="1463040"/>
            <a:ext cx="3337560" cy="1371600"/>
          </a:xfrm>
          <a:prstGeom prst="roundRect">
            <a:avLst>
              <a:gd name="adj" fmla="val 5333"/>
            </a:avLst>
          </a:prstGeom>
          <a:solidFill>
            <a:srgbClr val="CADCFC"/>
          </a:solidFill>
          <a:ln w="12700">
            <a:solidFill>
              <a:srgbClr val="CADCFC"/>
            </a:solidFill>
            <a:prstDash val="solid"/>
          </a:ln>
        </p:spPr>
      </p:sp>
      <p:sp>
        <p:nvSpPr>
          <p:cNvPr id="10" name="Text 7"/>
          <p:cNvSpPr txBox="1"/>
          <p:nvPr/>
        </p:nvSpPr>
        <p:spPr>
          <a:xfrm>
            <a:off x="8430768" y="1572768"/>
            <a:ext cx="293522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「—」は未報告です</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「空きがない」という</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意味ではありません。</a:t>
            </a:r>
            <a:endParaRPr lang="en-US" sz="1500" dirty="0"/>
          </a:p>
        </p:txBody>
      </p:sp>
      <p:sp>
        <p:nvSpPr>
          <p:cNvPr id="11" name="Shape 8"/>
          <p:cNvSpPr/>
          <p:nvPr/>
        </p:nvSpPr>
        <p:spPr>
          <a:xfrm>
            <a:off x="8229600" y="3017520"/>
            <a:ext cx="3337560" cy="1600200"/>
          </a:xfrm>
          <a:prstGeom prst="roundRect">
            <a:avLst>
              <a:gd name="adj" fmla="val 4571"/>
            </a:avLst>
          </a:prstGeom>
          <a:solidFill>
            <a:srgbClr val="FDF3E3"/>
          </a:solidFill>
          <a:ln w="12700">
            <a:solidFill>
              <a:srgbClr val="FDF3E3"/>
            </a:solidFill>
            <a:prstDash val="solid"/>
          </a:ln>
        </p:spPr>
      </p:sp>
      <p:sp>
        <p:nvSpPr>
          <p:cNvPr id="12" name="Text 9"/>
          <p:cNvSpPr txBox="1"/>
          <p:nvPr/>
        </p:nvSpPr>
        <p:spPr>
          <a:xfrm>
            <a:off x="8430768" y="3127248"/>
            <a:ext cx="2935224" cy="1380744"/>
          </a:xfrm>
          <a:prstGeom prst="rect">
            <a:avLst/>
          </a:prstGeom>
          <a:noFill/>
          <a:ln/>
        </p:spPr>
        <p:txBody>
          <a:bodyPr wrap="square" lIns="0" tIns="0" rIns="0" bIns="0" rtlCol="0" anchor="ctr"/>
          <a:lstStyle/>
          <a:p>
            <a:pPr algn="l" indent="0" marL="0">
              <a:lnSpc>
                <a:spcPct val="125000"/>
              </a:lnSpc>
              <a:buNone/>
            </a:pPr>
            <a:r>
              <a:rPr lang="en-US" sz="1500" b="1" dirty="0">
                <a:solidFill>
                  <a:srgbClr val="B26A00"/>
                </a:solidFill>
                <a:latin typeface="Meiryo" pitchFamily="34" charset="0"/>
                <a:ea typeface="Meiryo" pitchFamily="34" charset="-122"/>
                <a:cs typeface="Meiryo" pitchFamily="34" charset="-120"/>
              </a:rPr>
              <a:t>90 分で「古い」</a:t>
            </a:r>
            <a:endParaRPr lang="en-US" sz="1500" dirty="0"/>
          </a:p>
          <a:p>
            <a:pPr algn="l" indent="0" marL="0">
              <a:lnSpc>
                <a:spcPct val="125000"/>
              </a:lnSpc>
              <a:buNone/>
            </a:pPr>
            <a:r>
              <a:rPr lang="en-US" sz="1250" dirty="0">
                <a:solidFill>
                  <a:srgbClr val="B26A00"/>
                </a:solidFill>
                <a:latin typeface="Meiryo" pitchFamily="34" charset="0"/>
                <a:ea typeface="Meiryo" pitchFamily="34" charset="-122"/>
                <a:cs typeface="Meiryo" pitchFamily="34" charset="-120"/>
              </a:rPr>
              <a:t>更新がないものには</a:t>
            </a:r>
            <a:endParaRPr lang="en-US" sz="1500" dirty="0"/>
          </a:p>
          <a:p>
            <a:pPr algn="l" indent="0" marL="0">
              <a:lnSpc>
                <a:spcPct val="125000"/>
              </a:lnSpc>
              <a:buNone/>
            </a:pPr>
            <a:r>
              <a:rPr lang="en-US" sz="1250" dirty="0">
                <a:solidFill>
                  <a:srgbClr val="B26A00"/>
                </a:solidFill>
                <a:latin typeface="Meiryo" pitchFamily="34" charset="0"/>
                <a:ea typeface="Meiryo" pitchFamily="34" charset="-122"/>
                <a:cs typeface="Meiryo" pitchFamily="34" charset="-120"/>
              </a:rPr>
              <a:t>「⚠ 情報が古い可能性が</a:t>
            </a:r>
            <a:endParaRPr lang="en-US" sz="1500" dirty="0"/>
          </a:p>
          <a:p>
            <a:pPr algn="l" indent="0" marL="0">
              <a:lnSpc>
                <a:spcPct val="125000"/>
              </a:lnSpc>
              <a:buNone/>
            </a:pPr>
            <a:r>
              <a:rPr lang="en-US" sz="1250" dirty="0">
                <a:solidFill>
                  <a:srgbClr val="B26A00"/>
                </a:solidFill>
                <a:latin typeface="Meiryo" pitchFamily="34" charset="0"/>
                <a:ea typeface="Meiryo" pitchFamily="34" charset="-122"/>
                <a:cs typeface="Meiryo" pitchFamily="34" charset="-120"/>
              </a:rPr>
              <a:t>あります」が付きます。</a:t>
            </a:r>
            <a:endParaRPr lang="en-US" sz="1500" dirty="0"/>
          </a:p>
        </p:txBody>
      </p:sp>
      <p:sp>
        <p:nvSpPr>
          <p:cNvPr id="13" name="Shape 10"/>
          <p:cNvSpPr/>
          <p:nvPr/>
        </p:nvSpPr>
        <p:spPr>
          <a:xfrm>
            <a:off x="8229600" y="4800600"/>
            <a:ext cx="3337560" cy="1143000"/>
          </a:xfrm>
          <a:prstGeom prst="roundRect">
            <a:avLst>
              <a:gd name="adj" fmla="val 6400"/>
            </a:avLst>
          </a:prstGeom>
          <a:solidFill>
            <a:srgbClr val="ECFDF5"/>
          </a:solidFill>
          <a:ln w="12700">
            <a:solidFill>
              <a:srgbClr val="ECFDF5"/>
            </a:solidFill>
            <a:prstDash val="solid"/>
          </a:ln>
        </p:spPr>
      </p:sp>
      <p:sp>
        <p:nvSpPr>
          <p:cNvPr id="14" name="Text 11"/>
          <p:cNvSpPr txBox="1"/>
          <p:nvPr/>
        </p:nvSpPr>
        <p:spPr>
          <a:xfrm>
            <a:off x="8430768" y="4910328"/>
            <a:ext cx="2935224" cy="92354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2 つの見かた</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「いま空いているか」と</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「開催回ごと」をタブで切替</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6</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6</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開催回ごとのビュー</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「15:00 の回はまだ取れるか」に答える画面。終わった回は出ません</a:t>
            </a:r>
            <a:endParaRPr lang="en-US" sz="1400" dirty="0"/>
          </a:p>
        </p:txBody>
      </p:sp>
      <p:pic>
        <p:nvPicPr>
          <p:cNvPr id="8" name="Image 0" descr="C:\Users\sato\AppData\Local\Temp\claude\c--Users-sato-Desktop---3---3\c0abf194-6a09-42ac-bc16-2cd244740c64\scratchpad\deck\img\v-sessions.png">    </p:cNvPr>
          <p:cNvPicPr>
            <a:picLocks noChangeAspect="1"/>
          </p:cNvPicPr>
          <p:nvPr/>
        </p:nvPicPr>
        <p:blipFill>
          <a:blip r:embed="rId1"/>
          <a:stretch>
            <a:fillRect/>
          </a:stretch>
        </p:blipFill>
        <p:spPr>
          <a:xfrm>
            <a:off x="1686902" y="1325880"/>
            <a:ext cx="8817891" cy="3108960"/>
          </a:xfrm>
          <a:prstGeom prst="rect">
            <a:avLst/>
          </a:prstGeom>
        </p:spPr>
      </p:pic>
      <p:sp>
        <p:nvSpPr>
          <p:cNvPr id="9" name="Shape 6"/>
          <p:cNvSpPr/>
          <p:nvPr/>
        </p:nvSpPr>
        <p:spPr>
          <a:xfrm>
            <a:off x="640080" y="4709160"/>
            <a:ext cx="10927080" cy="1371600"/>
          </a:xfrm>
          <a:prstGeom prst="roundRect">
            <a:avLst>
              <a:gd name="adj" fmla="val 5333"/>
            </a:avLst>
          </a:prstGeom>
          <a:solidFill>
            <a:srgbClr val="CADCFC"/>
          </a:solidFill>
          <a:ln w="12700">
            <a:solidFill>
              <a:srgbClr val="CADCFC"/>
            </a:solidFill>
            <a:prstDash val="solid"/>
          </a:ln>
        </p:spPr>
      </p:sp>
      <p:sp>
        <p:nvSpPr>
          <p:cNvPr id="10" name="Text 7"/>
          <p:cNvSpPr txBox="1"/>
          <p:nvPr/>
        </p:nvSpPr>
        <p:spPr>
          <a:xfrm>
            <a:off x="841248" y="4818888"/>
            <a:ext cx="1052474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その回の登録がない場合は、代わりに「現在の状況」が出ます</a:t>
            </a:r>
            <a:endParaRPr lang="en-US" sz="1500" dirty="0"/>
          </a:p>
          <a:p>
            <a:pPr algn="l" indent="0" marL="0">
              <a:lnSpc>
                <a:spcPct val="125000"/>
              </a:lnSpc>
              <a:buNone/>
            </a:pPr>
            <a:r>
              <a:rPr lang="en-US" sz="1350" dirty="0">
                <a:solidFill>
                  <a:srgbClr val="1E2761"/>
                </a:solidFill>
                <a:latin typeface="Meiryo" pitchFamily="34" charset="0"/>
                <a:ea typeface="Meiryo" pitchFamily="34" charset="-122"/>
                <a:cs typeface="Meiryo" pitchFamily="34" charset="-120"/>
              </a:rPr>
              <a:t>組立体験　この回の情報はありません。現在の状況: △ 残数わずか（残り 6 枚）</a:t>
            </a:r>
            <a:endParaRPr lang="en-US" sz="1500" dirty="0"/>
          </a:p>
          <a:p>
            <a:pPr algn="l" indent="0" marL="0">
              <a:lnSpc>
                <a:spcPct val="125000"/>
              </a:lnSpc>
              <a:buNone/>
            </a:pPr>
            <a:r>
              <a:rPr lang="en-US" sz="1350" dirty="0">
                <a:solidFill>
                  <a:srgbClr val="1E2761"/>
                </a:solidFill>
                <a:latin typeface="Meiryo" pitchFamily="34" charset="0"/>
                <a:ea typeface="Meiryo" pitchFamily="34" charset="-122"/>
                <a:cs typeface="Meiryo" pitchFamily="34" charset="-120"/>
              </a:rPr>
              <a:t>回のことは分からなくても、そのブースが今どうなのかは分かるためです。別の情報だと分かるようにラベルを変えています。</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7</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7</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サイネージ（事務局）</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会場のディスプレイに映す。操作は不要です</a:t>
            </a:r>
            <a:endParaRPr lang="en-US" sz="1400" dirty="0"/>
          </a:p>
        </p:txBody>
      </p:sp>
      <p:pic>
        <p:nvPicPr>
          <p:cNvPr id="8" name="Image 0" descr="C:\Users\sato\AppData\Local\Temp\claude\c--Users-sato-Desktop---3---3\c0abf194-6a09-42ac-bc16-2cd244740c64\scratchpad\deck\img\signage.png">    </p:cNvPr>
          <p:cNvPicPr>
            <a:picLocks noChangeAspect="1"/>
          </p:cNvPicPr>
          <p:nvPr/>
        </p:nvPicPr>
        <p:blipFill>
          <a:blip r:embed="rId1"/>
          <a:stretch>
            <a:fillRect/>
          </a:stretch>
        </p:blipFill>
        <p:spPr>
          <a:xfrm>
            <a:off x="640080" y="1325880"/>
            <a:ext cx="6858000" cy="3857625"/>
          </a:xfrm>
          <a:prstGeom prst="rect">
            <a:avLst/>
          </a:prstGeom>
        </p:spPr>
      </p:pic>
      <p:sp>
        <p:nvSpPr>
          <p:cNvPr id="9" name="Shape 6"/>
          <p:cNvSpPr/>
          <p:nvPr/>
        </p:nvSpPr>
        <p:spPr>
          <a:xfrm>
            <a:off x="7772400" y="1417320"/>
            <a:ext cx="3794760" cy="1463040"/>
          </a:xfrm>
          <a:prstGeom prst="roundRect">
            <a:avLst>
              <a:gd name="adj" fmla="val 5000"/>
            </a:avLst>
          </a:prstGeom>
          <a:solidFill>
            <a:srgbClr val="CADCFC"/>
          </a:solidFill>
          <a:ln w="12700">
            <a:solidFill>
              <a:srgbClr val="CADCFC"/>
            </a:solidFill>
            <a:prstDash val="solid"/>
          </a:ln>
        </p:spPr>
      </p:sp>
      <p:sp>
        <p:nvSpPr>
          <p:cNvPr id="10" name="Text 7"/>
          <p:cNvSpPr txBox="1"/>
          <p:nvPr/>
        </p:nvSpPr>
        <p:spPr>
          <a:xfrm>
            <a:off x="7973568" y="1527048"/>
            <a:ext cx="3392424" cy="124358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映しかた</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ブラウザを全画面にして</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（サイトのURL）/vacancy</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?display=signage を開くだけ</a:t>
            </a:r>
            <a:endParaRPr lang="en-US" sz="1500" dirty="0"/>
          </a:p>
        </p:txBody>
      </p:sp>
      <p:sp>
        <p:nvSpPr>
          <p:cNvPr id="11" name="Shape 8"/>
          <p:cNvSpPr/>
          <p:nvPr/>
        </p:nvSpPr>
        <p:spPr>
          <a:xfrm>
            <a:off x="7772400" y="3017520"/>
            <a:ext cx="3794760" cy="1463040"/>
          </a:xfrm>
          <a:prstGeom prst="roundRect">
            <a:avLst>
              <a:gd name="adj" fmla="val 5000"/>
            </a:avLst>
          </a:prstGeom>
          <a:solidFill>
            <a:srgbClr val="ECFDF5"/>
          </a:solidFill>
          <a:ln w="12700">
            <a:solidFill>
              <a:srgbClr val="ECFDF5"/>
            </a:solidFill>
            <a:prstDash val="solid"/>
          </a:ln>
        </p:spPr>
      </p:sp>
      <p:sp>
        <p:nvSpPr>
          <p:cNvPr id="12" name="Text 9"/>
          <p:cNvSpPr txBox="1"/>
          <p:nvPr/>
        </p:nvSpPr>
        <p:spPr>
          <a:xfrm>
            <a:off x="7973568" y="3127248"/>
            <a:ext cx="3392424" cy="124358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放置して構いません</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8 件ずつ 20 秒で自動送り。</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自動で最新になります。</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停電後も電源を入れ直すだけ。</a:t>
            </a:r>
            <a:endParaRPr lang="en-US" sz="1500" dirty="0"/>
          </a:p>
        </p:txBody>
      </p:sp>
      <p:sp>
        <p:nvSpPr>
          <p:cNvPr id="13" name="Shape 10"/>
          <p:cNvSpPr/>
          <p:nvPr/>
        </p:nvSpPr>
        <p:spPr>
          <a:xfrm>
            <a:off x="7772400" y="4617720"/>
            <a:ext cx="3794760" cy="1325880"/>
          </a:xfrm>
          <a:prstGeom prst="roundRect">
            <a:avLst>
              <a:gd name="adj" fmla="val 5517"/>
            </a:avLst>
          </a:prstGeom>
          <a:solidFill>
            <a:srgbClr val="FDF3E3"/>
          </a:solidFill>
          <a:ln w="12700">
            <a:solidFill>
              <a:srgbClr val="FDF3E3"/>
            </a:solidFill>
            <a:prstDash val="solid"/>
          </a:ln>
        </p:spPr>
      </p:sp>
      <p:sp>
        <p:nvSpPr>
          <p:cNvPr id="14" name="Text 11"/>
          <p:cNvSpPr txBox="1"/>
          <p:nvPr/>
        </p:nvSpPr>
        <p:spPr>
          <a:xfrm>
            <a:off x="7973568" y="4727448"/>
            <a:ext cx="3392424" cy="1106424"/>
          </a:xfrm>
          <a:prstGeom prst="rect">
            <a:avLst/>
          </a:prstGeom>
          <a:noFill/>
          <a:ln/>
        </p:spPr>
        <p:txBody>
          <a:bodyPr wrap="square" lIns="0" tIns="0" rIns="0" bIns="0" rtlCol="0" anchor="ctr"/>
          <a:lstStyle/>
          <a:p>
            <a:pPr algn="l" indent="0" marL="0">
              <a:lnSpc>
                <a:spcPct val="125000"/>
              </a:lnSpc>
              <a:buNone/>
            </a:pPr>
            <a:r>
              <a:rPr lang="en-US" sz="1500" b="1" dirty="0">
                <a:solidFill>
                  <a:srgbClr val="B26A00"/>
                </a:solidFill>
                <a:latin typeface="Meiryo" pitchFamily="34" charset="0"/>
                <a:ea typeface="Meiryo" pitchFamily="34" charset="-122"/>
                <a:cs typeface="Meiryo" pitchFamily="34" charset="-120"/>
              </a:rPr>
              <a:t>調整する</a:t>
            </a:r>
            <a:endParaRPr lang="en-US" sz="1500" dirty="0"/>
          </a:p>
          <a:p>
            <a:pPr algn="l" indent="0" marL="0">
              <a:lnSpc>
                <a:spcPct val="125000"/>
              </a:lnSpc>
              <a:buNone/>
            </a:pPr>
            <a:r>
              <a:rPr lang="en-US" sz="1250" dirty="0">
                <a:solidFill>
                  <a:srgbClr val="B26A00"/>
                </a:solidFill>
                <a:latin typeface="Meiryo" pitchFamily="34" charset="0"/>
                <a:ea typeface="Meiryo" pitchFamily="34" charset="-122"/>
                <a:cs typeface="Meiryo" pitchFamily="34" charset="-120"/>
              </a:rPr>
              <a:t>&amp;per=6　1 画面の件数</a:t>
            </a:r>
            <a:endParaRPr lang="en-US" sz="1500" dirty="0"/>
          </a:p>
          <a:p>
            <a:pPr algn="l" indent="0" marL="0">
              <a:lnSpc>
                <a:spcPct val="125000"/>
              </a:lnSpc>
              <a:buNone/>
            </a:pPr>
            <a:r>
              <a:rPr lang="en-US" sz="1250" dirty="0">
                <a:solidFill>
                  <a:srgbClr val="B26A00"/>
                </a:solidFill>
                <a:latin typeface="Meiryo" pitchFamily="34" charset="0"/>
                <a:ea typeface="Meiryo" pitchFamily="34" charset="-122"/>
                <a:cs typeface="Meiryo" pitchFamily="34" charset="-120"/>
              </a:rPr>
              <a:t>&amp;interval=30　切替の秒数</a:t>
            </a:r>
            <a:endParaRPr lang="en-US" sz="1500" dirty="0"/>
          </a:p>
        </p:txBody>
      </p:sp>
      <p:sp>
        <p:nvSpPr>
          <p:cNvPr id="15" name="Shape 12"/>
          <p:cNvSpPr/>
          <p:nvPr/>
        </p:nvSpPr>
        <p:spPr>
          <a:xfrm>
            <a:off x="640080" y="5532120"/>
            <a:ext cx="6858000" cy="566928"/>
          </a:xfrm>
          <a:prstGeom prst="roundRect">
            <a:avLst>
              <a:gd name="adj" fmla="val 12903"/>
            </a:avLst>
          </a:prstGeom>
          <a:solidFill>
            <a:srgbClr val="FEF2F2"/>
          </a:solidFill>
          <a:ln w="12700">
            <a:solidFill>
              <a:srgbClr val="FEF2F2"/>
            </a:solidFill>
            <a:prstDash val="solid"/>
          </a:ln>
        </p:spPr>
      </p:sp>
      <p:sp>
        <p:nvSpPr>
          <p:cNvPr id="16" name="Text 13"/>
          <p:cNvSpPr txBox="1"/>
          <p:nvPr/>
        </p:nvSpPr>
        <p:spPr>
          <a:xfrm>
            <a:off x="841248" y="5641848"/>
            <a:ext cx="6455664" cy="347472"/>
          </a:xfrm>
          <a:prstGeom prst="rect">
            <a:avLst/>
          </a:prstGeom>
          <a:noFill/>
          <a:ln/>
        </p:spPr>
        <p:txBody>
          <a:bodyPr wrap="square" lIns="0" tIns="0" rIns="0" bIns="0" rtlCol="0" anchor="ctr"/>
          <a:lstStyle/>
          <a:p>
            <a:pPr algn="l" indent="0" marL="0">
              <a:lnSpc>
                <a:spcPct val="125000"/>
              </a:lnSpc>
              <a:buNone/>
            </a:pPr>
            <a:r>
              <a:rPr lang="en-US" sz="1200" b="1" dirty="0">
                <a:solidFill>
                  <a:srgbClr val="B91C1C"/>
                </a:solidFill>
                <a:latin typeface="Meiryo" pitchFamily="34" charset="0"/>
                <a:ea typeface="Meiryo" pitchFamily="34" charset="-122"/>
                <a:cs typeface="Meiryo" pitchFamily="34" charset="-120"/>
              </a:rPr>
              <a:t>未報告は出しません／90 分超は灰色。無人の時間が長く、古い ◎ の害がいちばん大きい画面です。</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8</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8</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当日の流れ</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事務局と、会社担当者それぞれ</a:t>
            </a:r>
            <a:endParaRPr lang="en-US" sz="1400" dirty="0"/>
          </a:p>
        </p:txBody>
      </p:sp>
      <p:sp>
        <p:nvSpPr>
          <p:cNvPr id="8" name="Text 6"/>
          <p:cNvSpPr txBox="1"/>
          <p:nvPr/>
        </p:nvSpPr>
        <p:spPr>
          <a:xfrm>
            <a:off x="640080" y="1371600"/>
            <a:ext cx="5394960" cy="365760"/>
          </a:xfrm>
          <a:prstGeom prst="rect">
            <a:avLst/>
          </a:prstGeom>
          <a:noFill/>
          <a:ln/>
        </p:spPr>
        <p:txBody>
          <a:bodyPr wrap="square" lIns="0" tIns="0" rIns="0" bIns="0" rtlCol="0" anchor="ctr"/>
          <a:lstStyle/>
          <a:p>
            <a:pPr indent="0" marL="0">
              <a:buNone/>
            </a:pPr>
            <a:r>
              <a:rPr lang="en-US" sz="1800" b="1" dirty="0">
                <a:solidFill>
                  <a:srgbClr val="1E2761"/>
                </a:solidFill>
                <a:latin typeface="Meiryo" pitchFamily="34" charset="0"/>
                <a:ea typeface="Meiryo" pitchFamily="34" charset="-122"/>
                <a:cs typeface="Meiryo" pitchFamily="34" charset="-120"/>
              </a:rPr>
              <a:t>事務局</a:t>
            </a:r>
            <a:endParaRPr lang="en-US" sz="1800" dirty="0"/>
          </a:p>
        </p:txBody>
      </p:sp>
      <p:sp>
        <p:nvSpPr>
          <p:cNvPr id="9" name="Shape 7"/>
          <p:cNvSpPr/>
          <p:nvPr/>
        </p:nvSpPr>
        <p:spPr>
          <a:xfrm>
            <a:off x="640080" y="1783080"/>
            <a:ext cx="5394960" cy="585216"/>
          </a:xfrm>
          <a:prstGeom prst="roundRect">
            <a:avLst>
              <a:gd name="adj" fmla="val 9375"/>
            </a:avLst>
          </a:prstGeom>
          <a:solidFill>
            <a:srgbClr val="F4F7FC"/>
          </a:solidFill>
          <a:ln w="12700">
            <a:solidFill>
              <a:srgbClr val="C7D2E4"/>
            </a:solidFill>
            <a:prstDash val="solid"/>
          </a:ln>
        </p:spPr>
      </p:sp>
      <p:sp>
        <p:nvSpPr>
          <p:cNvPr id="10" name="Shape 8"/>
          <p:cNvSpPr/>
          <p:nvPr/>
        </p:nvSpPr>
        <p:spPr>
          <a:xfrm>
            <a:off x="804672" y="1865376"/>
            <a:ext cx="420624" cy="420624"/>
          </a:xfrm>
          <a:prstGeom prst="ellipse">
            <a:avLst/>
          </a:prstGeom>
          <a:solidFill>
            <a:srgbClr val="1E2761"/>
          </a:solidFill>
          <a:ln/>
        </p:spPr>
      </p:sp>
      <p:sp>
        <p:nvSpPr>
          <p:cNvPr id="11" name="Text 9"/>
          <p:cNvSpPr txBox="1"/>
          <p:nvPr/>
        </p:nvSpPr>
        <p:spPr>
          <a:xfrm>
            <a:off x="804672" y="1865376"/>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12" name="Text 10"/>
          <p:cNvSpPr txBox="1"/>
          <p:nvPr/>
        </p:nvSpPr>
        <p:spPr>
          <a:xfrm>
            <a:off x="1389888" y="1837944"/>
            <a:ext cx="4480560" cy="47548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各社に連絡をお願いすると周知</a:t>
            </a:r>
            <a:endParaRPr lang="en-US" sz="1500" dirty="0"/>
          </a:p>
        </p:txBody>
      </p:sp>
      <p:sp>
        <p:nvSpPr>
          <p:cNvPr id="13" name="Shape 11"/>
          <p:cNvSpPr/>
          <p:nvPr/>
        </p:nvSpPr>
        <p:spPr>
          <a:xfrm>
            <a:off x="640080" y="2478024"/>
            <a:ext cx="5394960" cy="585216"/>
          </a:xfrm>
          <a:prstGeom prst="roundRect">
            <a:avLst>
              <a:gd name="adj" fmla="val 9375"/>
            </a:avLst>
          </a:prstGeom>
          <a:solidFill>
            <a:srgbClr val="F4F7FC"/>
          </a:solidFill>
          <a:ln w="12700">
            <a:solidFill>
              <a:srgbClr val="C7D2E4"/>
            </a:solidFill>
            <a:prstDash val="solid"/>
          </a:ln>
        </p:spPr>
      </p:sp>
      <p:sp>
        <p:nvSpPr>
          <p:cNvPr id="14" name="Shape 12"/>
          <p:cNvSpPr/>
          <p:nvPr/>
        </p:nvSpPr>
        <p:spPr>
          <a:xfrm>
            <a:off x="804672" y="2560320"/>
            <a:ext cx="420624" cy="420624"/>
          </a:xfrm>
          <a:prstGeom prst="ellipse">
            <a:avLst/>
          </a:prstGeom>
          <a:solidFill>
            <a:srgbClr val="1E2761"/>
          </a:solidFill>
          <a:ln/>
        </p:spPr>
      </p:sp>
      <p:sp>
        <p:nvSpPr>
          <p:cNvPr id="15" name="Text 13"/>
          <p:cNvSpPr txBox="1"/>
          <p:nvPr/>
        </p:nvSpPr>
        <p:spPr>
          <a:xfrm>
            <a:off x="804672" y="2560320"/>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6" name="Text 14"/>
          <p:cNvSpPr txBox="1"/>
          <p:nvPr/>
        </p:nvSpPr>
        <p:spPr>
          <a:xfrm>
            <a:off x="1389888" y="2532888"/>
            <a:ext cx="4480560" cy="47548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サイネージを全画面で表示</a:t>
            </a:r>
            <a:endParaRPr lang="en-US" sz="1500" dirty="0"/>
          </a:p>
        </p:txBody>
      </p:sp>
      <p:sp>
        <p:nvSpPr>
          <p:cNvPr id="17" name="Shape 15"/>
          <p:cNvSpPr/>
          <p:nvPr/>
        </p:nvSpPr>
        <p:spPr>
          <a:xfrm>
            <a:off x="640080" y="3172968"/>
            <a:ext cx="5394960" cy="585216"/>
          </a:xfrm>
          <a:prstGeom prst="roundRect">
            <a:avLst>
              <a:gd name="adj" fmla="val 9375"/>
            </a:avLst>
          </a:prstGeom>
          <a:solidFill>
            <a:srgbClr val="F4F7FC"/>
          </a:solidFill>
          <a:ln w="12700">
            <a:solidFill>
              <a:srgbClr val="C7D2E4"/>
            </a:solidFill>
            <a:prstDash val="solid"/>
          </a:ln>
        </p:spPr>
      </p:sp>
      <p:sp>
        <p:nvSpPr>
          <p:cNvPr id="18" name="Shape 16"/>
          <p:cNvSpPr/>
          <p:nvPr/>
        </p:nvSpPr>
        <p:spPr>
          <a:xfrm>
            <a:off x="804672" y="3255264"/>
            <a:ext cx="420624" cy="420624"/>
          </a:xfrm>
          <a:prstGeom prst="ellipse">
            <a:avLst/>
          </a:prstGeom>
          <a:solidFill>
            <a:srgbClr val="1E2761"/>
          </a:solidFill>
          <a:ln/>
        </p:spPr>
      </p:sp>
      <p:sp>
        <p:nvSpPr>
          <p:cNvPr id="19" name="Text 17"/>
          <p:cNvSpPr txBox="1"/>
          <p:nvPr/>
        </p:nvSpPr>
        <p:spPr>
          <a:xfrm>
            <a:off x="804672" y="325526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20" name="Text 18"/>
          <p:cNvSpPr txBox="1"/>
          <p:nvPr/>
        </p:nvSpPr>
        <p:spPr>
          <a:xfrm>
            <a:off x="1389888" y="3227832"/>
            <a:ext cx="4480560" cy="47548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チャットの連絡を入力</a:t>
            </a:r>
            <a:endParaRPr lang="en-US" sz="1500" dirty="0"/>
          </a:p>
        </p:txBody>
      </p:sp>
      <p:sp>
        <p:nvSpPr>
          <p:cNvPr id="21" name="Shape 19"/>
          <p:cNvSpPr/>
          <p:nvPr/>
        </p:nvSpPr>
        <p:spPr>
          <a:xfrm>
            <a:off x="640080" y="3867912"/>
            <a:ext cx="5394960" cy="585216"/>
          </a:xfrm>
          <a:prstGeom prst="roundRect">
            <a:avLst>
              <a:gd name="adj" fmla="val 9375"/>
            </a:avLst>
          </a:prstGeom>
          <a:solidFill>
            <a:srgbClr val="F4F7FC"/>
          </a:solidFill>
          <a:ln w="12700">
            <a:solidFill>
              <a:srgbClr val="C7D2E4"/>
            </a:solidFill>
            <a:prstDash val="solid"/>
          </a:ln>
        </p:spPr>
      </p:sp>
      <p:sp>
        <p:nvSpPr>
          <p:cNvPr id="22" name="Shape 20"/>
          <p:cNvSpPr/>
          <p:nvPr/>
        </p:nvSpPr>
        <p:spPr>
          <a:xfrm>
            <a:off x="804672" y="3950208"/>
            <a:ext cx="420624" cy="420624"/>
          </a:xfrm>
          <a:prstGeom prst="ellipse">
            <a:avLst/>
          </a:prstGeom>
          <a:solidFill>
            <a:srgbClr val="1E2761"/>
          </a:solidFill>
          <a:ln/>
        </p:spPr>
      </p:sp>
      <p:sp>
        <p:nvSpPr>
          <p:cNvPr id="23" name="Text 21"/>
          <p:cNvSpPr txBox="1"/>
          <p:nvPr/>
        </p:nvSpPr>
        <p:spPr>
          <a:xfrm>
            <a:off x="804672" y="395020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4</a:t>
            </a:r>
            <a:endParaRPr lang="en-US" sz="1400" dirty="0"/>
          </a:p>
        </p:txBody>
      </p:sp>
      <p:sp>
        <p:nvSpPr>
          <p:cNvPr id="24" name="Text 22"/>
          <p:cNvSpPr txBox="1"/>
          <p:nvPr/>
        </p:nvSpPr>
        <p:spPr>
          <a:xfrm>
            <a:off x="1389888" y="3922776"/>
            <a:ext cx="4480560" cy="47548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写真が届いたら転記</a:t>
            </a:r>
            <a:endParaRPr lang="en-US" sz="1500" dirty="0"/>
          </a:p>
        </p:txBody>
      </p:sp>
      <p:sp>
        <p:nvSpPr>
          <p:cNvPr id="25" name="Shape 23"/>
          <p:cNvSpPr/>
          <p:nvPr/>
        </p:nvSpPr>
        <p:spPr>
          <a:xfrm>
            <a:off x="640080" y="4562856"/>
            <a:ext cx="5394960" cy="585216"/>
          </a:xfrm>
          <a:prstGeom prst="roundRect">
            <a:avLst>
              <a:gd name="adj" fmla="val 9375"/>
            </a:avLst>
          </a:prstGeom>
          <a:solidFill>
            <a:srgbClr val="FDF3E3"/>
          </a:solidFill>
          <a:ln w="12700">
            <a:solidFill>
              <a:srgbClr val="FDF3E3"/>
            </a:solidFill>
            <a:prstDash val="solid"/>
          </a:ln>
        </p:spPr>
      </p:sp>
      <p:sp>
        <p:nvSpPr>
          <p:cNvPr id="26" name="Shape 24"/>
          <p:cNvSpPr/>
          <p:nvPr/>
        </p:nvSpPr>
        <p:spPr>
          <a:xfrm>
            <a:off x="804672" y="4645152"/>
            <a:ext cx="420624" cy="420624"/>
          </a:xfrm>
          <a:prstGeom prst="ellipse">
            <a:avLst/>
          </a:prstGeom>
          <a:solidFill>
            <a:srgbClr val="B26A00"/>
          </a:solidFill>
          <a:ln/>
        </p:spPr>
      </p:sp>
      <p:sp>
        <p:nvSpPr>
          <p:cNvPr id="27" name="Text 25"/>
          <p:cNvSpPr txBox="1"/>
          <p:nvPr/>
        </p:nvSpPr>
        <p:spPr>
          <a:xfrm>
            <a:off x="804672" y="464515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5</a:t>
            </a:r>
            <a:endParaRPr lang="en-US" sz="1400" dirty="0"/>
          </a:p>
        </p:txBody>
      </p:sp>
      <p:sp>
        <p:nvSpPr>
          <p:cNvPr id="28" name="Text 26"/>
          <p:cNvSpPr txBox="1"/>
          <p:nvPr/>
        </p:nvSpPr>
        <p:spPr>
          <a:xfrm>
            <a:off x="1389888" y="4617720"/>
            <a:ext cx="4480560" cy="47548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 古い」が増えたら連絡を促す</a:t>
            </a:r>
            <a:endParaRPr lang="en-US" sz="1500" dirty="0"/>
          </a:p>
        </p:txBody>
      </p:sp>
      <p:sp>
        <p:nvSpPr>
          <p:cNvPr id="29" name="Text 27"/>
          <p:cNvSpPr txBox="1"/>
          <p:nvPr/>
        </p:nvSpPr>
        <p:spPr>
          <a:xfrm>
            <a:off x="6263640" y="1371600"/>
            <a:ext cx="5303520" cy="365760"/>
          </a:xfrm>
          <a:prstGeom prst="rect">
            <a:avLst/>
          </a:prstGeom>
          <a:noFill/>
          <a:ln/>
        </p:spPr>
        <p:txBody>
          <a:bodyPr wrap="square" lIns="0" tIns="0" rIns="0" bIns="0" rtlCol="0" anchor="ctr"/>
          <a:lstStyle/>
          <a:p>
            <a:pPr indent="0" marL="0">
              <a:buNone/>
            </a:pPr>
            <a:r>
              <a:rPr lang="en-US" sz="1800" b="1" dirty="0">
                <a:solidFill>
                  <a:srgbClr val="1E2761"/>
                </a:solidFill>
                <a:latin typeface="Meiryo" pitchFamily="34" charset="0"/>
                <a:ea typeface="Meiryo" pitchFamily="34" charset="-122"/>
                <a:cs typeface="Meiryo" pitchFamily="34" charset="-120"/>
              </a:rPr>
              <a:t>会社担当者</a:t>
            </a:r>
            <a:endParaRPr lang="en-US" sz="1800" dirty="0"/>
          </a:p>
        </p:txBody>
      </p:sp>
      <p:sp>
        <p:nvSpPr>
          <p:cNvPr id="30" name="Shape 28"/>
          <p:cNvSpPr/>
          <p:nvPr/>
        </p:nvSpPr>
        <p:spPr>
          <a:xfrm>
            <a:off x="6263640" y="1783080"/>
            <a:ext cx="5303520" cy="585216"/>
          </a:xfrm>
          <a:prstGeom prst="roundRect">
            <a:avLst>
              <a:gd name="adj" fmla="val 9375"/>
            </a:avLst>
          </a:prstGeom>
          <a:solidFill>
            <a:srgbClr val="F4F7FC"/>
          </a:solidFill>
          <a:ln w="12700">
            <a:solidFill>
              <a:srgbClr val="C7D2E4"/>
            </a:solidFill>
            <a:prstDash val="solid"/>
          </a:ln>
        </p:spPr>
      </p:sp>
      <p:sp>
        <p:nvSpPr>
          <p:cNvPr id="31" name="Shape 29"/>
          <p:cNvSpPr/>
          <p:nvPr/>
        </p:nvSpPr>
        <p:spPr>
          <a:xfrm>
            <a:off x="6428232" y="1865376"/>
            <a:ext cx="420624" cy="420624"/>
          </a:xfrm>
          <a:prstGeom prst="ellipse">
            <a:avLst/>
          </a:prstGeom>
          <a:solidFill>
            <a:srgbClr val="1E2761"/>
          </a:solidFill>
          <a:ln/>
        </p:spPr>
      </p:sp>
      <p:sp>
        <p:nvSpPr>
          <p:cNvPr id="32" name="Text 30"/>
          <p:cNvSpPr txBox="1"/>
          <p:nvPr/>
        </p:nvSpPr>
        <p:spPr>
          <a:xfrm>
            <a:off x="6428232" y="1865376"/>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33" name="Text 31"/>
          <p:cNvSpPr txBox="1"/>
          <p:nvPr/>
        </p:nvSpPr>
        <p:spPr>
          <a:xfrm>
            <a:off x="7013448" y="1837944"/>
            <a:ext cx="4389120" cy="47548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「空き状況」を開く（自社のぶんだけ）</a:t>
            </a:r>
            <a:endParaRPr lang="en-US" sz="1500" dirty="0"/>
          </a:p>
        </p:txBody>
      </p:sp>
      <p:sp>
        <p:nvSpPr>
          <p:cNvPr id="34" name="Shape 32"/>
          <p:cNvSpPr/>
          <p:nvPr/>
        </p:nvSpPr>
        <p:spPr>
          <a:xfrm>
            <a:off x="6263640" y="2478024"/>
            <a:ext cx="5303520" cy="585216"/>
          </a:xfrm>
          <a:prstGeom prst="roundRect">
            <a:avLst>
              <a:gd name="adj" fmla="val 9375"/>
            </a:avLst>
          </a:prstGeom>
          <a:solidFill>
            <a:srgbClr val="F4F7FC"/>
          </a:solidFill>
          <a:ln w="12700">
            <a:solidFill>
              <a:srgbClr val="C7D2E4"/>
            </a:solidFill>
            <a:prstDash val="solid"/>
          </a:ln>
        </p:spPr>
      </p:sp>
      <p:sp>
        <p:nvSpPr>
          <p:cNvPr id="35" name="Shape 33"/>
          <p:cNvSpPr/>
          <p:nvPr/>
        </p:nvSpPr>
        <p:spPr>
          <a:xfrm>
            <a:off x="6428232" y="2560320"/>
            <a:ext cx="420624" cy="420624"/>
          </a:xfrm>
          <a:prstGeom prst="ellipse">
            <a:avLst/>
          </a:prstGeom>
          <a:solidFill>
            <a:srgbClr val="1E2761"/>
          </a:solidFill>
          <a:ln/>
        </p:spPr>
      </p:sp>
      <p:sp>
        <p:nvSpPr>
          <p:cNvPr id="36" name="Text 34"/>
          <p:cNvSpPr txBox="1"/>
          <p:nvPr/>
        </p:nvSpPr>
        <p:spPr>
          <a:xfrm>
            <a:off x="6428232" y="2560320"/>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37" name="Text 35"/>
          <p:cNvSpPr txBox="1"/>
          <p:nvPr/>
        </p:nvSpPr>
        <p:spPr>
          <a:xfrm>
            <a:off x="7013448" y="2532888"/>
            <a:ext cx="4389120" cy="47548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状況が変わったら記号を押す</a:t>
            </a:r>
            <a:endParaRPr lang="en-US" sz="1500" dirty="0"/>
          </a:p>
        </p:txBody>
      </p:sp>
      <p:sp>
        <p:nvSpPr>
          <p:cNvPr id="38" name="Shape 36"/>
          <p:cNvSpPr/>
          <p:nvPr/>
        </p:nvSpPr>
        <p:spPr>
          <a:xfrm>
            <a:off x="6263640" y="3172968"/>
            <a:ext cx="5303520" cy="585216"/>
          </a:xfrm>
          <a:prstGeom prst="roundRect">
            <a:avLst>
              <a:gd name="adj" fmla="val 9375"/>
            </a:avLst>
          </a:prstGeom>
          <a:solidFill>
            <a:srgbClr val="FEF2F2"/>
          </a:solidFill>
          <a:ln w="12700">
            <a:solidFill>
              <a:srgbClr val="FEF2F2"/>
            </a:solidFill>
            <a:prstDash val="solid"/>
          </a:ln>
        </p:spPr>
      </p:sp>
      <p:sp>
        <p:nvSpPr>
          <p:cNvPr id="39" name="Shape 37"/>
          <p:cNvSpPr/>
          <p:nvPr/>
        </p:nvSpPr>
        <p:spPr>
          <a:xfrm>
            <a:off x="6428232" y="3255264"/>
            <a:ext cx="420624" cy="420624"/>
          </a:xfrm>
          <a:prstGeom prst="ellipse">
            <a:avLst/>
          </a:prstGeom>
          <a:solidFill>
            <a:srgbClr val="B91C1C"/>
          </a:solidFill>
          <a:ln/>
        </p:spPr>
      </p:sp>
      <p:sp>
        <p:nvSpPr>
          <p:cNvPr id="40" name="Text 38"/>
          <p:cNvSpPr txBox="1"/>
          <p:nvPr/>
        </p:nvSpPr>
        <p:spPr>
          <a:xfrm>
            <a:off x="6428232" y="325526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41" name="Text 39"/>
          <p:cNvSpPr txBox="1"/>
          <p:nvPr/>
        </p:nvSpPr>
        <p:spPr>
          <a:xfrm>
            <a:off x="7013448" y="3227832"/>
            <a:ext cx="4389120" cy="475488"/>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満席になったら忘れずに ✕</a:t>
            </a:r>
            <a:endParaRPr lang="en-US" sz="1500" dirty="0"/>
          </a:p>
        </p:txBody>
      </p:sp>
      <p:sp>
        <p:nvSpPr>
          <p:cNvPr id="42" name="Shape 40"/>
          <p:cNvSpPr/>
          <p:nvPr/>
        </p:nvSpPr>
        <p:spPr>
          <a:xfrm>
            <a:off x="6263640" y="4023360"/>
            <a:ext cx="5303520" cy="1371600"/>
          </a:xfrm>
          <a:prstGeom prst="roundRect">
            <a:avLst>
              <a:gd name="adj" fmla="val 5333"/>
            </a:avLst>
          </a:prstGeom>
          <a:solidFill>
            <a:srgbClr val="FEF2F2"/>
          </a:solidFill>
          <a:ln w="12700">
            <a:solidFill>
              <a:srgbClr val="FEF2F2"/>
            </a:solidFill>
            <a:prstDash val="solid"/>
          </a:ln>
        </p:spPr>
      </p:sp>
      <p:sp>
        <p:nvSpPr>
          <p:cNvPr id="43" name="Text 41"/>
          <p:cNvSpPr txBox="1"/>
          <p:nvPr/>
        </p:nvSpPr>
        <p:spPr>
          <a:xfrm>
            <a:off x="6464808" y="4133088"/>
            <a:ext cx="490118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B91C1C"/>
                </a:solidFill>
                <a:latin typeface="Meiryo" pitchFamily="34" charset="0"/>
                <a:ea typeface="Meiryo" pitchFamily="34" charset="-122"/>
                <a:cs typeface="Meiryo" pitchFamily="34" charset="-120"/>
              </a:rPr>
              <a:t>満席の瞬間の ✕ が、いちばん価値のある 1 クリック</a:t>
            </a:r>
            <a:endParaRPr lang="en-US" sz="1500" dirty="0"/>
          </a:p>
          <a:p>
            <a:pPr algn="l" indent="0" marL="0">
              <a:lnSpc>
                <a:spcPct val="125000"/>
              </a:lnSpc>
              <a:buNone/>
            </a:pPr>
            <a:r>
              <a:rPr lang="en-US" sz="1250" dirty="0">
                <a:solidFill>
                  <a:srgbClr val="B91C1C"/>
                </a:solidFill>
                <a:latin typeface="Meiryo" pitchFamily="34" charset="0"/>
                <a:ea typeface="Meiryo" pitchFamily="34" charset="-122"/>
                <a:cs typeface="Meiryo" pitchFamily="34" charset="-120"/>
              </a:rPr>
              <a:t>◎ のまま止まると、来場者は</a:t>
            </a:r>
            <a:endParaRPr lang="en-US" sz="1500" dirty="0"/>
          </a:p>
          <a:p>
            <a:pPr algn="l" indent="0" marL="0">
              <a:lnSpc>
                <a:spcPct val="125000"/>
              </a:lnSpc>
              <a:buNone/>
            </a:pPr>
            <a:r>
              <a:rPr lang="en-US" sz="1250" dirty="0">
                <a:solidFill>
                  <a:srgbClr val="B91C1C"/>
                </a:solidFill>
                <a:latin typeface="Meiryo" pitchFamily="34" charset="0"/>
                <a:ea typeface="Meiryo" pitchFamily="34" charset="-122"/>
                <a:cs typeface="Meiryo" pitchFamily="34" charset="-120"/>
              </a:rPr>
              <a:t>満席のブースに向かいます。</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9</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9</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「—」と「✕」は違います</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来場者にも、この違いが伝わるようにしています</a:t>
            </a:r>
            <a:endParaRPr lang="en-US" sz="1400" dirty="0"/>
          </a:p>
        </p:txBody>
      </p:sp>
      <p:sp>
        <p:nvSpPr>
          <p:cNvPr id="8" name="Shape 6"/>
          <p:cNvSpPr/>
          <p:nvPr/>
        </p:nvSpPr>
        <p:spPr>
          <a:xfrm>
            <a:off x="640080" y="1554480"/>
            <a:ext cx="10927080" cy="1005840"/>
          </a:xfrm>
          <a:prstGeom prst="roundRect">
            <a:avLst>
              <a:gd name="adj" fmla="val 5455"/>
            </a:avLst>
          </a:prstGeom>
          <a:solidFill>
            <a:srgbClr val="F4F7FC"/>
          </a:solidFill>
          <a:ln w="12700">
            <a:solidFill>
              <a:srgbClr val="C7D2E4"/>
            </a:solidFill>
            <a:prstDash val="solid"/>
          </a:ln>
        </p:spPr>
      </p:sp>
      <p:sp>
        <p:nvSpPr>
          <p:cNvPr id="9" name="Shape 7"/>
          <p:cNvSpPr/>
          <p:nvPr/>
        </p:nvSpPr>
        <p:spPr>
          <a:xfrm>
            <a:off x="804672" y="1847088"/>
            <a:ext cx="420624" cy="420624"/>
          </a:xfrm>
          <a:prstGeom prst="ellipse">
            <a:avLst/>
          </a:prstGeom>
          <a:solidFill>
            <a:srgbClr val="5B6472"/>
          </a:solidFill>
          <a:ln/>
        </p:spPr>
      </p:sp>
      <p:sp>
        <p:nvSpPr>
          <p:cNvPr id="10" name="Text 8"/>
          <p:cNvSpPr txBox="1"/>
          <p:nvPr/>
        </p:nvSpPr>
        <p:spPr>
          <a:xfrm>
            <a:off x="804672" y="184708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1" name="Text 9"/>
          <p:cNvSpPr txBox="1"/>
          <p:nvPr/>
        </p:nvSpPr>
        <p:spPr>
          <a:xfrm>
            <a:off x="1389888" y="1609344"/>
            <a:ext cx="10012680" cy="89611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まだご連絡をいただいていません</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空きがあるかどうか、分かっていない状態です</a:t>
            </a:r>
            <a:endParaRPr lang="en-US" sz="1500" dirty="0"/>
          </a:p>
        </p:txBody>
      </p:sp>
      <p:sp>
        <p:nvSpPr>
          <p:cNvPr id="12" name="Shape 10"/>
          <p:cNvSpPr/>
          <p:nvPr/>
        </p:nvSpPr>
        <p:spPr>
          <a:xfrm>
            <a:off x="640080" y="2743200"/>
            <a:ext cx="10927080" cy="1005840"/>
          </a:xfrm>
          <a:prstGeom prst="roundRect">
            <a:avLst>
              <a:gd name="adj" fmla="val 5455"/>
            </a:avLst>
          </a:prstGeom>
          <a:solidFill>
            <a:srgbClr val="FEF2F2"/>
          </a:solidFill>
          <a:ln w="12700">
            <a:solidFill>
              <a:srgbClr val="FEF2F2"/>
            </a:solidFill>
            <a:prstDash val="solid"/>
          </a:ln>
        </p:spPr>
      </p:sp>
      <p:sp>
        <p:nvSpPr>
          <p:cNvPr id="13" name="Shape 11"/>
          <p:cNvSpPr/>
          <p:nvPr/>
        </p:nvSpPr>
        <p:spPr>
          <a:xfrm>
            <a:off x="804672" y="3035808"/>
            <a:ext cx="420624" cy="420624"/>
          </a:xfrm>
          <a:prstGeom prst="ellipse">
            <a:avLst/>
          </a:prstGeom>
          <a:solidFill>
            <a:srgbClr val="B91C1C"/>
          </a:solidFill>
          <a:ln/>
        </p:spPr>
      </p:sp>
      <p:sp>
        <p:nvSpPr>
          <p:cNvPr id="14" name="Text 12"/>
          <p:cNvSpPr txBox="1"/>
          <p:nvPr/>
        </p:nvSpPr>
        <p:spPr>
          <a:xfrm>
            <a:off x="804672" y="303580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5" name="Text 13"/>
          <p:cNvSpPr txBox="1"/>
          <p:nvPr/>
        </p:nvSpPr>
        <p:spPr>
          <a:xfrm>
            <a:off x="1389888" y="2798064"/>
            <a:ext cx="10012680" cy="89611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残数なし、とご連絡をいただきました</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確かめたうえで、空きがないと分かっている状態です</a:t>
            </a:r>
            <a:endParaRPr lang="en-US" sz="1500" dirty="0"/>
          </a:p>
        </p:txBody>
      </p:sp>
      <p:sp>
        <p:nvSpPr>
          <p:cNvPr id="16" name="Shape 14"/>
          <p:cNvSpPr/>
          <p:nvPr/>
        </p:nvSpPr>
        <p:spPr>
          <a:xfrm>
            <a:off x="640080" y="3931920"/>
            <a:ext cx="10927080" cy="914400"/>
          </a:xfrm>
          <a:prstGeom prst="roundRect">
            <a:avLst>
              <a:gd name="adj" fmla="val 8000"/>
            </a:avLst>
          </a:prstGeom>
          <a:solidFill>
            <a:srgbClr val="CADCFC"/>
          </a:solidFill>
          <a:ln w="12700">
            <a:solidFill>
              <a:srgbClr val="CADCFC"/>
            </a:solidFill>
            <a:prstDash val="solid"/>
          </a:ln>
        </p:spPr>
      </p:sp>
      <p:sp>
        <p:nvSpPr>
          <p:cNvPr id="17" name="Text 15"/>
          <p:cNvSpPr txBox="1"/>
          <p:nvPr/>
        </p:nvSpPr>
        <p:spPr>
          <a:xfrm>
            <a:off x="841248" y="4041648"/>
            <a:ext cx="10524744" cy="694944"/>
          </a:xfrm>
          <a:prstGeom prst="rect">
            <a:avLst/>
          </a:prstGeom>
          <a:noFill/>
          <a:ln/>
        </p:spPr>
        <p:txBody>
          <a:bodyPr wrap="square" lIns="0" tIns="0" rIns="0" bIns="0" rtlCol="0" anchor="ctr"/>
          <a:lstStyle/>
          <a:p>
            <a:pPr algn="l" indent="0" marL="0">
              <a:lnSpc>
                <a:spcPct val="125000"/>
              </a:lnSpc>
              <a:buNone/>
            </a:pPr>
            <a:r>
              <a:rPr lang="en-US" sz="1400" b="1" dirty="0">
                <a:solidFill>
                  <a:srgbClr val="1E2761"/>
                </a:solidFill>
                <a:latin typeface="Meiryo" pitchFamily="34" charset="0"/>
                <a:ea typeface="Meiryo" pitchFamily="34" charset="-122"/>
                <a:cs typeface="Meiryo" pitchFamily="34" charset="-120"/>
              </a:rPr>
              <a:t>公開ページの下部にも、この説明を出しています。</a:t>
            </a:r>
            <a:endParaRPr lang="en-US" sz="1400" dirty="0"/>
          </a:p>
          <a:p>
            <a:pPr algn="l" indent="0" marL="0">
              <a:lnSpc>
                <a:spcPct val="125000"/>
              </a:lnSpc>
              <a:buNone/>
            </a:pPr>
            <a:r>
              <a:rPr lang="en-US" sz="1400" dirty="0">
                <a:solidFill>
                  <a:srgbClr val="1E2761"/>
                </a:solidFill>
                <a:latin typeface="Meiryo" pitchFamily="34" charset="0"/>
                <a:ea typeface="Meiryo" pitchFamily="34" charset="-122"/>
                <a:cs typeface="Meiryo" pitchFamily="34" charset="-120"/>
              </a:rPr>
              <a:t>「『—』は、その時点でご連絡をいただいていないことを表します。空きがないという意味ではありません。」</a:t>
            </a:r>
            <a:endParaRPr lang="en-US" sz="1400" dirty="0"/>
          </a:p>
        </p:txBody>
      </p:sp>
      <p:sp>
        <p:nvSpPr>
          <p:cNvPr id="18" name="Shape 16"/>
          <p:cNvSpPr/>
          <p:nvPr/>
        </p:nvSpPr>
        <p:spPr>
          <a:xfrm>
            <a:off x="640080" y="5074920"/>
            <a:ext cx="10927080" cy="914400"/>
          </a:xfrm>
          <a:prstGeom prst="roundRect">
            <a:avLst>
              <a:gd name="adj" fmla="val 8000"/>
            </a:avLst>
          </a:prstGeom>
          <a:solidFill>
            <a:srgbClr val="ECFDF5"/>
          </a:solidFill>
          <a:ln w="12700">
            <a:solidFill>
              <a:srgbClr val="ECFDF5"/>
            </a:solidFill>
            <a:prstDash val="solid"/>
          </a:ln>
        </p:spPr>
      </p:sp>
      <p:sp>
        <p:nvSpPr>
          <p:cNvPr id="19" name="Text 17"/>
          <p:cNvSpPr txBox="1"/>
          <p:nvPr/>
        </p:nvSpPr>
        <p:spPr>
          <a:xfrm>
            <a:off x="841248" y="5184648"/>
            <a:ext cx="10524744" cy="69494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間違えて登録したときは</a:t>
            </a:r>
            <a:endParaRPr lang="en-US" sz="1500" dirty="0"/>
          </a:p>
          <a:p>
            <a:pPr algn="l" indent="0" marL="0">
              <a:lnSpc>
                <a:spcPct val="125000"/>
              </a:lnSpc>
              <a:buNone/>
            </a:pPr>
            <a:r>
              <a:rPr lang="en-US" sz="1300" dirty="0">
                <a:solidFill>
                  <a:srgbClr val="15803D"/>
                </a:solidFill>
                <a:latin typeface="Meiryo" pitchFamily="34" charset="0"/>
                <a:ea typeface="Meiryo" pitchFamily="34" charset="-122"/>
                <a:cs typeface="Meiryo" pitchFamily="34" charset="-120"/>
              </a:rPr>
              <a:t>正しい内容で登録し直してください。いちばん新しい登録が公開されます。登録はすべて履歴に残ります。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1005840" y="1691640"/>
            <a:ext cx="10058400" cy="82296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困ったときは</a:t>
            </a:r>
            <a:endParaRPr lang="en-US" sz="4000" dirty="0"/>
          </a:p>
        </p:txBody>
      </p:sp>
      <p:sp>
        <p:nvSpPr>
          <p:cNvPr id="3" name="Text 1"/>
          <p:cNvSpPr txBox="1"/>
          <p:nvPr/>
        </p:nvSpPr>
        <p:spPr>
          <a:xfrm>
            <a:off x="1005840" y="2606040"/>
            <a:ext cx="10058400" cy="365760"/>
          </a:xfrm>
          <a:prstGeom prst="rect">
            <a:avLst/>
          </a:prstGeom>
          <a:noFill/>
          <a:ln/>
        </p:spPr>
        <p:txBody>
          <a:bodyPr wrap="square" lIns="0" tIns="0" rIns="0" bIns="0" rtlCol="0" anchor="ctr"/>
          <a:lstStyle/>
          <a:p>
            <a:pPr indent="0" marL="0">
              <a:buNone/>
            </a:pPr>
            <a:r>
              <a:rPr lang="en-US" sz="1700" dirty="0">
                <a:solidFill>
                  <a:srgbClr val="CADCFC"/>
                </a:solidFill>
                <a:latin typeface="Meiryo" pitchFamily="34" charset="0"/>
                <a:ea typeface="Meiryo" pitchFamily="34" charset="-122"/>
                <a:cs typeface="Meiryo" pitchFamily="34" charset="-120"/>
              </a:rPr>
              <a:t>画面のメッセージで解決しない場合は、事務局にご連絡ください。</a:t>
            </a:r>
            <a:endParaRPr lang="en-US" sz="1700" dirty="0"/>
          </a:p>
        </p:txBody>
      </p:sp>
      <p:sp>
        <p:nvSpPr>
          <p:cNvPr id="4" name="Shape 2"/>
          <p:cNvSpPr/>
          <p:nvPr/>
        </p:nvSpPr>
        <p:spPr>
          <a:xfrm>
            <a:off x="1005840" y="3200400"/>
            <a:ext cx="10149840" cy="2011680"/>
          </a:xfrm>
          <a:prstGeom prst="roundRect">
            <a:avLst>
              <a:gd name="adj" fmla="val 4545"/>
            </a:avLst>
          </a:prstGeom>
          <a:solidFill>
            <a:srgbClr val="FFFFFF"/>
          </a:solidFill>
          <a:ln w="12700">
            <a:solidFill>
              <a:srgbClr val="FFFFFF"/>
            </a:solidFill>
            <a:prstDash val="solid"/>
          </a:ln>
        </p:spPr>
      </p:sp>
      <p:sp>
        <p:nvSpPr>
          <p:cNvPr id="5" name="Text 3"/>
          <p:cNvSpPr txBox="1"/>
          <p:nvPr/>
        </p:nvSpPr>
        <p:spPr>
          <a:xfrm>
            <a:off x="1325880" y="3383280"/>
            <a:ext cx="9509760" cy="1645920"/>
          </a:xfrm>
          <a:prstGeom prst="rect">
            <a:avLst/>
          </a:prstGeom>
          <a:noFill/>
          <a:ln/>
        </p:spPr>
        <p:txBody>
          <a:bodyPr wrap="square" lIns="0" tIns="0" rIns="0" bIns="0" rtlCol="0" anchor="ctr"/>
          <a:lstStyle/>
          <a:p>
            <a:pPr algn="l" indent="0" marL="0">
              <a:lnSpc>
                <a:spcPct val="135000"/>
              </a:lnSpc>
              <a:buNone/>
            </a:pPr>
            <a:r>
              <a:rPr lang="en-US" sz="1600" b="1" dirty="0">
                <a:solidFill>
                  <a:srgbClr val="1E2761"/>
                </a:solidFill>
                <a:latin typeface="Meiryo" pitchFamily="34" charset="0"/>
                <a:ea typeface="Meiryo" pitchFamily="34" charset="-122"/>
                <a:cs typeface="Meiryo" pitchFamily="34" charset="-120"/>
              </a:rPr>
              <a:t>お伝えいただくと、原因を特定しやすくなります</a:t>
            </a:r>
            <a:endParaRPr lang="en-US" sz="1600" dirty="0"/>
          </a:p>
          <a:p>
            <a:pPr algn="l" indent="0" marL="0">
              <a:lnSpc>
                <a:spcPct val="135000"/>
              </a:lnSpc>
              <a:buNone/>
            </a:pPr>
            <a:endParaRPr lang="en-US" sz="1600" dirty="0"/>
          </a:p>
          <a:p>
            <a:pPr algn="l" indent="0" marL="0">
              <a:lnSpc>
                <a:spcPct val="135000"/>
              </a:lnSpc>
              <a:buNone/>
            </a:pPr>
            <a:r>
              <a:rPr lang="en-US" sz="1500" dirty="0">
                <a:solidFill>
                  <a:srgbClr val="1F2937"/>
                </a:solidFill>
                <a:latin typeface="Meiryo" pitchFamily="34" charset="0"/>
                <a:ea typeface="Meiryo" pitchFamily="34" charset="-122"/>
                <a:cs typeface="Meiryo" pitchFamily="34" charset="-120"/>
              </a:rPr>
              <a:t>操作した画面 ／ 押したボタン ／ 表示されたメッセージ ／ おおよその時刻</a:t>
            </a:r>
            <a:endParaRPr lang="en-US" sz="1600" dirty="0"/>
          </a:p>
        </p:txBody>
      </p:sp>
      <p:sp>
        <p:nvSpPr>
          <p:cNvPr id="6" name="Text 4"/>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CADCFC"/>
                </a:solidFill>
                <a:latin typeface="Meiryo" pitchFamily="34" charset="0"/>
                <a:ea typeface="Meiryo" pitchFamily="34" charset="-122"/>
                <a:cs typeface="Meiryo"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当日の空き状況 操作マニュアル</dc:title>
  <dc:subject>PptxGenJS Presentation</dc:subject>
  <dc:creator>体験予約システム</dc:creator>
  <cp:lastModifiedBy>体験予約システム</cp:lastModifiedBy>
  <cp:revision>1</cp:revision>
  <dcterms:created xsi:type="dcterms:W3CDTF">2026-10-07T06:11:17Z</dcterms:created>
  <dcterms:modified xsi:type="dcterms:W3CDTF">2026-10-07T06:11:17Z</dcterms:modified>
</cp:coreProperties>
</file>