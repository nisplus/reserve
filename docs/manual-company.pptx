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会社担当者アカウントで使える機能だけを扱います。事務局向けは別冊です。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自社のぶんだけが見える、が大原則です。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パスワードは事務局が発行します。ロックされたら 15 分待つか事務局へ。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絞り込みと並び順は、ページ送りと CSV 出力にも引き継がれます。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キャンセル待ちが1人でもいる回は、空席があっても新規予約はキャンセル待ちになります。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繰り上げは自動ではありません。操作するまで席は空いたままです。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エラーメッセージには、その予約の人数と現在の空きが出ます。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が原則。前日になっても埋まらないときに B〜E を検討します。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付き添いを含めない設定のとき、付き添いは定員を消費しません。来場人数で会場の収容を確認してください。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追い越された方には「キャンセル待ち 1 番目」と表示されたままです。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E（別の回へ振り替え）も同じ注意が要ります。振替先に他にお待ちの方がいないか先に確認してください。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人数の大きい方を先に試すのが原則。上から順に押せば自然とそうなります。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メッセージにどの予約と重なっているかが出ます。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キャンセル済みの方には送りません。同じアドレスは何件予約していても1通です。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送信完了まで数分かかることがあります。急ぐ場合や届かない問い合わせは事務局へ。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毎日ダッシュボードを見るのがいちばん確実です。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" y="20574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体験予約システム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60604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操作マニュアル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1005840" y="3794760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3794760"/>
            <a:ext cx="3017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会社担当者 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663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開催企業のご担当者さま向け ／ 日時はすべて日本時間です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体験予約システム 操作マニュアル（会社担当者用）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1094415" y="640080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225296" y="3474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このマニュアルでできること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225296" y="841248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会社担当者アカウント（画面右上が「会社担当者」）の操作を扱います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3716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80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できること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1783080"/>
            <a:ext cx="5394960" cy="3200400"/>
          </a:xfrm>
          <a:prstGeom prst="roundRect">
            <a:avLst>
              <a:gd name="adj" fmla="val 2286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1938528"/>
            <a:ext cx="4937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自社の体験プログラムの登録・編集</a:t>
            </a:r>
            <a:endParaRPr lang="en-US" sz="1400" dirty="0"/>
          </a:p>
          <a:p>
            <a:pPr algn="l"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自社の開催回の登録・編集（まとめて作成も）</a:t>
            </a:r>
            <a:endParaRPr lang="en-US" sz="1400" dirty="0"/>
          </a:p>
          <a:p>
            <a:pPr algn="l"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自社の申込者の確認・CSV 出力</a:t>
            </a:r>
            <a:endParaRPr lang="en-US" sz="1400" dirty="0"/>
          </a:p>
          <a:p>
            <a:pPr algn="l"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キャンセル待ちの繰り上げ・キャンセル</a:t>
            </a:r>
            <a:endParaRPr lang="en-US" sz="1400" dirty="0"/>
          </a:p>
          <a:p>
            <a:pPr algn="l"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自社の申込者へのお知らせメール一斉送信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3716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できないこと（事務局にご依頼ください）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263640" y="1783080"/>
            <a:ext cx="5303520" cy="3200400"/>
          </a:xfrm>
          <a:prstGeom prst="roundRect">
            <a:avLst>
              <a:gd name="adj" fmla="val 2286"/>
            </a:avLst>
          </a:prstGeom>
          <a:solidFill>
            <a:srgbClr val="F4F7FC"/>
          </a:solidFill>
          <a:ln w="12700">
            <a:solidFill>
              <a:srgbClr val="C7D2E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1938528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会社情報（会社名・エリア）の変更</a:t>
            </a:r>
            <a:endParaRPr lang="en-US" sz="1400" dirty="0"/>
          </a:p>
          <a:p>
            <a:pPr algn="l"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アカウントの発行・パスワード再発行</a:t>
            </a:r>
            <a:endParaRPr lang="en-US" sz="1400" dirty="0"/>
          </a:p>
          <a:p>
            <a:pPr algn="l"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予約受付全体の開始・停止</a:t>
            </a:r>
            <a:endParaRPr lang="en-US" sz="1400" dirty="0"/>
          </a:p>
          <a:p>
            <a:pPr algn="l"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「全申込者」への一斉送信</a:t>
            </a:r>
            <a:endParaRPr lang="en-US" sz="1400" dirty="0"/>
          </a:p>
          <a:p>
            <a:pPr algn="l"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メール送信状況の詳細画面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5166360"/>
            <a:ext cx="1092708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1248" y="5276088"/>
            <a:ext cx="1052474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他社の情報は一切表示されません。他社のページの URL を直接入力しても「ページが見つかりません」となります。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体験予約システム 操作マニュアル（会社担当者用）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1094415" y="640080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225296" y="3474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ログインと画面の見かた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225296" y="841248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管理画面の URL は （サイトのURL）/admin です</a:t>
            </a:r>
            <a:endParaRPr lang="en-US" sz="1400" dirty="0"/>
          </a:p>
        </p:txBody>
      </p:sp>
      <p:pic>
        <p:nvPicPr>
          <p:cNvPr id="8" name="Image 0" descr="C:\Users\sato\AppData\Local\Temp\claude\c--Users-sato-Desktop---3---3\c0abf194-6a09-42ac-bc16-2cd244740c64\scratchpad\deck\img\c-me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1110" y="1417320"/>
            <a:ext cx="9569476" cy="10972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40080" y="2834640"/>
            <a:ext cx="5394960" cy="640080"/>
          </a:xfrm>
          <a:prstGeom prst="roundRect">
            <a:avLst>
              <a:gd name="adj" fmla="val 8571"/>
            </a:avLst>
          </a:prstGeom>
          <a:solidFill>
            <a:srgbClr val="F4F7FC"/>
          </a:solidFill>
          <a:ln w="12700">
            <a:solidFill>
              <a:srgbClr val="C7D2E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04672" y="2944368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04672" y="2944368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389888" y="2889504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ダッシュボード</a:t>
            </a:r>
            <a:endParaRPr lang="en-US" sz="15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自社の件数と、繰り上げ候補のある開催回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40080" y="3584448"/>
            <a:ext cx="5394960" cy="640080"/>
          </a:xfrm>
          <a:prstGeom prst="roundRect">
            <a:avLst>
              <a:gd name="adj" fmla="val 8571"/>
            </a:avLst>
          </a:prstGeom>
          <a:solidFill>
            <a:srgbClr val="F4F7FC"/>
          </a:solidFill>
          <a:ln w="12700">
            <a:solidFill>
              <a:srgbClr val="C7D2E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04672" y="3694176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04672" y="3694176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888" y="3639312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予約一覧</a:t>
            </a:r>
            <a:endParaRPr lang="en-US" sz="15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申込者の確認・CSV 出力・繰り上げ・キャンセル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40080" y="4334256"/>
            <a:ext cx="5394960" cy="640080"/>
          </a:xfrm>
          <a:prstGeom prst="roundRect">
            <a:avLst>
              <a:gd name="adj" fmla="val 8571"/>
            </a:avLst>
          </a:prstGeom>
          <a:solidFill>
            <a:srgbClr val="F4F7FC"/>
          </a:solidFill>
          <a:ln w="12700">
            <a:solidFill>
              <a:srgbClr val="C7D2E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04672" y="4443984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04672" y="444398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389888" y="4389120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体験内容</a:t>
            </a:r>
            <a:endParaRPr lang="en-US" sz="15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体験プログラムと開催回の登録・編集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640080" y="5084064"/>
            <a:ext cx="5394960" cy="640080"/>
          </a:xfrm>
          <a:prstGeom prst="roundRect">
            <a:avLst>
              <a:gd name="adj" fmla="val 8571"/>
            </a:avLst>
          </a:prstGeom>
          <a:solidFill>
            <a:srgbClr val="F4F7FC"/>
          </a:solidFill>
          <a:ln w="12700">
            <a:solidFill>
              <a:srgbClr val="C7D2E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04672" y="5193792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04672" y="519379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389888" y="5138928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一斉送信</a:t>
            </a:r>
            <a:endParaRPr lang="en-US" sz="15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自社の申込者へのお知らせメール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6263640" y="2834640"/>
            <a:ext cx="5303520" cy="3017520"/>
          </a:xfrm>
          <a:prstGeom prst="roundRect">
            <a:avLst>
              <a:gd name="adj" fmla="val 2424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464808" y="2944368"/>
            <a:ext cx="4901184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ログインについて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パスワードをご自身で変更する画面はありません。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分からなくなったら事務局にご連絡ください。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 回続けて間違えると 15 分間ログインできません。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心当たりを試し続けるより、事務局にご相談ください。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 分の放置、またはログインから 8 時間で自動ログアウトします。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長い入力の途中はこまめに保存してください。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体験予約システム 操作マニュアル（会社担当者用）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1094415" y="640080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225296" y="3474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申込者を確認する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225296" y="841248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「予約一覧」で絞り込み、当日の名簿は CSV に出せます</a:t>
            </a:r>
            <a:endParaRPr lang="en-US" sz="1400" dirty="0"/>
          </a:p>
        </p:txBody>
      </p:sp>
      <p:pic>
        <p:nvPicPr>
          <p:cNvPr id="8" name="Image 0" descr="C:\Users\sato\AppData\Local\Temp\claude\c--Users-sato-Desktop---3---3\c0abf194-6a09-42ac-bc16-2cd244740c64\scratchpad\deck\img\c-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95100" y="1371600"/>
            <a:ext cx="8601494" cy="3200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40080" y="480060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41248" y="4910328"/>
            <a:ext cx="311810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氏名 と 連絡先氏名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氏名＝当日お呼びする方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連絡先氏名＝連絡を取る相手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メールの宛名は連絡先です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343400" y="480060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44568" y="4910328"/>
            <a:ext cx="311810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当日の名簿をつくる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並び順を「会社・体験プログラム・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開催日時順」にして CSV 出力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絞り込んだ結果だけが出ます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046720" y="480060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47888" y="4910328"/>
            <a:ext cx="311810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B91C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開催企業へのメッセージ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B91C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アレルギー・車椅子のご利用など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B91C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開催前に必ずご確認ください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B91C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予約一覧と CSV に出ています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体験予約システム 操作マニュアル（会社担当者用）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1094415" y="640080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225296" y="3474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キャンセル待ちの仕組み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225296" y="841248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ここがいちばん間違えやすいところです</a:t>
            </a:r>
            <a:endParaRPr lang="en-US" sz="1400" dirty="0"/>
          </a:p>
        </p:txBody>
      </p:sp>
      <p:pic>
        <p:nvPicPr>
          <p:cNvPr id="8" name="Image 0" descr="C:\Users\sato\AppData\Local\Temp\claude\c--Users-sato-Desktop---3---3\c0abf194-6a09-42ac-bc16-2cd244740c64\scratchpad\deck\img\d1-se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308" y="1325880"/>
            <a:ext cx="10927080" cy="3577737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40080" y="5257800"/>
            <a:ext cx="10927080" cy="868680"/>
          </a:xfrm>
          <a:prstGeom prst="roundRect">
            <a:avLst>
              <a:gd name="adj" fmla="val 8421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41248" y="5367528"/>
            <a:ext cx="10524744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B91C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何もしないと「空席があるのに、お待ちの方も参加できない」まま当日を迎えます。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B91C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毎日ダッシュボードの「繰り上げ候補のある開催回」をご確認ください。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体験予約システム 操作マニュアル（会社担当者用）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1094415" y="640080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225296" y="3474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繰り上げの手順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225296" y="841248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ダッシュボードから、その開催回のお待ちの方だけを開けます</a:t>
            </a:r>
            <a:endParaRPr lang="en-US" sz="1400" dirty="0"/>
          </a:p>
        </p:txBody>
      </p:sp>
      <p:pic>
        <p:nvPicPr>
          <p:cNvPr id="8" name="Image 0" descr="C:\Users\sato\AppData\Local\Temp\claude\c--Users-sato-Desktop---3---3\c0abf194-6a09-42ac-bc16-2cd244740c64\scratchpad\deck\img\c-promotab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308" y="1325880"/>
            <a:ext cx="10927080" cy="1892209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40080" y="3520440"/>
            <a:ext cx="10927080" cy="658368"/>
          </a:xfrm>
          <a:prstGeom prst="roundRect">
            <a:avLst>
              <a:gd name="adj" fmla="val 8333"/>
            </a:avLst>
          </a:prstGeom>
          <a:solidFill>
            <a:srgbClr val="F4F7FC"/>
          </a:solidFill>
          <a:ln w="12700">
            <a:solidFill>
              <a:srgbClr val="C7D2E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04672" y="3639312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04672" y="363931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389888" y="3575304"/>
            <a:ext cx="10012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ダッシュボードの「繰り上げ候補のある開催回」を見る</a:t>
            </a:r>
            <a:endParaRPr lang="en-US" sz="15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空席があり、お待ちの方がいる開催回です。「空き」と「待ち」の人数も出ています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40080" y="4288536"/>
            <a:ext cx="10927080" cy="658368"/>
          </a:xfrm>
          <a:prstGeom prst="roundRect">
            <a:avLst>
              <a:gd name="adj" fmla="val 8333"/>
            </a:avLst>
          </a:prstGeom>
          <a:solidFill>
            <a:srgbClr val="F4F7FC"/>
          </a:solidFill>
          <a:ln w="12700">
            <a:solidFill>
              <a:srgbClr val="C7D2E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04672" y="4407408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04672" y="4407408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888" y="4343400"/>
            <a:ext cx="10012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「候補を見る」を押す</a:t>
            </a:r>
            <a:endParaRPr lang="en-US" sz="15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その開催回のキャンセル待ちの方だけが表示されます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40080" y="5056632"/>
            <a:ext cx="10927080" cy="658368"/>
          </a:xfrm>
          <a:prstGeom prst="roundRect">
            <a:avLst>
              <a:gd name="adj" fmla="val 8333"/>
            </a:avLst>
          </a:prstGeom>
          <a:solidFill>
            <a:srgbClr val="F4F7FC"/>
          </a:solidFill>
          <a:ln w="12700">
            <a:solidFill>
              <a:srgbClr val="C7D2E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04672" y="5175504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04672" y="517550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389888" y="5111496"/>
            <a:ext cx="10012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繰り上げる方の行の「繰り上げ」を押す</a:t>
            </a:r>
            <a:endParaRPr lang="en-US" sz="15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確認のポップアップが出ます。ご本人に確定メールが送られます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640080" y="5715000"/>
            <a:ext cx="10927080" cy="566928"/>
          </a:xfrm>
          <a:prstGeom prst="roundRect">
            <a:avLst>
              <a:gd name="adj" fmla="val 12903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41248" y="5824728"/>
            <a:ext cx="10524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お待ちの順番は、状態の欄に「キャンセル待ち ◯ 番」として出ています。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体験予約システム 操作マニュアル（会社担当者用）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1094415" y="640080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225296" y="3474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空きより、繰り上げたい人数が多いとき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225296" y="841248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まずは画面での見分け方です</a:t>
            </a:r>
            <a:endParaRPr lang="en-US" sz="1400" dirty="0"/>
          </a:p>
        </p:txBody>
      </p:sp>
      <p:pic>
        <p:nvPicPr>
          <p:cNvPr id="8" name="Image 0" descr="C:\Users\sato\AppData\Local\Temp\claude\c--Users-sato-Desktop---3---3\c0abf194-6a09-42ac-bc16-2cd244740c64\scratchpad\deck\img\c-notenoug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465" y="1371600"/>
            <a:ext cx="10540765" cy="30175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40080" y="4572000"/>
            <a:ext cx="5394960" cy="1554480"/>
          </a:xfrm>
          <a:prstGeom prst="roundRect">
            <a:avLst>
              <a:gd name="adj" fmla="val 4706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41248" y="4681728"/>
            <a:ext cx="499262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B91C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ボタンが薄いグレーになります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91C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マウスを載せると「現在の空きでは足りません」と出ます。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91C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押すと、赤い帯で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91C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「空席が足りません（この予約は 3 名、空きは 2 名分）。」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72200" y="4572000"/>
            <a:ext cx="5394960" cy="1554480"/>
          </a:xfrm>
          <a:prstGeom prst="roundRect">
            <a:avLst>
              <a:gd name="adj" fmla="val 4706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73368" y="4681728"/>
            <a:ext cx="499262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580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押しても席は動きません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580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予約が壊れることもありません。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580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迷ったら押して確かめていただいて構いません。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体験予約システム 操作マニュアル（会社担当者用）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1094415" y="640080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225296" y="3474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取れる手立ては 5 つあります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225296" y="841248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開催まで日があるうちは A が原則です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1371600"/>
            <a:ext cx="10927080" cy="749808"/>
          </a:xfrm>
          <a:prstGeom prst="roundRect">
            <a:avLst>
              <a:gd name="adj" fmla="val 7317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4672" y="1536192"/>
            <a:ext cx="420624" cy="420624"/>
          </a:xfrm>
          <a:prstGeom prst="ellipse">
            <a:avLst/>
          </a:prstGeom>
          <a:solidFill>
            <a:srgbClr val="1580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04672" y="153619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89888" y="1426464"/>
            <a:ext cx="10012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そのまま待つ（原則）</a:t>
            </a:r>
            <a:endParaRPr lang="en-US" sz="15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追加のキャンセルが出れば、先頭の方をそのまま繰り上げられます。お待ちの順番を守れるのはこれだけです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2240280"/>
            <a:ext cx="10927080" cy="749808"/>
          </a:xfrm>
          <a:prstGeom prst="roundRect">
            <a:avLst>
              <a:gd name="adj" fmla="val 7317"/>
            </a:avLst>
          </a:prstGeom>
          <a:solidFill>
            <a:srgbClr val="F4F7FC"/>
          </a:solidFill>
          <a:ln w="12700">
            <a:solidFill>
              <a:srgbClr val="C7D2E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" y="2404872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4672" y="240487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89888" y="2295144"/>
            <a:ext cx="10012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定員を増やす</a:t>
            </a:r>
            <a:endParaRPr lang="en-US" sz="15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会場と運営に余裕があるとき。もっとも角が立ちません（増やしただけでは繰り上がりません）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3108960"/>
            <a:ext cx="10927080" cy="749808"/>
          </a:xfrm>
          <a:prstGeom prst="roundRect">
            <a:avLst>
              <a:gd name="adj" fmla="val 7317"/>
            </a:avLst>
          </a:prstGeom>
          <a:solidFill>
            <a:srgbClr val="FDF3E3"/>
          </a:solidFill>
          <a:ln w="12700">
            <a:solidFill>
              <a:srgbClr val="FDF3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" y="3273552"/>
            <a:ext cx="420624" cy="420624"/>
          </a:xfrm>
          <a:prstGeom prst="ellipse">
            <a:avLst/>
          </a:prstGeom>
          <a:solidFill>
            <a:srgbClr val="B26A0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327355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89888" y="3163824"/>
            <a:ext cx="10012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人数の収まる別の方を先に繰り上げる</a:t>
            </a:r>
            <a:endParaRPr lang="en-US" sz="15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開催が近く、空席を埋めたいとき。順番の追い越しになるので、先にお待ちの方への連絡をおすすめします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40080" y="3977640"/>
            <a:ext cx="10927080" cy="749808"/>
          </a:xfrm>
          <a:prstGeom prst="roundRect">
            <a:avLst>
              <a:gd name="adj" fmla="val 7317"/>
            </a:avLst>
          </a:prstGeom>
          <a:solidFill>
            <a:srgbClr val="FDF3E3"/>
          </a:solidFill>
          <a:ln w="12700">
            <a:solidFill>
              <a:srgbClr val="FDF3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4142232"/>
            <a:ext cx="420624" cy="420624"/>
          </a:xfrm>
          <a:prstGeom prst="ellipse">
            <a:avLst/>
          </a:prstGeom>
          <a:solidFill>
            <a:srgbClr val="B26A0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04672" y="414223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389888" y="4032504"/>
            <a:ext cx="10012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人数を減らして取り直していただく</a:t>
            </a:r>
            <a:endParaRPr lang="en-US" sz="15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名のうち 2 名なら参加できる、と言われたとき。待ち順が最初からになる点に注意が必要です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40080" y="4846320"/>
            <a:ext cx="10927080" cy="749808"/>
          </a:xfrm>
          <a:prstGeom prst="roundRect">
            <a:avLst>
              <a:gd name="adj" fmla="val 7317"/>
            </a:avLst>
          </a:prstGeom>
          <a:solidFill>
            <a:srgbClr val="F4F7FC"/>
          </a:solidFill>
          <a:ln w="12700">
            <a:solidFill>
              <a:srgbClr val="C7D2E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4672" y="5010912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4672" y="501091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389888" y="4901184"/>
            <a:ext cx="10012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別の回に振り替えていただく</a:t>
            </a:r>
            <a:endParaRPr lang="en-US" sz="15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空きのある別の回があるとき。これもキャンセル → 取り直しになります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640080" y="5779008"/>
            <a:ext cx="10927080" cy="512064"/>
          </a:xfrm>
          <a:prstGeom prst="roundRect">
            <a:avLst>
              <a:gd name="adj" fmla="val 14286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41248" y="5888736"/>
            <a:ext cx="10524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判断に迷ったら事務局にご相談ください。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体験予約システム 操作マニュアル（会社担当者用）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1094415" y="640080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225296" y="3474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手立て B ： 定員を増やす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225296" y="841248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「体験内容」→ 開催回 → 編集 → 定員（人数）</a:t>
            </a:r>
            <a:endParaRPr lang="en-US" sz="1400" dirty="0"/>
          </a:p>
        </p:txBody>
      </p:sp>
      <p:pic>
        <p:nvPicPr>
          <p:cNvPr id="8" name="Image 0" descr="C:\Users\sato\AppData\Local\Temp\claude\c--Users-sato-Desktop---3---3\c0abf194-6a09-42ac-bc16-2cd244740c64\scratchpad\deck\img\c-capac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25880"/>
            <a:ext cx="6168187" cy="42062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406640" y="1463040"/>
            <a:ext cx="4160520" cy="1371600"/>
          </a:xfrm>
          <a:prstGeom prst="roundRect">
            <a:avLst>
              <a:gd name="adj" fmla="val 5333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607808" y="1572768"/>
            <a:ext cx="375818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B91C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増やしただけでは繰り上がりません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B91C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更新したあと、予約一覧に戻って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B91C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「繰り上げ」を押してください。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406640" y="2971800"/>
            <a:ext cx="4160520" cy="1371600"/>
          </a:xfrm>
          <a:prstGeom prst="roundRect">
            <a:avLst>
              <a:gd name="adj" fmla="val 5333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607808" y="3081528"/>
            <a:ext cx="375818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定員は減らせないことがあります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現在の確定席数より小さくはできません。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先にキャンセルか繰り上げが必要です。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7406640" y="4480560"/>
            <a:ext cx="4160520" cy="1508760"/>
          </a:xfrm>
          <a:prstGeom prst="roundRect">
            <a:avLst>
              <a:gd name="adj" fmla="val 4848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607808" y="4590288"/>
            <a:ext cx="3758184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580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先に埋められる心配はありません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580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お待ちの方がいる間、公開側は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580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「キャンセル待ち」のままです。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580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落ち着いて繰り上げてください。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体験予約システム 操作マニュアル（会社担当者用）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1094415" y="640080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225296" y="3474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手立て C ： 順番の追い越し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225296" y="841248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空席を埋められますが、運用上の判断が必要です</a:t>
            </a:r>
            <a:endParaRPr lang="en-US" sz="1400" dirty="0"/>
          </a:p>
        </p:txBody>
      </p:sp>
      <p:pic>
        <p:nvPicPr>
          <p:cNvPr id="8" name="Image 0" descr="C:\Users\sato\AppData\Local\Temp\claude\c--Users-sato-Desktop---3---3\c0abf194-6a09-42ac-bc16-2cd244740c64\scratchpad\deck\img\d2-overt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757" y="1325880"/>
            <a:ext cx="9540181" cy="39776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40080" y="5532120"/>
            <a:ext cx="10927080" cy="731520"/>
          </a:xfrm>
          <a:prstGeom prst="roundRect">
            <a:avLst>
              <a:gd name="adj" fmla="val 10000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41248" y="5641848"/>
            <a:ext cx="10524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開催まで日があるなら A（待つ）、会場に余裕があるなら B（定員を増やす）、開催直前で空席を埋めたいなら C。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体験予約システム 操作マニュアル（会社担当者用）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1094415" y="640080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225296" y="3474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手立て D・E ： 取り直していただく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225296" y="841248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人数を変更する機能はありません。キャンセル → 取り直しになります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1417320"/>
            <a:ext cx="10927080" cy="1783080"/>
          </a:xfrm>
          <a:prstGeom prst="roundRect">
            <a:avLst>
              <a:gd name="adj" fmla="val 4103"/>
            </a:avLst>
          </a:prstGeom>
          <a:solidFill>
            <a:srgbClr val="FEF2F2"/>
          </a:solidFill>
          <a:ln w="19050">
            <a:solidFill>
              <a:srgbClr val="B91C1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1572768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B91C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ここに落とし穴があります。取り直すと、その方の待ち順は最初からになります。</a:t>
            </a:r>
            <a:endParaRPr lang="en-US" sz="1600" dirty="0"/>
          </a:p>
          <a:p>
            <a:pPr algn="l" indent="0" marL="0">
              <a:lnSpc>
                <a:spcPct val="130000"/>
              </a:lnSpc>
              <a:buNone/>
            </a:pPr>
            <a:endParaRPr lang="en-US" sz="16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取り直した時点で 他にキャンセル待ちの方がいなければ → 空席の範囲でそのまま確定</a:t>
            </a:r>
            <a:endParaRPr lang="en-US" sz="16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B91C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取り直した時点で 他にキャンセル待ちの方がいれば → 空席があってもキャンセル待ちの最後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3429000"/>
            <a:ext cx="1092708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1248" y="3538728"/>
            <a:ext cx="1052474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ご案内する前に、予約一覧でその開催回のキャンセル待ちが「その方だけ」であることを必ず確認してください。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389120"/>
            <a:ext cx="10927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ご案内の文例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4709160"/>
            <a:ext cx="10927080" cy="1325880"/>
          </a:xfrm>
          <a:prstGeom prst="roundRect">
            <a:avLst>
              <a:gd name="adj" fmla="val 5517"/>
            </a:avLst>
          </a:prstGeom>
          <a:solidFill>
            <a:srgbClr val="F4F7FC"/>
          </a:solidFill>
          <a:ln w="12700">
            <a:solidFill>
              <a:srgbClr val="C7D2E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484632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現在この回は他にお待ちの方がいらっしゃらないため、いま 3 名のご予約をキャンセルして 2 名で取り直していただければ、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そのままご参加が確定します。順番が後ろになることはありません。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お手数ですが、予約完了メールの URL からキャンセルのうえ、改めてお申し込みください。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体験予約システム 操作マニュアル（会社担当者用）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1094415" y="640080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225296" y="3474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複数の方をまとめて繰り上げるとき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225296" y="841248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押す順番で、参加できる人数が変わります</a:t>
            </a:r>
            <a:endParaRPr lang="en-US" sz="1400" dirty="0"/>
          </a:p>
        </p:txBody>
      </p:sp>
      <p:pic>
        <p:nvPicPr>
          <p:cNvPr id="8" name="Image 0" descr="C:\Users\sato\AppData\Local\Temp\claude\c--Users-sato-Desktop---3---3\c0abf194-6a09-42ac-bc16-2cd244740c64\scratchpad\deck\img\d3-or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308" y="1371600"/>
            <a:ext cx="10927080" cy="425627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体験予約システム 操作マニュアル（会社担当者用）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1094415" y="640080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225296" y="3474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繰り上げたあと／繰り上げできないとき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225296" y="841248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成功すると、ご本人に確定メールが送られます</a:t>
            </a:r>
            <a:endParaRPr lang="en-US" sz="1400" dirty="0"/>
          </a:p>
        </p:txBody>
      </p:sp>
      <p:pic>
        <p:nvPicPr>
          <p:cNvPr id="8" name="Image 0" descr="C:\Users\sato\AppData\Local\Temp\claude\c--Users-sato-Desktop---3---3\c0abf194-6a09-42ac-bc16-2cd244740c64\scratchpad\deck\img\c-promo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2601" y="1325880"/>
            <a:ext cx="10406493" cy="15544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0080" y="3063240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空席は足りているのに繰り上げられないとき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40080" y="3474720"/>
            <a:ext cx="10927080" cy="768096"/>
          </a:xfrm>
          <a:prstGeom prst="roundRect">
            <a:avLst>
              <a:gd name="adj" fmla="val 7143"/>
            </a:avLst>
          </a:prstGeom>
          <a:solidFill>
            <a:srgbClr val="F4F7FC"/>
          </a:solidFill>
          <a:ln w="12700">
            <a:solidFill>
              <a:srgbClr val="C7D2E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04672" y="3648456"/>
            <a:ext cx="420624" cy="420624"/>
          </a:xfrm>
          <a:prstGeom prst="ellipse">
            <a:avLst/>
          </a:prstGeom>
          <a:solidFill>
            <a:srgbClr val="B26A0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3648456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389888" y="3529584"/>
            <a:ext cx="10012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この予約はキャンセル待ちではありません（既に処理済みの可能性があります）。</a:t>
            </a:r>
            <a:endParaRPr lang="en-US" sz="15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別の担当者が先に繰り上げたか、ご本人がキャンセルされました。画面を再読み込みしてご確認ください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40080" y="4361688"/>
            <a:ext cx="10927080" cy="768096"/>
          </a:xfrm>
          <a:prstGeom prst="roundRect">
            <a:avLst>
              <a:gd name="adj" fmla="val 7143"/>
            </a:avLst>
          </a:prstGeom>
          <a:solidFill>
            <a:srgbClr val="F4F7FC"/>
          </a:solidFill>
          <a:ln w="12700">
            <a:solidFill>
              <a:srgbClr val="C7D2E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04672" y="4535424"/>
            <a:ext cx="420624" cy="420624"/>
          </a:xfrm>
          <a:prstGeom prst="ellipse">
            <a:avLst/>
          </a:prstGeom>
          <a:solidFill>
            <a:srgbClr val="B26A0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04672" y="453542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389888" y="4416552"/>
            <a:ext cx="10012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この方は同じ体験プログラムの別の回を既にご予約済みです。</a:t>
            </a:r>
            <a:endParaRPr lang="en-US" sz="15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お待ちの間に別の回を予約されています。そちらでご参加いただくのが基本です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40080" y="5248656"/>
            <a:ext cx="10927080" cy="768096"/>
          </a:xfrm>
          <a:prstGeom prst="roundRect">
            <a:avLst>
              <a:gd name="adj" fmla="val 7143"/>
            </a:avLst>
          </a:prstGeom>
          <a:solidFill>
            <a:srgbClr val="F4F7FC"/>
          </a:solidFill>
          <a:ln w="12700">
            <a:solidFill>
              <a:srgbClr val="C7D2E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04672" y="5422392"/>
            <a:ext cx="420624" cy="420624"/>
          </a:xfrm>
          <a:prstGeom prst="ellipse">
            <a:avLst/>
          </a:prstGeom>
          <a:solidFill>
            <a:srgbClr val="B26A00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4672" y="542239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389888" y="5303520"/>
            <a:ext cx="10012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この方は時間帯の重なる予約を既に持っています（◯◯「△△」）。</a:t>
            </a:r>
            <a:endParaRPr lang="en-US" sz="15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他社の体験と重なっています。どちらかをご本人にキャンセルしていただく必要があります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640080" y="5989320"/>
            <a:ext cx="10927080" cy="457200"/>
          </a:xfrm>
          <a:prstGeom prst="roundRect">
            <a:avLst>
              <a:gd name="adj" fmla="val 16000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41248" y="6099048"/>
            <a:ext cx="10524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いずれもシステムが二重予約を防いでいるためです。無理に通す方法はありません。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体験予約システム 操作マニュアル（会社担当者用）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1094415" y="640080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225296" y="3474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中止・延期のお知らせを送る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225296" y="841248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自社の申込者にまとめてメールを送れます</a:t>
            </a:r>
            <a:endParaRPr lang="en-US" sz="1400" dirty="0"/>
          </a:p>
        </p:txBody>
      </p:sp>
      <p:pic>
        <p:nvPicPr>
          <p:cNvPr id="8" name="Image 0" descr="C:\Users\sato\AppData\Local\Temp\claude\c--Users-sato-Desktop---3---3\c0abf194-6a09-42ac-bc16-2cd244740c64\scratchpad\deck\img\c-bulk-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25880"/>
            <a:ext cx="6675120" cy="3781511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589520" y="146304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90688" y="1572768"/>
            <a:ext cx="3575304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日だけ中止なら「開催回を指定」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関係のない回の申込者に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送らずに済みます。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589520" y="292608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90688" y="3035808"/>
            <a:ext cx="3575304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580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キャンセル待ちの方も含める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580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中止・延期のお知らせなら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580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チェックを推奨します。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7589520" y="4389120"/>
            <a:ext cx="3977640" cy="1508760"/>
          </a:xfrm>
          <a:prstGeom prst="roundRect">
            <a:avLst>
              <a:gd name="adj" fmla="val 4848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90688" y="4498848"/>
            <a:ext cx="3575304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自動で付くもの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体験内容と開催日時は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本文の先頭に自動で入ります。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本文には中止の事実だけで足ります。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体験予約システム 操作マニュアル（会社担当者用）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1094415" y="640080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225296" y="3474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送信前に必ず確認する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225296" y="841248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送信後は取り消せません</a:t>
            </a:r>
            <a:endParaRPr lang="en-US" sz="1400" dirty="0"/>
          </a:p>
        </p:txBody>
      </p:sp>
      <p:pic>
        <p:nvPicPr>
          <p:cNvPr id="8" name="Image 0" descr="C:\Users\sato\AppData\Local\Temp\claude\c--Users-sato-Desktop---3---3\c0abf194-6a09-42ac-bc16-2cd244740c64\scratchpad\deck\img\c-bulk-confi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6537960" cy="3199097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452360" y="1371600"/>
            <a:ext cx="4114800" cy="1005840"/>
          </a:xfrm>
          <a:prstGeom prst="roundRect">
            <a:avLst>
              <a:gd name="adj" fmla="val 5455"/>
            </a:avLst>
          </a:prstGeom>
          <a:solidFill>
            <a:srgbClr val="F4F7FC"/>
          </a:solidFill>
          <a:ln w="12700">
            <a:solidFill>
              <a:srgbClr val="C7D2E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616952" y="1664208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16952" y="1664208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202168" y="1426464"/>
            <a:ext cx="3200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送信先と本文を確認</a:t>
            </a:r>
            <a:endParaRPr lang="en-US" sz="15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送信件数と、届く本文がそのまま出ます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7452360" y="2523744"/>
            <a:ext cx="4114800" cy="1005840"/>
          </a:xfrm>
          <a:prstGeom prst="roundRect">
            <a:avLst>
              <a:gd name="adj" fmla="val 5455"/>
            </a:avLst>
          </a:prstGeom>
          <a:solidFill>
            <a:srgbClr val="F4F7FC"/>
          </a:solidFill>
          <a:ln w="12700">
            <a:solidFill>
              <a:srgbClr val="C7D2E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616952" y="2816352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16952" y="281635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202168" y="2578608"/>
            <a:ext cx="3200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まず自分宛に試す</a:t>
            </a:r>
            <a:endParaRPr lang="en-US" sz="15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 1 通が届くかで本送信が分かります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452360" y="3675888"/>
            <a:ext cx="4114800" cy="1005840"/>
          </a:xfrm>
          <a:prstGeom prst="roundRect">
            <a:avLst>
              <a:gd name="adj" fmla="val 5455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16952" y="3968496"/>
            <a:ext cx="420624" cy="420624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616952" y="3968496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202168" y="3730752"/>
            <a:ext cx="3200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 件に送信する</a:t>
            </a:r>
            <a:endParaRPr lang="en-US" sz="15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確認のポップアップ。取り消せません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52360" y="4526280"/>
            <a:ext cx="4114800" cy="1143000"/>
          </a:xfrm>
          <a:prstGeom prst="roundRect">
            <a:avLst>
              <a:gd name="adj" fmla="val 6400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653528" y="4636008"/>
            <a:ext cx="371246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送信完了まで数分かかることがあります。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お急ぎの場合や「届かない」という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お問い合わせは事務局へ。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体験予約システム 操作マニュアル（会社担当者用）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1094415" y="640080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225296" y="3474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開催前日までの確認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225296" y="841248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 4 つを確認すれば、当日に慌てません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1508760"/>
            <a:ext cx="10927080" cy="91440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2700">
            <a:solidFill>
              <a:srgbClr val="C7D2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764792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508760" y="1600200"/>
            <a:ext cx="9784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ダッシュボードの「繰り上げ候補のある開催回」が 0 件になっているか</a:t>
            </a:r>
            <a:endParaRPr lang="en-US" sz="15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残っていれば、手立て A〜E をご検討ください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60320"/>
            <a:ext cx="10927080" cy="91440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2700">
            <a:solidFill>
              <a:srgbClr val="C7D2E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2816352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508760" y="2651760"/>
            <a:ext cx="9784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繰り上げた方に確定メールが届いているか</a:t>
            </a:r>
            <a:endParaRPr lang="en-US" sz="15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届かないというお問い合わせがあれば事務局へ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10927080" cy="91440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2700">
            <a:solidFill>
              <a:srgbClr val="C7D2E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867912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508760" y="3703320"/>
            <a:ext cx="9784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「開催企業へのメッセージ」を確認したか</a:t>
            </a:r>
            <a:endParaRPr lang="en-US" sz="15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アレルギー、車椅子のご利用など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0080" y="4663440"/>
            <a:ext cx="10927080" cy="91440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2700">
            <a:solidFill>
              <a:srgbClr val="C7D2E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4919472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508760" y="4754880"/>
            <a:ext cx="9784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当日の名簿を CSV で出力したか</a:t>
            </a:r>
            <a:endParaRPr lang="en-US" sz="15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並び順は「会社・体験プログラム・開催日時順」が便利です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" y="16916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困ったときは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606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画面のメッセージで解決しない場合は、事務局にご連絡ください。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005840" y="3200400"/>
            <a:ext cx="1014984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25880" y="3383280"/>
            <a:ext cx="9509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お伝えいただくと、原因を特定しやすくなります</a:t>
            </a:r>
            <a:endParaRPr lang="en-US" sz="1600" dirty="0"/>
          </a:p>
          <a:p>
            <a:pPr algn="l" indent="0" marL="0">
              <a:lnSpc>
                <a:spcPct val="135000"/>
              </a:lnSpc>
              <a:buNone/>
            </a:pPr>
            <a:endParaRPr lang="en-US" sz="16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操作した画面の名前 ／ 押したボタン ／ 表示されたメッセージ（そのままの文言） ／ おおよその時刻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0080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体験予約システム 操作マニュアル（会社担当者用）</dc:title>
  <dc:subject>PptxGenJS Presentation</dc:subject>
  <dc:creator>体験予約システム</dc:creator>
  <cp:lastModifiedBy>体験予約システム</cp:lastModifiedBy>
  <cp:revision>1</cp:revision>
  <dcterms:created xsi:type="dcterms:W3CDTF">2026-09-27T23:20:51Z</dcterms:created>
  <dcterms:modified xsi:type="dcterms:W3CDTF">2026-09-27T23:20:51Z</dcterms:modified>
</cp:coreProperties>
</file>